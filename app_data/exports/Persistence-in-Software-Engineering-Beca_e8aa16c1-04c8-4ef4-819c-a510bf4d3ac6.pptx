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our persistence journey! Today we'll explore everything from file systems to distributed databases. Think of this as your survival guide to making data outlive your code. By the end, you'll know when to use SQL, NoSQL, caching, or just a good old JSON file. Grab coffee, leave your Excel-at-database-crusade at the door, and let's dive in!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presentation covers everything database-related, from ORM nightmares to backup strategies. We'll discuss common mistakes developers make, security considerations, and future trends. By the end, you'll know how to persist data without persisting problems. Feel free to share your own database horror stories during Q&amp;A.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our data persistence spectacular! We're covering everything from why your data needs to stick around to the wild world of NoSQL rebels. Grab your coffee, this 11-stop journey will save you from becoming a cautionary tale at 3 AM.</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Remember: regular variables are like mayflies—they live and die within a function. But persistent data? That's the friend who shows up even when you've been MIA for months. It's the data that refuses to play hard to get. In practical terms, this means saving to files, databases, or cloud storage. Because in programming, everything dies... except persistence.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 the Q&amp;A session! Feel free to ask me anything about persistence, databases, or share your own terrifying dev stories. We've all been there at 3 AM when the database decided to take a vacation. No judgment here—just empathy and possibly some wine. My contact is alex@developer.com if you want to continue the nightmare discussion later.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2.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2.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17.png"/><Relationship Id="rId5" Type="http://schemas.openxmlformats.org/officeDocument/2006/relationships/image" Target="../media/image3.png"/><Relationship Id="rId6" Type="http://schemas.openxmlformats.org/officeDocument/2006/relationships/image" Target="../media/image18.png"/><Relationship Id="rId7" Type="http://schemas.openxmlformats.org/officeDocument/2006/relationships/image" Target="../media/image1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image" Target="../media/image13.png"/><Relationship Id="rId4" Type="http://schemas.openxmlformats.org/officeDocument/2006/relationships/image" Target="../media/image9.png"/><Relationship Id="rId5" Type="http://schemas.openxmlformats.org/officeDocument/2006/relationships/image" Target="../media/image21.png"/><Relationship Id="rId6" Type="http://schemas.openxmlformats.org/officeDocument/2006/relationships/image" Target="../media/image3.png"/><Relationship Id="rId7" Type="http://schemas.openxmlformats.org/officeDocument/2006/relationships/image" Target="../media/image2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9.png"/><Relationship Id="rId4" Type="http://schemas.openxmlformats.org/officeDocument/2006/relationships/image" Target="../media/image23.png"/><Relationship Id="rId5" Type="http://schemas.openxmlformats.org/officeDocument/2006/relationships/image" Target="../media/image24.png"/><Relationship Id="rId6" Type="http://schemas.openxmlformats.org/officeDocument/2006/relationships/image" Target="../media/image22.png"/><Relationship Id="rId7" Type="http://schemas.openxmlformats.org/officeDocument/2006/relationships/image" Target="../media/image1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image" Target="../media/image26.png"/><Relationship Id="rId4" Type="http://schemas.openxmlformats.org/officeDocument/2006/relationships/image" Target="../media/image4.png"/><Relationship Id="rId5" Type="http://schemas.openxmlformats.org/officeDocument/2006/relationships/image" Target="../media/image17.png"/><Relationship Id="rId6" Type="http://schemas.openxmlformats.org/officeDocument/2006/relationships/image" Target="../media/image1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27.png"/><Relationship Id="rId4" Type="http://schemas.openxmlformats.org/officeDocument/2006/relationships/image" Target="../media/image28.png"/><Relationship Id="rId5" Type="http://schemas.openxmlformats.org/officeDocument/2006/relationships/image" Target="../media/image2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9.png"/><Relationship Id="rId4" Type="http://schemas.openxmlformats.org/officeDocument/2006/relationships/image" Target="../media/image30.png"/><Relationship Id="rId5" Type="http://schemas.openxmlformats.org/officeDocument/2006/relationships/image" Target="../media/image31.png"/><Relationship Id="rId6" Type="http://schemas.openxmlformats.org/officeDocument/2006/relationships/image" Target="../media/image32.png"/><Relationship Id="rId7" Type="http://schemas.openxmlformats.org/officeDocument/2006/relationships/image" Target="../media/image1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1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2.png"/><Relationship Id="rId4" Type="http://schemas.openxmlformats.org/officeDocument/2006/relationships/image" Target="../media/image36.png"/><Relationship Id="rId5" Type="http://schemas.openxmlformats.org/officeDocument/2006/relationships/image" Target="../media/image37.png"/><Relationship Id="rId6" Type="http://schemas.openxmlformats.org/officeDocument/2006/relationships/image" Target="../media/image38.png"/><Relationship Id="rId7" Type="http://schemas.openxmlformats.org/officeDocument/2006/relationships/image" Target="../media/image1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23.png"/><Relationship Id="rId4" Type="http://schemas.openxmlformats.org/officeDocument/2006/relationships/image" Target="../media/image39.png"/><Relationship Id="rId5" Type="http://schemas.openxmlformats.org/officeDocument/2006/relationships/image" Target="../media/image40.png"/><Relationship Id="rId6" Type="http://schemas.openxmlformats.org/officeDocument/2006/relationships/image" Target="../media/image1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 Id="rId3" Type="http://schemas.openxmlformats.org/officeDocument/2006/relationships/image" Target="../media/image42.png"/><Relationship Id="rId4" Type="http://schemas.openxmlformats.org/officeDocument/2006/relationships/image" Target="../media/image43.png"/><Relationship Id="rId5" Type="http://schemas.openxmlformats.org/officeDocument/2006/relationships/image" Target="../media/image23.png"/><Relationship Id="rId6" Type="http://schemas.openxmlformats.org/officeDocument/2006/relationships/image" Target="../media/image1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2.png"/><Relationship Id="rId4" Type="http://schemas.openxmlformats.org/officeDocument/2006/relationships/image" Target="../media/image47.png"/><Relationship Id="rId5" Type="http://schemas.openxmlformats.org/officeDocument/2006/relationships/image" Target="../media/image48.png"/><Relationship Id="rId6" Type="http://schemas.openxmlformats.org/officeDocument/2006/relationships/image" Target="../media/image49.png"/><Relationship Id="rId7" Type="http://schemas.openxmlformats.org/officeDocument/2006/relationships/image" Target="../media/image1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0.png"/><Relationship Id="rId3" Type="http://schemas.openxmlformats.org/officeDocument/2006/relationships/image" Target="../media/image2.png"/><Relationship Id="rId4" Type="http://schemas.openxmlformats.org/officeDocument/2006/relationships/image" Target="../media/image51.png"/><Relationship Id="rId5" Type="http://schemas.openxmlformats.org/officeDocument/2006/relationships/image" Target="../media/image52.png"/><Relationship Id="rId6" Type="http://schemas.openxmlformats.org/officeDocument/2006/relationships/image" Target="../media/image5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9.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1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57.png"/><Relationship Id="rId4" Type="http://schemas.openxmlformats.org/officeDocument/2006/relationships/image" Target="../media/image58.png"/><Relationship Id="rId5" Type="http://schemas.openxmlformats.org/officeDocument/2006/relationships/image" Target="../media/image43.png"/><Relationship Id="rId6" Type="http://schemas.openxmlformats.org/officeDocument/2006/relationships/image" Target="../media/image1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59.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57200" y="647700"/>
            <a:ext cx="4078932" cy="168012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84000"/>
              </a:lnSpc>
              <a:defRPr i="0" sz="4200" b="0">
                <a:solidFill>
                  <a:srgbClr val="111827"/>
                </a:solidFill>
                <a:latin typeface="Albert Sans"/>
              </a:defRPr>
            </a:pPr>
            <a:r>
              <a:rPr i="0" sz="4200" b="0">
                <a:solidFill>
                  <a:srgbClr val="111827"/>
                </a:solidFill>
                <a:latin typeface="Albert Sans"/>
              </a:rPr>
              <a:t>Persistence inSoftware Engineering</a:t>
            </a:r>
          </a:p>
        </p:txBody>
      </p:sp>
      <p:pic>
        <p:nvPicPr>
          <p:cNvPr id="3" name="Picture 2" descr="ac0f46b9-6ffb-4ee9-9f4d-21b1d91a5887.png"/>
          <p:cNvPicPr>
            <a:picLocks noChangeAspect="1"/>
          </p:cNvPicPr>
          <p:nvPr/>
        </p:nvPicPr>
        <p:blipFill>
          <a:blip r:embed="rId2"/>
          <a:stretch>
            <a:fillRect/>
          </a:stretch>
        </p:blipFill>
        <p:spPr>
          <a:xfrm>
            <a:off x="9887545" y="2352675"/>
            <a:ext cx="2151905" cy="2028676"/>
          </a:xfrm>
          <a:prstGeom prst="rect">
            <a:avLst/>
          </a:prstGeom>
        </p:spPr>
      </p:pic>
      <p:pic>
        <p:nvPicPr>
          <p:cNvPr id="4" name="Picture 3" descr="4146eafe-aa6f-4d91-98ad-e9e745807570.png"/>
          <p:cNvPicPr>
            <a:picLocks noChangeAspect="1"/>
          </p:cNvPicPr>
          <p:nvPr/>
        </p:nvPicPr>
        <p:blipFill>
          <a:blip r:embed="rId3"/>
          <a:stretch>
            <a:fillRect/>
          </a:stretch>
        </p:blipFill>
        <p:spPr>
          <a:xfrm>
            <a:off x="7354639" y="2352675"/>
            <a:ext cx="2151905" cy="1802010"/>
          </a:xfrm>
          <a:prstGeom prst="rect">
            <a:avLst/>
          </a:prstGeom>
        </p:spPr>
      </p:pic>
      <p:pic>
        <p:nvPicPr>
          <p:cNvPr id="5" name="Picture 4" descr="4146eafe-aa6f-4d91-98ad-e9e745807570.png"/>
          <p:cNvPicPr>
            <a:picLocks noChangeAspect="1"/>
          </p:cNvPicPr>
          <p:nvPr/>
        </p:nvPicPr>
        <p:blipFill>
          <a:blip r:embed="rId3"/>
          <a:stretch>
            <a:fillRect/>
          </a:stretch>
        </p:blipFill>
        <p:spPr>
          <a:xfrm>
            <a:off x="4821882" y="2352675"/>
            <a:ext cx="2151757" cy="1802010"/>
          </a:xfrm>
          <a:prstGeom prst="rect">
            <a:avLst/>
          </a:prstGeom>
        </p:spPr>
      </p:pic>
      <p:pic>
        <p:nvPicPr>
          <p:cNvPr id="6" name="Picture 5" descr="c74a6a8f-a82f-462b-aa24-7531fc5a2f6f.png"/>
          <p:cNvPicPr>
            <a:picLocks noChangeAspect="1"/>
          </p:cNvPicPr>
          <p:nvPr/>
        </p:nvPicPr>
        <p:blipFill>
          <a:blip r:embed="rId4"/>
          <a:stretch>
            <a:fillRect/>
          </a:stretch>
        </p:blipFill>
        <p:spPr>
          <a:xfrm>
            <a:off x="7354639" y="647700"/>
            <a:ext cx="2151905" cy="1714500"/>
          </a:xfrm>
          <a:prstGeom prst="rect">
            <a:avLst/>
          </a:prstGeom>
        </p:spPr>
      </p:pic>
      <p:pic>
        <p:nvPicPr>
          <p:cNvPr id="7" name="Picture 6" descr="e80c0ce5-e0ea-4df7-9026-bc5b2457c3dd.png"/>
          <p:cNvPicPr>
            <a:picLocks noChangeAspect="1"/>
          </p:cNvPicPr>
          <p:nvPr/>
        </p:nvPicPr>
        <p:blipFill>
          <a:blip r:embed="rId5"/>
          <a:stretch>
            <a:fillRect/>
          </a:stretch>
        </p:blipFill>
        <p:spPr>
          <a:xfrm>
            <a:off x="9887545" y="647700"/>
            <a:ext cx="2151905" cy="1714500"/>
          </a:xfrm>
          <a:prstGeom prst="rect">
            <a:avLst/>
          </a:prstGeom>
        </p:spPr>
      </p:pic>
      <p:pic>
        <p:nvPicPr>
          <p:cNvPr id="8" name="Picture 7" descr="b7d70049-dd04-4505-ba5e-600b38fa344d.png"/>
          <p:cNvPicPr>
            <a:picLocks noChangeAspect="1"/>
          </p:cNvPicPr>
          <p:nvPr/>
        </p:nvPicPr>
        <p:blipFill>
          <a:blip r:embed="rId6"/>
          <a:stretch>
            <a:fillRect/>
          </a:stretch>
        </p:blipFill>
        <p:spPr>
          <a:xfrm>
            <a:off x="4821882" y="647700"/>
            <a:ext cx="2151757" cy="1714500"/>
          </a:xfrm>
          <a:prstGeom prst="rect">
            <a:avLst/>
          </a:prstGeom>
        </p:spPr>
      </p:pic>
      <p:sp>
        <p:nvSpPr>
          <p:cNvPr id="9" name="TextBox 8"/>
          <p:cNvSpPr txBox="1"/>
          <p:nvPr/>
        </p:nvSpPr>
        <p:spPr>
          <a:xfrm>
            <a:off x="457200" y="2632620"/>
            <a:ext cx="2876550" cy="109716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44000"/>
              </a:lnSpc>
              <a:defRPr i="0" sz="1200" b="0">
                <a:solidFill>
                  <a:srgbClr val="6B7280"/>
                </a:solidFill>
                <a:latin typeface="Albert Sans"/>
              </a:defRPr>
            </a:pPr>
            <a:r>
              <a:rPr i="0" sz="1200" b="0">
                <a:solidFill>
                  <a:srgbClr val="6B7280"/>
                </a:solidFill>
                <a:latin typeface="Albert Sans"/>
              </a:rPr>
              <a:t>Persistence means your data survives program termination. From databases to file systems, learn how to keep your data alive when your code isn't.</a:t>
            </a:r>
          </a:p>
        </p:txBody>
      </p:sp>
      <p:sp>
        <p:nvSpPr>
          <p:cNvPr id="10" name="TextBox 9"/>
          <p:cNvSpPr txBox="1"/>
          <p:nvPr/>
        </p:nvSpPr>
        <p:spPr>
          <a:xfrm>
            <a:off x="10116145" y="2981325"/>
            <a:ext cx="1713755" cy="1133326"/>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36000"/>
              </a:lnSpc>
              <a:defRPr i="0" sz="1050" b="0">
                <a:solidFill>
                  <a:srgbClr val="6B7280"/>
                </a:solidFill>
                <a:latin typeface="Albert Sans"/>
              </a:defRPr>
            </a:pPr>
            <a:r>
              <a:rPr i="0" sz="1050" b="0">
                <a:solidFill>
                  <a:srgbClr val="6B7280"/>
                </a:solidFill>
                <a:latin typeface="Albert Sans"/>
              </a:rPr>
              <a:t>Caching and file systems offer complementary approaches for performance and simplicity.</a:t>
            </a:r>
          </a:p>
        </p:txBody>
      </p:sp>
      <p:sp>
        <p:nvSpPr>
          <p:cNvPr id="11" name="TextBox 10"/>
          <p:cNvSpPr txBox="1"/>
          <p:nvPr/>
        </p:nvSpPr>
        <p:spPr>
          <a:xfrm>
            <a:off x="7583239" y="2981325"/>
            <a:ext cx="1713755" cy="90666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36000"/>
              </a:lnSpc>
              <a:defRPr i="0" sz="1050" b="0">
                <a:solidFill>
                  <a:srgbClr val="6B7280"/>
                </a:solidFill>
                <a:latin typeface="Albert Sans"/>
              </a:defRPr>
            </a:pPr>
            <a:r>
              <a:rPr i="0" sz="1050" b="0">
                <a:solidFill>
                  <a:srgbClr val="6B7280"/>
                </a:solidFill>
                <a:latin typeface="Albert Sans"/>
              </a:rPr>
              <a:t>Databases provide structured storage with ACID compliance for reliable data management.</a:t>
            </a:r>
          </a:p>
        </p:txBody>
      </p:sp>
      <p:sp>
        <p:nvSpPr>
          <p:cNvPr id="12" name="TextBox 11"/>
          <p:cNvSpPr txBox="1"/>
          <p:nvPr/>
        </p:nvSpPr>
        <p:spPr>
          <a:xfrm>
            <a:off x="5050482" y="2981325"/>
            <a:ext cx="1713607" cy="90666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36000"/>
              </a:lnSpc>
              <a:defRPr i="0" sz="1050" b="0">
                <a:solidFill>
                  <a:srgbClr val="6B7280"/>
                </a:solidFill>
                <a:latin typeface="Albert Sans"/>
              </a:defRPr>
            </a:pPr>
            <a:r>
              <a:rPr i="0" sz="1050" b="0">
                <a:solidFill>
                  <a:srgbClr val="6B7280"/>
                </a:solidFill>
                <a:latin typeface="Albert Sans"/>
              </a:rPr>
              <a:t>Your applications need data to persist across sessions, transactions, and server restarts.</a:t>
            </a:r>
          </a:p>
        </p:txBody>
      </p:sp>
      <p:sp>
        <p:nvSpPr>
          <p:cNvPr id="13" name="TextBox 12"/>
          <p:cNvSpPr txBox="1"/>
          <p:nvPr/>
        </p:nvSpPr>
        <p:spPr>
          <a:xfrm>
            <a:off x="7583239" y="2581275"/>
            <a:ext cx="1713755" cy="28575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0000"/>
              </a:lnSpc>
              <a:defRPr i="0" sz="1500" b="0">
                <a:solidFill>
                  <a:srgbClr val="111827"/>
                </a:solidFill>
                <a:latin typeface="Albert Sans"/>
              </a:defRPr>
            </a:pPr>
            <a:r>
              <a:rPr i="0" sz="1500" b="0">
                <a:solidFill>
                  <a:srgbClr val="111827"/>
                </a:solidFill>
                <a:latin typeface="Albert Sans"/>
              </a:rPr>
              <a:t>Database Storage</a:t>
            </a:r>
          </a:p>
        </p:txBody>
      </p:sp>
      <p:sp>
        <p:nvSpPr>
          <p:cNvPr id="14" name="TextBox 13"/>
          <p:cNvSpPr txBox="1"/>
          <p:nvPr/>
        </p:nvSpPr>
        <p:spPr>
          <a:xfrm>
            <a:off x="10116145" y="2581275"/>
            <a:ext cx="1713755" cy="28575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0000"/>
              </a:lnSpc>
              <a:defRPr i="0" sz="1500" b="0">
                <a:solidFill>
                  <a:srgbClr val="111827"/>
                </a:solidFill>
                <a:latin typeface="Albert Sans"/>
              </a:defRPr>
            </a:pPr>
            <a:r>
              <a:rPr i="0" sz="1500" b="0">
                <a:solidFill>
                  <a:srgbClr val="111827"/>
                </a:solidFill>
                <a:latin typeface="Albert Sans"/>
              </a:rPr>
              <a:t>Caching Layers</a:t>
            </a:r>
          </a:p>
        </p:txBody>
      </p:sp>
      <p:sp>
        <p:nvSpPr>
          <p:cNvPr id="15" name="TextBox 14"/>
          <p:cNvSpPr txBox="1"/>
          <p:nvPr/>
        </p:nvSpPr>
        <p:spPr>
          <a:xfrm>
            <a:off x="5050482" y="2581275"/>
            <a:ext cx="1713607" cy="28575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0000"/>
              </a:lnSpc>
              <a:defRPr i="0" sz="1500" b="0">
                <a:solidFill>
                  <a:srgbClr val="111827"/>
                </a:solidFill>
                <a:latin typeface="Albert Sans"/>
              </a:defRPr>
            </a:pPr>
            <a:r>
              <a:rPr i="0" sz="1500" b="0">
                <a:solidFill>
                  <a:srgbClr val="111827"/>
                </a:solidFill>
                <a:latin typeface="Albert Sans"/>
              </a:rPr>
              <a:t>Application Data</a:t>
            </a:r>
          </a:p>
        </p:txBody>
      </p:sp>
      <p:sp>
        <p:nvSpPr>
          <p:cNvPr id="16" name="TextBox 15"/>
          <p:cNvSpPr txBox="1"/>
          <p:nvPr/>
        </p:nvSpPr>
        <p:spPr>
          <a:xfrm>
            <a:off x="457200" y="6353175"/>
            <a:ext cx="1644401" cy="200025"/>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0000"/>
              </a:lnSpc>
              <a:defRPr i="0" sz="1050" b="0">
                <a:solidFill>
                  <a:srgbClr val="6B7280"/>
                </a:solidFill>
                <a:latin typeface="Albert Sans"/>
              </a:defRPr>
            </a:pPr>
            <a:r>
              <a:rPr i="0" sz="1050" b="0">
                <a:solidFill>
                  <a:srgbClr val="6B7280"/>
                </a:solidFill>
                <a:latin typeface="Albert Sans"/>
              </a:rPr>
              <a:t>www.persistence-talk.com</a:t>
            </a:r>
          </a:p>
        </p:txBody>
      </p:sp>
      <p:sp>
        <p:nvSpPr>
          <p:cNvPr id="17" name="Rectangle 16"/>
          <p:cNvSpPr/>
          <p:nvPr/>
        </p:nvSpPr>
        <p:spPr>
          <a:xfrm rot="2700000">
            <a:off x="11595473" y="6223373"/>
            <a:ext cx="431052" cy="431052"/>
          </a:xfrm>
          <a:prstGeom prst="rect">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8" name="Rectangle 17"/>
          <p:cNvSpPr/>
          <p:nvPr/>
        </p:nvSpPr>
        <p:spPr>
          <a:xfrm>
            <a:off x="2311151" y="6443662"/>
            <a:ext cx="9423648" cy="19050"/>
          </a:xfrm>
          <a:prstGeom prst="rect">
            <a:avLst/>
          </a:prstGeom>
          <a:solidFill>
            <a:srgbClr val="E5E7EB"/>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9" name="Rounded Rectangle 18"/>
          <p:cNvSpPr/>
          <p:nvPr/>
        </p:nvSpPr>
        <p:spPr>
          <a:xfrm rot="2700000">
            <a:off x="433527" y="204927"/>
            <a:ext cx="161644" cy="161644"/>
          </a:xfrm>
          <a:prstGeom prst="roundRect">
            <a:avLst>
              <a:gd name="adj" fmla="val 23570"/>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57200" y="533400"/>
            <a:ext cx="11296650" cy="50289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88000"/>
              </a:lnSpc>
              <a:defRPr i="0" sz="3600" b="0">
                <a:solidFill>
                  <a:srgbClr val="111827"/>
                </a:solidFill>
                <a:latin typeface="Albert Sans"/>
              </a:defRPr>
            </a:pPr>
            <a:r>
              <a:rPr i="0" sz="3600" b="0">
                <a:solidFill>
                  <a:srgbClr val="111827"/>
                </a:solidFill>
                <a:latin typeface="Albert Sans"/>
              </a:rPr>
              <a:t>Table of Contents</a:t>
            </a:r>
          </a:p>
        </p:txBody>
      </p:sp>
      <p:sp>
        <p:nvSpPr>
          <p:cNvPr id="3" name="TextBox 2"/>
          <p:cNvSpPr txBox="1"/>
          <p:nvPr/>
        </p:nvSpPr>
        <p:spPr>
          <a:xfrm>
            <a:off x="1126628" y="1379190"/>
            <a:ext cx="4740771" cy="25137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96000"/>
              </a:lnSpc>
              <a:defRPr i="0" sz="1650" b="0">
                <a:solidFill>
                  <a:srgbClr val="111827"/>
                </a:solidFill>
                <a:latin typeface="Albert Sans"/>
              </a:defRPr>
            </a:pPr>
            <a:r>
              <a:rPr i="0" sz="1650" b="0">
                <a:solidFill>
                  <a:srgbClr val="111827"/>
                </a:solidFill>
                <a:latin typeface="Albert Sans"/>
              </a:rPr>
              <a:t>What is Persistence?</a:t>
            </a:r>
          </a:p>
        </p:txBody>
      </p:sp>
      <p:sp>
        <p:nvSpPr>
          <p:cNvPr id="4" name="TextBox 3"/>
          <p:cNvSpPr txBox="1"/>
          <p:nvPr/>
        </p:nvSpPr>
        <p:spPr>
          <a:xfrm>
            <a:off x="6974978" y="5257055"/>
            <a:ext cx="4740771" cy="25137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96000"/>
              </a:lnSpc>
              <a:defRPr i="0" sz="1650" b="0">
                <a:solidFill>
                  <a:srgbClr val="111827"/>
                </a:solidFill>
                <a:latin typeface="Albert Sans"/>
              </a:defRPr>
            </a:pPr>
            <a:r>
              <a:rPr i="0" sz="1650" b="0">
                <a:solidFill>
                  <a:srgbClr val="111827"/>
                </a:solidFill>
                <a:latin typeface="Albert Sans"/>
              </a:rPr>
              <a:t>Best Practices</a:t>
            </a:r>
          </a:p>
        </p:txBody>
      </p:sp>
      <p:sp>
        <p:nvSpPr>
          <p:cNvPr id="5" name="TextBox 4"/>
          <p:cNvSpPr txBox="1"/>
          <p:nvPr/>
        </p:nvSpPr>
        <p:spPr>
          <a:xfrm>
            <a:off x="1233189" y="4287589"/>
            <a:ext cx="4634210" cy="25137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96000"/>
              </a:lnSpc>
              <a:defRPr i="0" sz="1650" b="0">
                <a:solidFill>
                  <a:srgbClr val="111827"/>
                </a:solidFill>
                <a:latin typeface="Albert Sans"/>
              </a:defRPr>
            </a:pPr>
            <a:r>
              <a:rPr i="0" sz="1650" b="0">
                <a:solidFill>
                  <a:srgbClr val="111827"/>
                </a:solidFill>
                <a:latin typeface="Albert Sans"/>
              </a:rPr>
              <a:t>ACID Properties: The Avengers of Data</a:t>
            </a:r>
          </a:p>
        </p:txBody>
      </p:sp>
      <p:sp>
        <p:nvSpPr>
          <p:cNvPr id="6" name="TextBox 5"/>
          <p:cNvSpPr txBox="1"/>
          <p:nvPr/>
        </p:nvSpPr>
        <p:spPr>
          <a:xfrm>
            <a:off x="7098803" y="1379190"/>
            <a:ext cx="4616946" cy="25137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96000"/>
              </a:lnSpc>
              <a:defRPr i="0" sz="1650" b="0">
                <a:solidFill>
                  <a:srgbClr val="111827"/>
                </a:solidFill>
                <a:latin typeface="Albert Sans"/>
              </a:defRPr>
            </a:pPr>
            <a:r>
              <a:rPr i="0" sz="1650" b="0">
                <a:solidFill>
                  <a:srgbClr val="111827"/>
                </a:solidFill>
                <a:latin typeface="Albert Sans"/>
              </a:rPr>
              <a:t>Why Bother?</a:t>
            </a:r>
          </a:p>
        </p:txBody>
      </p:sp>
      <p:sp>
        <p:nvSpPr>
          <p:cNvPr id="7" name="TextBox 6"/>
          <p:cNvSpPr txBox="1"/>
          <p:nvPr/>
        </p:nvSpPr>
        <p:spPr>
          <a:xfrm>
            <a:off x="1251495" y="2348656"/>
            <a:ext cx="4615904" cy="25137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96000"/>
              </a:lnSpc>
              <a:defRPr i="0" sz="1650" b="0">
                <a:solidFill>
                  <a:srgbClr val="111827"/>
                </a:solidFill>
                <a:latin typeface="Albert Sans"/>
              </a:defRPr>
            </a:pPr>
            <a:r>
              <a:rPr i="0" sz="1650" b="0">
                <a:solidFill>
                  <a:srgbClr val="111827"/>
                </a:solidFill>
                <a:latin typeface="Albert Sans"/>
              </a:rPr>
              <a:t>Databases: The Overachievers</a:t>
            </a:r>
          </a:p>
        </p:txBody>
      </p:sp>
      <p:sp>
        <p:nvSpPr>
          <p:cNvPr id="8" name="TextBox 7"/>
          <p:cNvSpPr txBox="1"/>
          <p:nvPr/>
        </p:nvSpPr>
        <p:spPr>
          <a:xfrm>
            <a:off x="7107138" y="3318123"/>
            <a:ext cx="4608611" cy="25137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96000"/>
              </a:lnSpc>
              <a:defRPr i="0" sz="1650" b="0">
                <a:solidFill>
                  <a:srgbClr val="111827"/>
                </a:solidFill>
                <a:latin typeface="Albert Sans"/>
              </a:defRPr>
            </a:pPr>
            <a:r>
              <a:rPr i="0" sz="1650" b="0">
                <a:solidFill>
                  <a:srgbClr val="111827"/>
                </a:solidFill>
                <a:latin typeface="Albert Sans"/>
              </a:rPr>
              <a:t>ORM: Blessing or Curse?</a:t>
            </a:r>
          </a:p>
        </p:txBody>
      </p:sp>
      <p:sp>
        <p:nvSpPr>
          <p:cNvPr id="9" name="TextBox 8"/>
          <p:cNvSpPr txBox="1"/>
          <p:nvPr/>
        </p:nvSpPr>
        <p:spPr>
          <a:xfrm>
            <a:off x="1258788" y="5257055"/>
            <a:ext cx="4608611" cy="25137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96000"/>
              </a:lnSpc>
              <a:defRPr i="0" sz="1650" b="0">
                <a:solidFill>
                  <a:srgbClr val="111827"/>
                </a:solidFill>
                <a:latin typeface="Albert Sans"/>
              </a:defRPr>
            </a:pPr>
            <a:r>
              <a:rPr i="0" sz="1650" b="0">
                <a:solidFill>
                  <a:srgbClr val="111827"/>
                </a:solidFill>
                <a:latin typeface="Albert Sans"/>
              </a:rPr>
              <a:t>Common Mistakes (We All Make Them)</a:t>
            </a:r>
          </a:p>
        </p:txBody>
      </p:sp>
      <p:sp>
        <p:nvSpPr>
          <p:cNvPr id="10" name="TextBox 9"/>
          <p:cNvSpPr txBox="1"/>
          <p:nvPr/>
        </p:nvSpPr>
        <p:spPr>
          <a:xfrm>
            <a:off x="1262806" y="3318123"/>
            <a:ext cx="4604593" cy="25137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96000"/>
              </a:lnSpc>
              <a:defRPr i="0" sz="1650" b="0">
                <a:solidFill>
                  <a:srgbClr val="111827"/>
                </a:solidFill>
                <a:latin typeface="Albert Sans"/>
              </a:defRPr>
            </a:pPr>
            <a:r>
              <a:rPr i="0" sz="1650" b="0">
                <a:solidFill>
                  <a:srgbClr val="111827"/>
                </a:solidFill>
                <a:latin typeface="Albert Sans"/>
              </a:rPr>
              <a:t>Caching: The Memory Superheroes</a:t>
            </a:r>
          </a:p>
        </p:txBody>
      </p:sp>
      <p:sp>
        <p:nvSpPr>
          <p:cNvPr id="11" name="TextBox 10"/>
          <p:cNvSpPr txBox="1"/>
          <p:nvPr/>
        </p:nvSpPr>
        <p:spPr>
          <a:xfrm>
            <a:off x="7113091" y="4287589"/>
            <a:ext cx="4602658" cy="25137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96000"/>
              </a:lnSpc>
              <a:defRPr i="0" sz="1650" b="0">
                <a:solidFill>
                  <a:srgbClr val="111827"/>
                </a:solidFill>
                <a:latin typeface="Albert Sans"/>
              </a:defRPr>
            </a:pPr>
            <a:r>
              <a:rPr i="0" sz="1650" b="0">
                <a:solidFill>
                  <a:srgbClr val="111827"/>
                </a:solidFill>
                <a:latin typeface="Albert Sans"/>
              </a:rPr>
              <a:t>NoSQL: The Rebels</a:t>
            </a:r>
          </a:p>
        </p:txBody>
      </p:sp>
      <p:sp>
        <p:nvSpPr>
          <p:cNvPr id="12" name="TextBox 11"/>
          <p:cNvSpPr txBox="1"/>
          <p:nvPr/>
        </p:nvSpPr>
        <p:spPr>
          <a:xfrm>
            <a:off x="7126337" y="2348656"/>
            <a:ext cx="4589412" cy="25137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96000"/>
              </a:lnSpc>
              <a:defRPr i="0" sz="1650" b="0">
                <a:solidFill>
                  <a:srgbClr val="111827"/>
                </a:solidFill>
                <a:latin typeface="Albert Sans"/>
              </a:defRPr>
            </a:pPr>
            <a:r>
              <a:rPr i="0" sz="1650" b="0">
                <a:solidFill>
                  <a:srgbClr val="111827"/>
                </a:solidFill>
                <a:latin typeface="Albert Sans"/>
              </a:rPr>
              <a:t>File Systems: The Old School Cool</a:t>
            </a:r>
          </a:p>
        </p:txBody>
      </p:sp>
      <p:sp>
        <p:nvSpPr>
          <p:cNvPr id="13" name="TextBox 12"/>
          <p:cNvSpPr txBox="1"/>
          <p:nvPr/>
        </p:nvSpPr>
        <p:spPr>
          <a:xfrm>
            <a:off x="1126628" y="1706760"/>
            <a:ext cx="4740771" cy="21327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8000"/>
              </a:lnSpc>
              <a:defRPr i="0" sz="1050" b="0">
                <a:solidFill>
                  <a:srgbClr val="6B7280"/>
                </a:solidFill>
                <a:latin typeface="Albert Sans"/>
              </a:defRPr>
            </a:pPr>
            <a:r>
              <a:rPr i="0" sz="1050" b="0">
                <a:solidFill>
                  <a:srgbClr val="6B7280"/>
                </a:solidFill>
                <a:latin typeface="Albert Sans"/>
              </a:rPr>
              <a:t>Data that survives program death—your apps' immortality hack</a:t>
            </a:r>
          </a:p>
        </p:txBody>
      </p:sp>
      <p:sp>
        <p:nvSpPr>
          <p:cNvPr id="14" name="TextBox 13"/>
          <p:cNvSpPr txBox="1"/>
          <p:nvPr/>
        </p:nvSpPr>
        <p:spPr>
          <a:xfrm>
            <a:off x="6974978" y="5584626"/>
            <a:ext cx="4740771" cy="21327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8000"/>
              </a:lnSpc>
              <a:defRPr i="0" sz="1050" b="0">
                <a:solidFill>
                  <a:srgbClr val="6B7280"/>
                </a:solidFill>
                <a:latin typeface="Albert Sans"/>
              </a:defRPr>
            </a:pPr>
            <a:r>
              <a:rPr i="0" sz="1050" b="0">
                <a:solidFill>
                  <a:srgbClr val="6B7280"/>
                </a:solidFill>
                <a:latin typeface="Albert Sans"/>
              </a:rPr>
              <a:t>Surviving persistence like a seasoned pro</a:t>
            </a:r>
          </a:p>
        </p:txBody>
      </p:sp>
      <p:sp>
        <p:nvSpPr>
          <p:cNvPr id="15" name="TextBox 14"/>
          <p:cNvSpPr txBox="1"/>
          <p:nvPr/>
        </p:nvSpPr>
        <p:spPr>
          <a:xfrm>
            <a:off x="1233189" y="4615160"/>
            <a:ext cx="4634210" cy="21327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8000"/>
              </a:lnSpc>
              <a:defRPr i="0" sz="1050" b="0">
                <a:solidFill>
                  <a:srgbClr val="6B7280"/>
                </a:solidFill>
                <a:latin typeface="Albert Sans"/>
              </a:defRPr>
            </a:pPr>
            <a:r>
              <a:rPr i="0" sz="1050" b="0">
                <a:solidFill>
                  <a:srgbClr val="6B7280"/>
                </a:solidFill>
                <a:latin typeface="Albert Sans"/>
              </a:rPr>
              <a:t>Atomicity, Consistency, Isolation, Durability unite!</a:t>
            </a:r>
          </a:p>
        </p:txBody>
      </p:sp>
      <p:sp>
        <p:nvSpPr>
          <p:cNvPr id="16" name="TextBox 15"/>
          <p:cNvSpPr txBox="1"/>
          <p:nvPr/>
        </p:nvSpPr>
        <p:spPr>
          <a:xfrm>
            <a:off x="7098803" y="1706760"/>
            <a:ext cx="4616946" cy="21327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8000"/>
              </a:lnSpc>
              <a:defRPr i="0" sz="1050" b="0">
                <a:solidFill>
                  <a:srgbClr val="6B7280"/>
                </a:solidFill>
                <a:latin typeface="Albert Sans"/>
              </a:defRPr>
            </a:pPr>
            <a:r>
              <a:rPr i="0" sz="1050" b="0">
                <a:solidFill>
                  <a:srgbClr val="6B7280"/>
                </a:solidFill>
                <a:latin typeface="Albert Sans"/>
              </a:rPr>
              <a:t>Because RAM forgets everything and GDPR demands it</a:t>
            </a:r>
          </a:p>
        </p:txBody>
      </p:sp>
      <p:sp>
        <p:nvSpPr>
          <p:cNvPr id="17" name="TextBox 16"/>
          <p:cNvSpPr txBox="1"/>
          <p:nvPr/>
        </p:nvSpPr>
        <p:spPr>
          <a:xfrm>
            <a:off x="1251495" y="2676227"/>
            <a:ext cx="4615904" cy="21327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8000"/>
              </a:lnSpc>
              <a:defRPr i="0" sz="1050" b="0">
                <a:solidFill>
                  <a:srgbClr val="6B7280"/>
                </a:solidFill>
                <a:latin typeface="Albert Sans"/>
              </a:defRPr>
            </a:pPr>
            <a:r>
              <a:rPr i="0" sz="1050" b="0">
                <a:solidFill>
                  <a:srgbClr val="6B7280"/>
                </a:solidFill>
                <a:latin typeface="Albert Sans"/>
              </a:rPr>
              <a:t>Structured storage that keeps data more faithful than yourex</a:t>
            </a:r>
          </a:p>
        </p:txBody>
      </p:sp>
      <p:sp>
        <p:nvSpPr>
          <p:cNvPr id="18" name="TextBox 17"/>
          <p:cNvSpPr txBox="1"/>
          <p:nvPr/>
        </p:nvSpPr>
        <p:spPr>
          <a:xfrm>
            <a:off x="7107138" y="3645693"/>
            <a:ext cx="4608611" cy="21327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8000"/>
              </a:lnSpc>
              <a:defRPr i="0" sz="1050" b="0">
                <a:solidFill>
                  <a:srgbClr val="6B7280"/>
                </a:solidFill>
                <a:latin typeface="Albert Sans"/>
              </a:defRPr>
            </a:pPr>
            <a:r>
              <a:rPr i="0" sz="1050" b="0">
                <a:solidFill>
                  <a:srgbClr val="6B7280"/>
                </a:solidFill>
                <a:latin typeface="Albert Sans"/>
              </a:rPr>
              <a:t>Automatic database mapping—miracle or madness?</a:t>
            </a:r>
          </a:p>
        </p:txBody>
      </p:sp>
      <p:sp>
        <p:nvSpPr>
          <p:cNvPr id="19" name="TextBox 18"/>
          <p:cNvSpPr txBox="1"/>
          <p:nvPr/>
        </p:nvSpPr>
        <p:spPr>
          <a:xfrm>
            <a:off x="1258788" y="5584626"/>
            <a:ext cx="4608611" cy="21327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8000"/>
              </a:lnSpc>
              <a:defRPr i="0" sz="1050" b="0">
                <a:solidFill>
                  <a:srgbClr val="6B7280"/>
                </a:solidFill>
                <a:latin typeface="Albert Sans"/>
              </a:defRPr>
            </a:pPr>
            <a:r>
              <a:rPr i="0" sz="1050" b="0">
                <a:solidFill>
                  <a:srgbClr val="6B7280"/>
                </a:solidFill>
                <a:latin typeface="Albert Sans"/>
              </a:rPr>
              <a:t>Production embarrassments you'll totally relate to</a:t>
            </a:r>
          </a:p>
        </p:txBody>
      </p:sp>
      <p:sp>
        <p:nvSpPr>
          <p:cNvPr id="20" name="TextBox 19"/>
          <p:cNvSpPr txBox="1"/>
          <p:nvPr/>
        </p:nvSpPr>
        <p:spPr>
          <a:xfrm>
            <a:off x="1262806" y="3645693"/>
            <a:ext cx="4604593" cy="21327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8000"/>
              </a:lnSpc>
              <a:defRPr i="0" sz="1050" b="0">
                <a:solidFill>
                  <a:srgbClr val="6B7280"/>
                </a:solidFill>
                <a:latin typeface="Albert Sans"/>
              </a:defRPr>
            </a:pPr>
            <a:r>
              <a:rPr i="0" sz="1050" b="0">
                <a:solidFill>
                  <a:srgbClr val="6B7280"/>
                </a:solidFill>
                <a:latin typeface="Albert Sans"/>
              </a:rPr>
              <a:t>Speed demons and the infamous cache invalidation problem</a:t>
            </a:r>
          </a:p>
        </p:txBody>
      </p:sp>
      <p:sp>
        <p:nvSpPr>
          <p:cNvPr id="21" name="TextBox 20"/>
          <p:cNvSpPr txBox="1"/>
          <p:nvPr/>
        </p:nvSpPr>
        <p:spPr>
          <a:xfrm>
            <a:off x="7113091" y="4615160"/>
            <a:ext cx="4602658" cy="21327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8000"/>
              </a:lnSpc>
              <a:defRPr i="0" sz="1050" b="0">
                <a:solidFill>
                  <a:srgbClr val="6B7280"/>
                </a:solidFill>
                <a:latin typeface="Albert Sans"/>
              </a:defRPr>
            </a:pPr>
            <a:r>
              <a:rPr i="0" sz="1050" b="0">
                <a:solidFill>
                  <a:srgbClr val="6B7280"/>
                </a:solidFill>
                <a:latin typeface="Albert Sans"/>
              </a:rPr>
              <a:t>Schema-less freedom and horizontal scaling adventures</a:t>
            </a:r>
          </a:p>
        </p:txBody>
      </p:sp>
      <p:sp>
        <p:nvSpPr>
          <p:cNvPr id="22" name="TextBox 21"/>
          <p:cNvSpPr txBox="1"/>
          <p:nvPr/>
        </p:nvSpPr>
        <p:spPr>
          <a:xfrm>
            <a:off x="7126337" y="2676227"/>
            <a:ext cx="4589412" cy="21327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8000"/>
              </a:lnSpc>
              <a:defRPr i="0" sz="1050" b="0">
                <a:solidFill>
                  <a:srgbClr val="6B7280"/>
                </a:solidFill>
                <a:latin typeface="Albert Sans"/>
              </a:defRPr>
            </a:pPr>
            <a:r>
              <a:rPr i="0" sz="1050" b="0">
                <a:solidFill>
                  <a:srgbClr val="6B7280"/>
                </a:solidFill>
                <a:latin typeface="Albert Sans"/>
              </a:rPr>
              <a:t>CSV, JSON, and why Excel is NOT a database</a:t>
            </a:r>
          </a:p>
        </p:txBody>
      </p:sp>
      <p:sp>
        <p:nvSpPr>
          <p:cNvPr id="23" name="TextBox 22"/>
          <p:cNvSpPr txBox="1"/>
          <p:nvPr/>
        </p:nvSpPr>
        <p:spPr>
          <a:xfrm>
            <a:off x="457200" y="6353175"/>
            <a:ext cx="1476226" cy="200025"/>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0000"/>
              </a:lnSpc>
              <a:defRPr i="0" sz="1050" b="0">
                <a:solidFill>
                  <a:srgbClr val="6B7280"/>
                </a:solidFill>
                <a:latin typeface="Albert Sans"/>
              </a:defRPr>
            </a:pPr>
            <a:r>
              <a:rPr i="0" sz="1050" b="0">
                <a:solidFill>
                  <a:srgbClr val="6B7280"/>
                </a:solidFill>
                <a:latin typeface="Albert Sans"/>
              </a:rPr>
              <a:t>www.persistence101.dev</a:t>
            </a:r>
          </a:p>
        </p:txBody>
      </p:sp>
      <p:sp>
        <p:nvSpPr>
          <p:cNvPr id="24" name="TextBox 23"/>
          <p:cNvSpPr txBox="1"/>
          <p:nvPr/>
        </p:nvSpPr>
        <p:spPr>
          <a:xfrm>
            <a:off x="6305550" y="2310556"/>
            <a:ext cx="611237" cy="4572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80000"/>
              </a:lnSpc>
              <a:defRPr i="0" sz="3600" b="0">
                <a:solidFill>
                  <a:srgbClr val="BFF4FF"/>
                </a:solidFill>
                <a:latin typeface="Albert Sans"/>
              </a:defRPr>
            </a:pPr>
            <a:r>
              <a:rPr i="0" sz="3600" b="0">
                <a:solidFill>
                  <a:srgbClr val="BFF4FF"/>
                </a:solidFill>
                <a:latin typeface="Albert Sans"/>
              </a:rPr>
              <a:t>04</a:t>
            </a:r>
          </a:p>
        </p:txBody>
      </p:sp>
      <p:sp>
        <p:nvSpPr>
          <p:cNvPr id="25" name="TextBox 24"/>
          <p:cNvSpPr txBox="1"/>
          <p:nvPr/>
        </p:nvSpPr>
        <p:spPr>
          <a:xfrm>
            <a:off x="6305550" y="4249489"/>
            <a:ext cx="597991" cy="4572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80000"/>
              </a:lnSpc>
              <a:defRPr i="0" sz="3600" b="0">
                <a:solidFill>
                  <a:srgbClr val="BFF4FF"/>
                </a:solidFill>
                <a:latin typeface="Albert Sans"/>
              </a:defRPr>
            </a:pPr>
            <a:r>
              <a:rPr i="0" sz="3600" b="0">
                <a:solidFill>
                  <a:srgbClr val="BFF4FF"/>
                </a:solidFill>
                <a:latin typeface="Albert Sans"/>
              </a:rPr>
              <a:t>08</a:t>
            </a:r>
          </a:p>
        </p:txBody>
      </p:sp>
      <p:sp>
        <p:nvSpPr>
          <p:cNvPr id="26" name="TextBox 25"/>
          <p:cNvSpPr txBox="1"/>
          <p:nvPr/>
        </p:nvSpPr>
        <p:spPr>
          <a:xfrm>
            <a:off x="457200" y="3280023"/>
            <a:ext cx="596056" cy="4572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80000"/>
              </a:lnSpc>
              <a:defRPr i="0" sz="3600" b="0">
                <a:solidFill>
                  <a:srgbClr val="BFF4FF"/>
                </a:solidFill>
                <a:latin typeface="Albert Sans"/>
              </a:defRPr>
            </a:pPr>
            <a:r>
              <a:rPr i="0" sz="3600" b="0">
                <a:solidFill>
                  <a:srgbClr val="BFF4FF"/>
                </a:solidFill>
                <a:latin typeface="Albert Sans"/>
              </a:rPr>
              <a:t>05</a:t>
            </a:r>
          </a:p>
        </p:txBody>
      </p:sp>
      <p:sp>
        <p:nvSpPr>
          <p:cNvPr id="27" name="TextBox 26"/>
          <p:cNvSpPr txBox="1"/>
          <p:nvPr/>
        </p:nvSpPr>
        <p:spPr>
          <a:xfrm>
            <a:off x="6305550" y="3280023"/>
            <a:ext cx="592038" cy="4572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80000"/>
              </a:lnSpc>
              <a:defRPr i="0" sz="3600" b="0">
                <a:solidFill>
                  <a:srgbClr val="BFF4FF"/>
                </a:solidFill>
                <a:latin typeface="Albert Sans"/>
              </a:defRPr>
            </a:pPr>
            <a:r>
              <a:rPr i="0" sz="3600" b="0">
                <a:solidFill>
                  <a:srgbClr val="BFF4FF"/>
                </a:solidFill>
                <a:latin typeface="Albert Sans"/>
              </a:rPr>
              <a:t>06</a:t>
            </a:r>
          </a:p>
        </p:txBody>
      </p:sp>
      <p:sp>
        <p:nvSpPr>
          <p:cNvPr id="28" name="TextBox 27"/>
          <p:cNvSpPr txBox="1"/>
          <p:nvPr/>
        </p:nvSpPr>
        <p:spPr>
          <a:xfrm>
            <a:off x="457200" y="5218955"/>
            <a:ext cx="592038" cy="4572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80000"/>
              </a:lnSpc>
              <a:defRPr i="0" sz="3600" b="0">
                <a:solidFill>
                  <a:srgbClr val="BFF4FF"/>
                </a:solidFill>
                <a:latin typeface="Albert Sans"/>
              </a:defRPr>
            </a:pPr>
            <a:r>
              <a:rPr i="0" sz="3600" b="0">
                <a:solidFill>
                  <a:srgbClr val="BFF4FF"/>
                </a:solidFill>
                <a:latin typeface="Albert Sans"/>
              </a:rPr>
              <a:t>09</a:t>
            </a:r>
          </a:p>
        </p:txBody>
      </p:sp>
      <p:sp>
        <p:nvSpPr>
          <p:cNvPr id="29" name="TextBox 28"/>
          <p:cNvSpPr txBox="1"/>
          <p:nvPr/>
        </p:nvSpPr>
        <p:spPr>
          <a:xfrm>
            <a:off x="457200" y="2310556"/>
            <a:ext cx="584745" cy="4572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80000"/>
              </a:lnSpc>
              <a:defRPr i="0" sz="3600" b="0">
                <a:solidFill>
                  <a:srgbClr val="BFF4FF"/>
                </a:solidFill>
                <a:latin typeface="Albert Sans"/>
              </a:defRPr>
            </a:pPr>
            <a:r>
              <a:rPr i="0" sz="3600" b="0">
                <a:solidFill>
                  <a:srgbClr val="BFF4FF"/>
                </a:solidFill>
                <a:latin typeface="Albert Sans"/>
              </a:rPr>
              <a:t>03</a:t>
            </a:r>
          </a:p>
        </p:txBody>
      </p:sp>
      <p:sp>
        <p:nvSpPr>
          <p:cNvPr id="30" name="TextBox 29"/>
          <p:cNvSpPr txBox="1"/>
          <p:nvPr/>
        </p:nvSpPr>
        <p:spPr>
          <a:xfrm>
            <a:off x="6305550" y="1341090"/>
            <a:ext cx="583703" cy="4572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80000"/>
              </a:lnSpc>
              <a:defRPr i="0" sz="3600" b="0">
                <a:solidFill>
                  <a:srgbClr val="BFF4FF"/>
                </a:solidFill>
                <a:latin typeface="Albert Sans"/>
              </a:defRPr>
            </a:pPr>
            <a:r>
              <a:rPr i="0" sz="3600" b="0">
                <a:solidFill>
                  <a:srgbClr val="BFF4FF"/>
                </a:solidFill>
                <a:latin typeface="Albert Sans"/>
              </a:rPr>
              <a:t>02</a:t>
            </a:r>
          </a:p>
        </p:txBody>
      </p:sp>
      <p:sp>
        <p:nvSpPr>
          <p:cNvPr id="31" name="TextBox 30"/>
          <p:cNvSpPr txBox="1"/>
          <p:nvPr/>
        </p:nvSpPr>
        <p:spPr>
          <a:xfrm>
            <a:off x="457200" y="4249489"/>
            <a:ext cx="566439" cy="4572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80000"/>
              </a:lnSpc>
              <a:defRPr i="0" sz="3600" b="0">
                <a:solidFill>
                  <a:srgbClr val="BFF4FF"/>
                </a:solidFill>
                <a:latin typeface="Albert Sans"/>
              </a:defRPr>
            </a:pPr>
            <a:r>
              <a:rPr i="0" sz="3600" b="0">
                <a:solidFill>
                  <a:srgbClr val="BFF4FF"/>
                </a:solidFill>
                <a:latin typeface="Albert Sans"/>
              </a:rPr>
              <a:t>07</a:t>
            </a:r>
          </a:p>
        </p:txBody>
      </p:sp>
      <p:sp>
        <p:nvSpPr>
          <p:cNvPr id="32" name="TextBox 31"/>
          <p:cNvSpPr txBox="1"/>
          <p:nvPr/>
        </p:nvSpPr>
        <p:spPr>
          <a:xfrm>
            <a:off x="457200" y="1341090"/>
            <a:ext cx="459878" cy="4572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80000"/>
              </a:lnSpc>
              <a:defRPr i="0" sz="3600" b="0">
                <a:solidFill>
                  <a:srgbClr val="BFF4FF"/>
                </a:solidFill>
                <a:latin typeface="Albert Sans"/>
              </a:defRPr>
            </a:pPr>
            <a:r>
              <a:rPr i="0" sz="3600" b="0">
                <a:solidFill>
                  <a:srgbClr val="BFF4FF"/>
                </a:solidFill>
                <a:latin typeface="Albert Sans"/>
              </a:rPr>
              <a:t>01</a:t>
            </a:r>
          </a:p>
        </p:txBody>
      </p:sp>
      <p:sp>
        <p:nvSpPr>
          <p:cNvPr id="33" name="TextBox 32"/>
          <p:cNvSpPr txBox="1"/>
          <p:nvPr/>
        </p:nvSpPr>
        <p:spPr>
          <a:xfrm>
            <a:off x="6305550" y="5218955"/>
            <a:ext cx="459878" cy="4572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80000"/>
              </a:lnSpc>
              <a:defRPr i="0" sz="3600" b="0">
                <a:solidFill>
                  <a:srgbClr val="BFF4FF"/>
                </a:solidFill>
                <a:latin typeface="Albert Sans"/>
              </a:defRPr>
            </a:pPr>
            <a:r>
              <a:rPr i="0" sz="3600" b="0">
                <a:solidFill>
                  <a:srgbClr val="BFF4FF"/>
                </a:solidFill>
                <a:latin typeface="Albert Sans"/>
              </a:rPr>
              <a:t>10</a:t>
            </a:r>
          </a:p>
        </p:txBody>
      </p:sp>
      <p:sp>
        <p:nvSpPr>
          <p:cNvPr id="34" name="Rectangle 33"/>
          <p:cNvSpPr/>
          <p:nvPr/>
        </p:nvSpPr>
        <p:spPr>
          <a:xfrm rot="2700000">
            <a:off x="11595473" y="6223373"/>
            <a:ext cx="431052" cy="431052"/>
          </a:xfrm>
          <a:prstGeom prst="rect">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5" name="Rectangle 34"/>
          <p:cNvSpPr/>
          <p:nvPr/>
        </p:nvSpPr>
        <p:spPr>
          <a:xfrm>
            <a:off x="2142976" y="6443662"/>
            <a:ext cx="9591823" cy="19050"/>
          </a:xfrm>
          <a:prstGeom prst="rect">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6" name="Rounded Rectangle 35"/>
          <p:cNvSpPr/>
          <p:nvPr/>
        </p:nvSpPr>
        <p:spPr>
          <a:xfrm>
            <a:off x="457200" y="2072431"/>
            <a:ext cx="5391150" cy="9525"/>
          </a:xfrm>
          <a:prstGeom prst="roundRect">
            <a:avLst>
              <a:gd name="adj" fmla="val 400000"/>
            </a:avLst>
          </a:prstGeom>
          <a:solidFill>
            <a:srgbClr val="E5E7EB"/>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7" name="Rounded Rectangle 36"/>
          <p:cNvSpPr/>
          <p:nvPr/>
        </p:nvSpPr>
        <p:spPr>
          <a:xfrm>
            <a:off x="6305550" y="2072431"/>
            <a:ext cx="5391150" cy="9525"/>
          </a:xfrm>
          <a:prstGeom prst="roundRect">
            <a:avLst>
              <a:gd name="adj" fmla="val 400000"/>
            </a:avLst>
          </a:prstGeom>
          <a:solidFill>
            <a:srgbClr val="E5E7EB"/>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8" name="Rounded Rectangle 37"/>
          <p:cNvSpPr/>
          <p:nvPr/>
        </p:nvSpPr>
        <p:spPr>
          <a:xfrm>
            <a:off x="457200" y="3041898"/>
            <a:ext cx="5391150" cy="9525"/>
          </a:xfrm>
          <a:prstGeom prst="roundRect">
            <a:avLst>
              <a:gd name="adj" fmla="val 400000"/>
            </a:avLst>
          </a:prstGeom>
          <a:solidFill>
            <a:srgbClr val="E5E7EB"/>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9" name="Rounded Rectangle 38"/>
          <p:cNvSpPr/>
          <p:nvPr/>
        </p:nvSpPr>
        <p:spPr>
          <a:xfrm>
            <a:off x="6305550" y="3041898"/>
            <a:ext cx="5391150" cy="9525"/>
          </a:xfrm>
          <a:prstGeom prst="roundRect">
            <a:avLst>
              <a:gd name="adj" fmla="val 400000"/>
            </a:avLst>
          </a:prstGeom>
          <a:solidFill>
            <a:srgbClr val="E5E7EB"/>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0" name="Rounded Rectangle 39"/>
          <p:cNvSpPr/>
          <p:nvPr/>
        </p:nvSpPr>
        <p:spPr>
          <a:xfrm>
            <a:off x="457200" y="4011364"/>
            <a:ext cx="5391150" cy="9525"/>
          </a:xfrm>
          <a:prstGeom prst="roundRect">
            <a:avLst>
              <a:gd name="adj" fmla="val 400000"/>
            </a:avLst>
          </a:prstGeom>
          <a:solidFill>
            <a:srgbClr val="E5E7EB"/>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1" name="Rounded Rectangle 40"/>
          <p:cNvSpPr/>
          <p:nvPr/>
        </p:nvSpPr>
        <p:spPr>
          <a:xfrm>
            <a:off x="6305550" y="4011364"/>
            <a:ext cx="5391150" cy="9525"/>
          </a:xfrm>
          <a:prstGeom prst="roundRect">
            <a:avLst>
              <a:gd name="adj" fmla="val 400000"/>
            </a:avLst>
          </a:prstGeom>
          <a:solidFill>
            <a:srgbClr val="E5E7EB"/>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2" name="Rounded Rectangle 41"/>
          <p:cNvSpPr/>
          <p:nvPr/>
        </p:nvSpPr>
        <p:spPr>
          <a:xfrm>
            <a:off x="457200" y="4980830"/>
            <a:ext cx="5391150" cy="9525"/>
          </a:xfrm>
          <a:prstGeom prst="roundRect">
            <a:avLst>
              <a:gd name="adj" fmla="val 400000"/>
            </a:avLst>
          </a:prstGeom>
          <a:solidFill>
            <a:srgbClr val="E5E7EB"/>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3" name="Rounded Rectangle 42"/>
          <p:cNvSpPr/>
          <p:nvPr/>
        </p:nvSpPr>
        <p:spPr>
          <a:xfrm>
            <a:off x="6305550" y="4980830"/>
            <a:ext cx="5391150" cy="9525"/>
          </a:xfrm>
          <a:prstGeom prst="roundRect">
            <a:avLst>
              <a:gd name="adj" fmla="val 400000"/>
            </a:avLst>
          </a:prstGeom>
          <a:solidFill>
            <a:srgbClr val="E5E7EB"/>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4" name="Rounded Rectangle 43"/>
          <p:cNvSpPr/>
          <p:nvPr/>
        </p:nvSpPr>
        <p:spPr>
          <a:xfrm>
            <a:off x="457200" y="5950297"/>
            <a:ext cx="5391150" cy="9525"/>
          </a:xfrm>
          <a:prstGeom prst="roundRect">
            <a:avLst>
              <a:gd name="adj" fmla="val 400000"/>
            </a:avLst>
          </a:prstGeom>
          <a:solidFill>
            <a:srgbClr val="E5E7EB"/>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5" name="Rounded Rectangle 44"/>
          <p:cNvSpPr/>
          <p:nvPr/>
        </p:nvSpPr>
        <p:spPr>
          <a:xfrm>
            <a:off x="6305550" y="5950297"/>
            <a:ext cx="5391150" cy="9525"/>
          </a:xfrm>
          <a:prstGeom prst="roundRect">
            <a:avLst>
              <a:gd name="adj" fmla="val 400000"/>
            </a:avLst>
          </a:prstGeom>
          <a:solidFill>
            <a:srgbClr val="E5E7EB"/>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6" name="Rounded Rectangle 45"/>
          <p:cNvSpPr/>
          <p:nvPr/>
        </p:nvSpPr>
        <p:spPr>
          <a:xfrm rot="2700000">
            <a:off x="433527" y="204927"/>
            <a:ext cx="161644" cy="161644"/>
          </a:xfrm>
          <a:prstGeom prst="roundRect">
            <a:avLst>
              <a:gd name="adj" fmla="val 23570"/>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57200" y="533400"/>
            <a:ext cx="11296650" cy="50289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88000"/>
              </a:lnSpc>
              <a:defRPr i="0" sz="3600" b="0">
                <a:solidFill>
                  <a:srgbClr val="111827"/>
                </a:solidFill>
                <a:latin typeface="Albert Sans"/>
              </a:defRPr>
            </a:pPr>
            <a:r>
              <a:rPr i="0" sz="3600" b="0">
                <a:solidFill>
                  <a:srgbClr val="111827"/>
                </a:solidFill>
                <a:latin typeface="Albert Sans"/>
              </a:rPr>
              <a:t>Table of Contents</a:t>
            </a:r>
          </a:p>
        </p:txBody>
      </p:sp>
      <p:sp>
        <p:nvSpPr>
          <p:cNvPr id="3" name="TextBox 2"/>
          <p:cNvSpPr txBox="1"/>
          <p:nvPr/>
        </p:nvSpPr>
        <p:spPr>
          <a:xfrm>
            <a:off x="1126628" y="1379190"/>
            <a:ext cx="4740771" cy="25137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96000"/>
              </a:lnSpc>
              <a:defRPr i="0" sz="1650" b="0">
                <a:solidFill>
                  <a:srgbClr val="111827"/>
                </a:solidFill>
                <a:latin typeface="Albert Sans"/>
              </a:defRPr>
            </a:pPr>
            <a:r>
              <a:rPr i="0" sz="1650" b="0">
                <a:solidFill>
                  <a:srgbClr val="111827"/>
                </a:solidFill>
                <a:latin typeface="Albert Sans"/>
              </a:rPr>
              <a:t>ORM: Blessing or Curse?</a:t>
            </a:r>
          </a:p>
        </p:txBody>
      </p:sp>
      <p:sp>
        <p:nvSpPr>
          <p:cNvPr id="4" name="TextBox 3"/>
          <p:cNvSpPr txBox="1"/>
          <p:nvPr/>
        </p:nvSpPr>
        <p:spPr>
          <a:xfrm>
            <a:off x="6974978" y="5257055"/>
            <a:ext cx="4740771" cy="25137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96000"/>
              </a:lnSpc>
              <a:defRPr i="0" sz="1650" b="0">
                <a:solidFill>
                  <a:srgbClr val="111827"/>
                </a:solidFill>
                <a:latin typeface="Albert Sans"/>
              </a:defRPr>
            </a:pPr>
            <a:r>
              <a:rPr i="0" sz="1650" b="0">
                <a:solidFill>
                  <a:srgbClr val="111827"/>
                </a:solidFill>
                <a:latin typeface="Albert Sans"/>
              </a:rPr>
              <a:t>Q</a:t>
            </a:r>
            <a:r>
              <a:rPr i="0" sz="1650" b="0">
                <a:solidFill>
                  <a:srgbClr val="111827"/>
                </a:solidFill>
                <a:latin typeface="Albert Sans"/>
              </a:rPr>
              <a:t>&amp;</a:t>
            </a:r>
            <a:r>
              <a:rPr i="0" sz="1650" b="0">
                <a:solidFill>
                  <a:srgbClr val="111827"/>
                </a:solidFill>
                <a:latin typeface="Albert Sans"/>
              </a:rPr>
              <a:t>A</a:t>
            </a:r>
          </a:p>
        </p:txBody>
      </p:sp>
      <p:sp>
        <p:nvSpPr>
          <p:cNvPr id="5" name="TextBox 4"/>
          <p:cNvSpPr txBox="1"/>
          <p:nvPr/>
        </p:nvSpPr>
        <p:spPr>
          <a:xfrm>
            <a:off x="1233189" y="4287589"/>
            <a:ext cx="4634210" cy="25137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96000"/>
              </a:lnSpc>
              <a:defRPr i="0" sz="1650" b="0">
                <a:solidFill>
                  <a:srgbClr val="111827"/>
                </a:solidFill>
                <a:latin typeface="Albert Sans"/>
              </a:defRPr>
            </a:pPr>
            <a:r>
              <a:rPr i="0" sz="1650" b="0">
                <a:solidFill>
                  <a:srgbClr val="111827"/>
                </a:solidFill>
                <a:latin typeface="Albert Sans"/>
              </a:rPr>
              <a:t>Security Considerations</a:t>
            </a:r>
          </a:p>
        </p:txBody>
      </p:sp>
      <p:sp>
        <p:nvSpPr>
          <p:cNvPr id="6" name="TextBox 5"/>
          <p:cNvSpPr txBox="1"/>
          <p:nvPr/>
        </p:nvSpPr>
        <p:spPr>
          <a:xfrm>
            <a:off x="7098803" y="1379190"/>
            <a:ext cx="4616946" cy="25137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96000"/>
              </a:lnSpc>
              <a:defRPr i="0" sz="1650" b="0">
                <a:solidFill>
                  <a:srgbClr val="111827"/>
                </a:solidFill>
                <a:latin typeface="Albert Sans"/>
              </a:defRPr>
            </a:pPr>
            <a:r>
              <a:rPr i="0" sz="1650" b="0">
                <a:solidFill>
                  <a:srgbClr val="111827"/>
                </a:solidFill>
                <a:latin typeface="Albert Sans"/>
              </a:rPr>
              <a:t>The N+1 Problem</a:t>
            </a:r>
          </a:p>
        </p:txBody>
      </p:sp>
      <p:sp>
        <p:nvSpPr>
          <p:cNvPr id="7" name="TextBox 6"/>
          <p:cNvSpPr txBox="1"/>
          <p:nvPr/>
        </p:nvSpPr>
        <p:spPr>
          <a:xfrm>
            <a:off x="1251495" y="2348656"/>
            <a:ext cx="4615904" cy="25137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96000"/>
              </a:lnSpc>
              <a:defRPr i="0" sz="1650" b="0">
                <a:solidFill>
                  <a:srgbClr val="111827"/>
                </a:solidFill>
                <a:latin typeface="Albert Sans"/>
              </a:defRPr>
            </a:pPr>
            <a:r>
              <a:rPr i="0" sz="1650" b="0">
                <a:solidFill>
                  <a:srgbClr val="111827"/>
                </a:solidFill>
                <a:latin typeface="Albert Sans"/>
              </a:rPr>
              <a:t>Common Mistakes: Hall of Shame</a:t>
            </a:r>
          </a:p>
        </p:txBody>
      </p:sp>
      <p:sp>
        <p:nvSpPr>
          <p:cNvPr id="8" name="TextBox 7"/>
          <p:cNvSpPr txBox="1"/>
          <p:nvPr/>
        </p:nvSpPr>
        <p:spPr>
          <a:xfrm>
            <a:off x="7107138" y="3318123"/>
            <a:ext cx="4608611" cy="25137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96000"/>
              </a:lnSpc>
              <a:defRPr i="0" sz="1650" b="0">
                <a:solidFill>
                  <a:srgbClr val="111827"/>
                </a:solidFill>
                <a:latin typeface="Albert Sans"/>
              </a:defRPr>
            </a:pPr>
            <a:r>
              <a:rPr i="0" sz="1650" b="0">
                <a:solidFill>
                  <a:srgbClr val="111827"/>
                </a:solidFill>
                <a:latin typeface="Albert Sans"/>
              </a:rPr>
              <a:t>Best Practices</a:t>
            </a:r>
          </a:p>
        </p:txBody>
      </p:sp>
      <p:sp>
        <p:nvSpPr>
          <p:cNvPr id="9" name="TextBox 8"/>
          <p:cNvSpPr txBox="1"/>
          <p:nvPr/>
        </p:nvSpPr>
        <p:spPr>
          <a:xfrm>
            <a:off x="1258788" y="5257055"/>
            <a:ext cx="4608611" cy="25137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96000"/>
              </a:lnSpc>
              <a:defRPr i="0" sz="1650" b="0">
                <a:solidFill>
                  <a:srgbClr val="111827"/>
                </a:solidFill>
                <a:latin typeface="Albert Sans"/>
              </a:defRPr>
            </a:pPr>
            <a:r>
              <a:rPr i="0" sz="1650" b="0">
                <a:solidFill>
                  <a:srgbClr val="111827"/>
                </a:solidFill>
                <a:latin typeface="Albert Sans"/>
              </a:rPr>
              <a:t>Key Takeaways</a:t>
            </a:r>
          </a:p>
        </p:txBody>
      </p:sp>
      <p:sp>
        <p:nvSpPr>
          <p:cNvPr id="10" name="TextBox 9"/>
          <p:cNvSpPr txBox="1"/>
          <p:nvPr/>
        </p:nvSpPr>
        <p:spPr>
          <a:xfrm>
            <a:off x="1262806" y="3318123"/>
            <a:ext cx="4604593" cy="25137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96000"/>
              </a:lnSpc>
              <a:defRPr i="0" sz="1650" b="0">
                <a:solidFill>
                  <a:srgbClr val="111827"/>
                </a:solidFill>
                <a:latin typeface="Albert Sans"/>
              </a:defRPr>
            </a:pPr>
            <a:r>
              <a:rPr i="0" sz="1650" b="0">
                <a:solidFill>
                  <a:srgbClr val="111827"/>
                </a:solidFill>
                <a:latin typeface="Albert Sans"/>
              </a:rPr>
              <a:t>Data Migration</a:t>
            </a:r>
          </a:p>
        </p:txBody>
      </p:sp>
      <p:sp>
        <p:nvSpPr>
          <p:cNvPr id="11" name="TextBox 10"/>
          <p:cNvSpPr txBox="1"/>
          <p:nvPr/>
        </p:nvSpPr>
        <p:spPr>
          <a:xfrm>
            <a:off x="7113091" y="4287589"/>
            <a:ext cx="4602658" cy="25137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96000"/>
              </a:lnSpc>
              <a:defRPr i="0" sz="1650" b="0">
                <a:solidFill>
                  <a:srgbClr val="111827"/>
                </a:solidFill>
                <a:latin typeface="Albert Sans"/>
              </a:defRPr>
            </a:pPr>
            <a:r>
              <a:rPr i="0" sz="1650" b="0">
                <a:solidFill>
                  <a:srgbClr val="111827"/>
                </a:solidFill>
                <a:latin typeface="Albert Sans"/>
              </a:rPr>
              <a:t>The Future of Persistence</a:t>
            </a:r>
          </a:p>
        </p:txBody>
      </p:sp>
      <p:sp>
        <p:nvSpPr>
          <p:cNvPr id="12" name="TextBox 11"/>
          <p:cNvSpPr txBox="1"/>
          <p:nvPr/>
        </p:nvSpPr>
        <p:spPr>
          <a:xfrm>
            <a:off x="7126337" y="2348656"/>
            <a:ext cx="4589412" cy="25137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96000"/>
              </a:lnSpc>
              <a:defRPr i="0" sz="1650" b="0">
                <a:solidFill>
                  <a:srgbClr val="111827"/>
                </a:solidFill>
                <a:latin typeface="Albert Sans"/>
              </a:defRPr>
            </a:pPr>
            <a:r>
              <a:rPr i="0" sz="1650" b="0">
                <a:solidFill>
                  <a:srgbClr val="111827"/>
                </a:solidFill>
                <a:latin typeface="Albert Sans"/>
              </a:rPr>
              <a:t>Backup Strategies</a:t>
            </a:r>
          </a:p>
        </p:txBody>
      </p:sp>
      <p:sp>
        <p:nvSpPr>
          <p:cNvPr id="13" name="TextBox 12"/>
          <p:cNvSpPr txBox="1"/>
          <p:nvPr/>
        </p:nvSpPr>
        <p:spPr>
          <a:xfrm>
            <a:off x="1126628" y="1706760"/>
            <a:ext cx="4740771" cy="21327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8000"/>
              </a:lnSpc>
              <a:defRPr i="0" sz="1050" b="0">
                <a:solidFill>
                  <a:srgbClr val="6B7280"/>
                </a:solidFill>
                <a:latin typeface="Albert Sans"/>
              </a:defRPr>
            </a:pPr>
            <a:r>
              <a:rPr i="0" sz="1050" b="0">
                <a:solidFill>
                  <a:srgbClr val="6B7280"/>
                </a:solidFill>
                <a:latin typeface="Albert Sans"/>
              </a:rPr>
              <a:t>Object-Relational Mapping: Less SQL, more magic, more bugs.</a:t>
            </a:r>
          </a:p>
        </p:txBody>
      </p:sp>
      <p:sp>
        <p:nvSpPr>
          <p:cNvPr id="14" name="TextBox 13"/>
          <p:cNvSpPr txBox="1"/>
          <p:nvPr/>
        </p:nvSpPr>
        <p:spPr>
          <a:xfrm>
            <a:off x="6974978" y="5584626"/>
            <a:ext cx="4740771" cy="21327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8000"/>
              </a:lnSpc>
              <a:defRPr i="0" sz="1050" b="0">
                <a:solidFill>
                  <a:srgbClr val="6B7280"/>
                </a:solidFill>
                <a:latin typeface="Albert Sans"/>
              </a:defRPr>
            </a:pPr>
            <a:r>
              <a:rPr i="0" sz="1050" b="0">
                <a:solidFill>
                  <a:srgbClr val="6B7280"/>
                </a:solidFill>
                <a:latin typeface="Albert Sans"/>
              </a:rPr>
              <a:t>Database horror stories welcome. Tissues provided.</a:t>
            </a:r>
          </a:p>
        </p:txBody>
      </p:sp>
      <p:sp>
        <p:nvSpPr>
          <p:cNvPr id="15" name="TextBox 14"/>
          <p:cNvSpPr txBox="1"/>
          <p:nvPr/>
        </p:nvSpPr>
        <p:spPr>
          <a:xfrm>
            <a:off x="1233189" y="4615160"/>
            <a:ext cx="4634210" cy="21327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8000"/>
              </a:lnSpc>
              <a:defRPr i="0" sz="1050" b="0">
                <a:solidFill>
                  <a:srgbClr val="6B7280"/>
                </a:solidFill>
                <a:latin typeface="Albert Sans"/>
              </a:defRPr>
            </a:pPr>
            <a:r>
              <a:rPr i="0" sz="1050" b="0">
                <a:solidFill>
                  <a:srgbClr val="6B7280"/>
                </a:solidFill>
                <a:latin typeface="Albert Sans"/>
              </a:rPr>
              <a:t>SQL injection is not a compliment. Encrypt everything.</a:t>
            </a:r>
          </a:p>
        </p:txBody>
      </p:sp>
      <p:sp>
        <p:nvSpPr>
          <p:cNvPr id="16" name="TextBox 15"/>
          <p:cNvSpPr txBox="1"/>
          <p:nvPr/>
        </p:nvSpPr>
        <p:spPr>
          <a:xfrm>
            <a:off x="7098803" y="1706760"/>
            <a:ext cx="4616946" cy="21327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8000"/>
              </a:lnSpc>
              <a:defRPr i="0" sz="1050" b="0">
                <a:solidFill>
                  <a:srgbClr val="6B7280"/>
                </a:solidFill>
                <a:latin typeface="Albert Sans"/>
              </a:defRPr>
            </a:pPr>
            <a:r>
              <a:rPr i="0" sz="1050" b="0">
                <a:solidFill>
                  <a:srgbClr val="6B7280"/>
                </a:solidFill>
                <a:latin typeface="Albert Sans"/>
              </a:rPr>
              <a:t>100 users = 101 queries. Your DBA's weekly therapy session.</a:t>
            </a:r>
          </a:p>
        </p:txBody>
      </p:sp>
      <p:sp>
        <p:nvSpPr>
          <p:cNvPr id="17" name="TextBox 16"/>
          <p:cNvSpPr txBox="1"/>
          <p:nvPr/>
        </p:nvSpPr>
        <p:spPr>
          <a:xfrm>
            <a:off x="1251495" y="2676227"/>
            <a:ext cx="4615904" cy="21327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8000"/>
              </a:lnSpc>
              <a:defRPr i="0" sz="1050" b="0">
                <a:solidFill>
                  <a:srgbClr val="6B7280"/>
                </a:solidFill>
                <a:latin typeface="Albert Sans"/>
              </a:defRPr>
            </a:pPr>
            <a:r>
              <a:rPr i="0" sz="1050" b="0">
                <a:solidFill>
                  <a:srgbClr val="6B7280"/>
                </a:solidFill>
                <a:latin typeface="Albert Sans"/>
              </a:rPr>
              <a:t>Plain text passwords, no backups, and committing secrets to</a:t>
            </a:r>
          </a:p>
        </p:txBody>
      </p:sp>
      <p:sp>
        <p:nvSpPr>
          <p:cNvPr id="18" name="TextBox 17"/>
          <p:cNvSpPr txBox="1"/>
          <p:nvPr/>
        </p:nvSpPr>
        <p:spPr>
          <a:xfrm>
            <a:off x="7107138" y="3645693"/>
            <a:ext cx="4608611" cy="21327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8000"/>
              </a:lnSpc>
              <a:defRPr i="0" sz="1050" b="0">
                <a:solidFill>
                  <a:srgbClr val="6B7280"/>
                </a:solidFill>
                <a:latin typeface="Albert Sans"/>
              </a:defRPr>
            </a:pPr>
            <a:r>
              <a:rPr i="0" sz="1050" b="0">
                <a:solidFill>
                  <a:srgbClr val="6B7280"/>
                </a:solidFill>
                <a:latin typeface="Albert Sans"/>
              </a:rPr>
              <a:t>Normalize, index, and document. Be the developer future-you.</a:t>
            </a:r>
          </a:p>
        </p:txBody>
      </p:sp>
      <p:sp>
        <p:nvSpPr>
          <p:cNvPr id="19" name="TextBox 18"/>
          <p:cNvSpPr txBox="1"/>
          <p:nvPr/>
        </p:nvSpPr>
        <p:spPr>
          <a:xfrm>
            <a:off x="1258788" y="5584626"/>
            <a:ext cx="4608611" cy="21327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8000"/>
              </a:lnSpc>
              <a:defRPr i="0" sz="1050" b="0">
                <a:solidFill>
                  <a:srgbClr val="6B7280"/>
                </a:solidFill>
                <a:latin typeface="Albert Sans"/>
              </a:defRPr>
            </a:pPr>
            <a:r>
              <a:rPr i="0" sz="1050" b="0">
                <a:solidFill>
                  <a:srgbClr val="6B7280"/>
                </a:solidFill>
                <a:latin typeface="Albert Sans"/>
              </a:rPr>
              <a:t>Backups exist. Security exists. Data must live somewhere.</a:t>
            </a:r>
          </a:p>
        </p:txBody>
      </p:sp>
      <p:sp>
        <p:nvSpPr>
          <p:cNvPr id="20" name="TextBox 19"/>
          <p:cNvSpPr txBox="1"/>
          <p:nvPr/>
        </p:nvSpPr>
        <p:spPr>
          <a:xfrm>
            <a:off x="1262806" y="3645693"/>
            <a:ext cx="4604593" cy="21327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8000"/>
              </a:lnSpc>
              <a:defRPr i="0" sz="1050" b="0">
                <a:solidFill>
                  <a:srgbClr val="6B7280"/>
                </a:solidFill>
                <a:latin typeface="Albert Sans"/>
              </a:defRPr>
            </a:pPr>
            <a:r>
              <a:rPr i="0" sz="1050" b="0">
                <a:solidFill>
                  <a:srgbClr val="6B7280"/>
                </a:solidFill>
                <a:latin typeface="Albert Sans"/>
              </a:rPr>
              <a:t>The art of moving data without losing your job.</a:t>
            </a:r>
          </a:p>
        </p:txBody>
      </p:sp>
      <p:sp>
        <p:nvSpPr>
          <p:cNvPr id="21" name="TextBox 20"/>
          <p:cNvSpPr txBox="1"/>
          <p:nvPr/>
        </p:nvSpPr>
        <p:spPr>
          <a:xfrm>
            <a:off x="7113091" y="4615160"/>
            <a:ext cx="4602658" cy="21327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8000"/>
              </a:lnSpc>
              <a:defRPr i="0" sz="1050" b="0">
                <a:solidFill>
                  <a:srgbClr val="6B7280"/>
                </a:solidFill>
                <a:latin typeface="Albert Sans"/>
              </a:defRPr>
            </a:pPr>
            <a:r>
              <a:rPr i="0" sz="1050" b="0">
                <a:solidFill>
                  <a:srgbClr val="6B7280"/>
                </a:solidFill>
                <a:latin typeface="Albert Sans"/>
              </a:rPr>
              <a:t>Serverless, edge, and NewSQL: buzzwords that actually mean.</a:t>
            </a:r>
          </a:p>
        </p:txBody>
      </p:sp>
      <p:sp>
        <p:nvSpPr>
          <p:cNvPr id="22" name="TextBox 21"/>
          <p:cNvSpPr txBox="1"/>
          <p:nvPr/>
        </p:nvSpPr>
        <p:spPr>
          <a:xfrm>
            <a:off x="7126337" y="2676227"/>
            <a:ext cx="4589412" cy="21327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8000"/>
              </a:lnSpc>
              <a:defRPr i="0" sz="1050" b="0">
                <a:solidFill>
                  <a:srgbClr val="6B7280"/>
                </a:solidFill>
                <a:latin typeface="Albert Sans"/>
              </a:defRPr>
            </a:pPr>
            <a:r>
              <a:rPr i="0" sz="1050" b="0">
                <a:solidFill>
                  <a:srgbClr val="6B7280"/>
                </a:solidFill>
                <a:latin typeface="Albert Sans"/>
              </a:rPr>
              <a:t>Because hoping nothing breaks is not a disaster recovery.</a:t>
            </a:r>
          </a:p>
        </p:txBody>
      </p:sp>
      <p:sp>
        <p:nvSpPr>
          <p:cNvPr id="23" name="TextBox 22"/>
          <p:cNvSpPr txBox="1"/>
          <p:nvPr/>
        </p:nvSpPr>
        <p:spPr>
          <a:xfrm>
            <a:off x="6305550" y="2310556"/>
            <a:ext cx="611237" cy="4572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80000"/>
              </a:lnSpc>
              <a:defRPr i="0" sz="3600" b="0">
                <a:solidFill>
                  <a:srgbClr val="BFF4FF"/>
                </a:solidFill>
                <a:latin typeface="Albert Sans"/>
              </a:defRPr>
            </a:pPr>
            <a:r>
              <a:rPr i="0" sz="3600" b="0">
                <a:solidFill>
                  <a:srgbClr val="BFF4FF"/>
                </a:solidFill>
                <a:latin typeface="Albert Sans"/>
              </a:rPr>
              <a:t>04</a:t>
            </a:r>
          </a:p>
        </p:txBody>
      </p:sp>
      <p:sp>
        <p:nvSpPr>
          <p:cNvPr id="24" name="TextBox 23"/>
          <p:cNvSpPr txBox="1"/>
          <p:nvPr/>
        </p:nvSpPr>
        <p:spPr>
          <a:xfrm>
            <a:off x="6305550" y="4249489"/>
            <a:ext cx="597991" cy="4572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80000"/>
              </a:lnSpc>
              <a:defRPr i="0" sz="3600" b="0">
                <a:solidFill>
                  <a:srgbClr val="BFF4FF"/>
                </a:solidFill>
                <a:latin typeface="Albert Sans"/>
              </a:defRPr>
            </a:pPr>
            <a:r>
              <a:rPr i="0" sz="3600" b="0">
                <a:solidFill>
                  <a:srgbClr val="BFF4FF"/>
                </a:solidFill>
                <a:latin typeface="Albert Sans"/>
              </a:rPr>
              <a:t>08</a:t>
            </a:r>
          </a:p>
        </p:txBody>
      </p:sp>
      <p:sp>
        <p:nvSpPr>
          <p:cNvPr id="25" name="TextBox 24"/>
          <p:cNvSpPr txBox="1"/>
          <p:nvPr/>
        </p:nvSpPr>
        <p:spPr>
          <a:xfrm>
            <a:off x="457200" y="3280023"/>
            <a:ext cx="596056" cy="4572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80000"/>
              </a:lnSpc>
              <a:defRPr i="0" sz="3600" b="0">
                <a:solidFill>
                  <a:srgbClr val="BFF4FF"/>
                </a:solidFill>
                <a:latin typeface="Albert Sans"/>
              </a:defRPr>
            </a:pPr>
            <a:r>
              <a:rPr i="0" sz="3600" b="0">
                <a:solidFill>
                  <a:srgbClr val="BFF4FF"/>
                </a:solidFill>
                <a:latin typeface="Albert Sans"/>
              </a:rPr>
              <a:t>05</a:t>
            </a:r>
          </a:p>
        </p:txBody>
      </p:sp>
      <p:sp>
        <p:nvSpPr>
          <p:cNvPr id="26" name="TextBox 25"/>
          <p:cNvSpPr txBox="1"/>
          <p:nvPr/>
        </p:nvSpPr>
        <p:spPr>
          <a:xfrm>
            <a:off x="6305550" y="3280023"/>
            <a:ext cx="592038" cy="4572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80000"/>
              </a:lnSpc>
              <a:defRPr i="0" sz="3600" b="0">
                <a:solidFill>
                  <a:srgbClr val="BFF4FF"/>
                </a:solidFill>
                <a:latin typeface="Albert Sans"/>
              </a:defRPr>
            </a:pPr>
            <a:r>
              <a:rPr i="0" sz="3600" b="0">
                <a:solidFill>
                  <a:srgbClr val="BFF4FF"/>
                </a:solidFill>
                <a:latin typeface="Albert Sans"/>
              </a:rPr>
              <a:t>06</a:t>
            </a:r>
          </a:p>
        </p:txBody>
      </p:sp>
      <p:sp>
        <p:nvSpPr>
          <p:cNvPr id="27" name="TextBox 26"/>
          <p:cNvSpPr txBox="1"/>
          <p:nvPr/>
        </p:nvSpPr>
        <p:spPr>
          <a:xfrm>
            <a:off x="457200" y="5218955"/>
            <a:ext cx="592038" cy="4572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80000"/>
              </a:lnSpc>
              <a:defRPr i="0" sz="3600" b="0">
                <a:solidFill>
                  <a:srgbClr val="BFF4FF"/>
                </a:solidFill>
                <a:latin typeface="Albert Sans"/>
              </a:defRPr>
            </a:pPr>
            <a:r>
              <a:rPr i="0" sz="3600" b="0">
                <a:solidFill>
                  <a:srgbClr val="BFF4FF"/>
                </a:solidFill>
                <a:latin typeface="Albert Sans"/>
              </a:rPr>
              <a:t>09</a:t>
            </a:r>
          </a:p>
        </p:txBody>
      </p:sp>
      <p:sp>
        <p:nvSpPr>
          <p:cNvPr id="28" name="TextBox 27"/>
          <p:cNvSpPr txBox="1"/>
          <p:nvPr/>
        </p:nvSpPr>
        <p:spPr>
          <a:xfrm>
            <a:off x="457200" y="2310556"/>
            <a:ext cx="584745" cy="4572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80000"/>
              </a:lnSpc>
              <a:defRPr i="0" sz="3600" b="0">
                <a:solidFill>
                  <a:srgbClr val="BFF4FF"/>
                </a:solidFill>
                <a:latin typeface="Albert Sans"/>
              </a:defRPr>
            </a:pPr>
            <a:r>
              <a:rPr i="0" sz="3600" b="0">
                <a:solidFill>
                  <a:srgbClr val="BFF4FF"/>
                </a:solidFill>
                <a:latin typeface="Albert Sans"/>
              </a:rPr>
              <a:t>03</a:t>
            </a:r>
          </a:p>
        </p:txBody>
      </p:sp>
      <p:sp>
        <p:nvSpPr>
          <p:cNvPr id="29" name="TextBox 28"/>
          <p:cNvSpPr txBox="1"/>
          <p:nvPr/>
        </p:nvSpPr>
        <p:spPr>
          <a:xfrm>
            <a:off x="6305550" y="1341090"/>
            <a:ext cx="583703" cy="4572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80000"/>
              </a:lnSpc>
              <a:defRPr i="0" sz="3600" b="0">
                <a:solidFill>
                  <a:srgbClr val="BFF4FF"/>
                </a:solidFill>
                <a:latin typeface="Albert Sans"/>
              </a:defRPr>
            </a:pPr>
            <a:r>
              <a:rPr i="0" sz="3600" b="0">
                <a:solidFill>
                  <a:srgbClr val="BFF4FF"/>
                </a:solidFill>
                <a:latin typeface="Albert Sans"/>
              </a:rPr>
              <a:t>02</a:t>
            </a:r>
          </a:p>
        </p:txBody>
      </p:sp>
      <p:sp>
        <p:nvSpPr>
          <p:cNvPr id="30" name="TextBox 29"/>
          <p:cNvSpPr txBox="1"/>
          <p:nvPr/>
        </p:nvSpPr>
        <p:spPr>
          <a:xfrm>
            <a:off x="457200" y="4249489"/>
            <a:ext cx="566439" cy="4572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80000"/>
              </a:lnSpc>
              <a:defRPr i="0" sz="3600" b="0">
                <a:solidFill>
                  <a:srgbClr val="BFF4FF"/>
                </a:solidFill>
                <a:latin typeface="Albert Sans"/>
              </a:defRPr>
            </a:pPr>
            <a:r>
              <a:rPr i="0" sz="3600" b="0">
                <a:solidFill>
                  <a:srgbClr val="BFF4FF"/>
                </a:solidFill>
                <a:latin typeface="Albert Sans"/>
              </a:rPr>
              <a:t>07</a:t>
            </a:r>
          </a:p>
        </p:txBody>
      </p:sp>
      <p:sp>
        <p:nvSpPr>
          <p:cNvPr id="31" name="TextBox 30"/>
          <p:cNvSpPr txBox="1"/>
          <p:nvPr/>
        </p:nvSpPr>
        <p:spPr>
          <a:xfrm>
            <a:off x="457200" y="1341090"/>
            <a:ext cx="459878" cy="4572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80000"/>
              </a:lnSpc>
              <a:defRPr i="0" sz="3600" b="0">
                <a:solidFill>
                  <a:srgbClr val="BFF4FF"/>
                </a:solidFill>
                <a:latin typeface="Albert Sans"/>
              </a:defRPr>
            </a:pPr>
            <a:r>
              <a:rPr i="0" sz="3600" b="0">
                <a:solidFill>
                  <a:srgbClr val="BFF4FF"/>
                </a:solidFill>
                <a:latin typeface="Albert Sans"/>
              </a:rPr>
              <a:t>01</a:t>
            </a:r>
          </a:p>
        </p:txBody>
      </p:sp>
      <p:sp>
        <p:nvSpPr>
          <p:cNvPr id="32" name="TextBox 31"/>
          <p:cNvSpPr txBox="1"/>
          <p:nvPr/>
        </p:nvSpPr>
        <p:spPr>
          <a:xfrm>
            <a:off x="6305550" y="5218955"/>
            <a:ext cx="459878" cy="4572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80000"/>
              </a:lnSpc>
              <a:defRPr i="0" sz="3600" b="0">
                <a:solidFill>
                  <a:srgbClr val="BFF4FF"/>
                </a:solidFill>
                <a:latin typeface="Albert Sans"/>
              </a:defRPr>
            </a:pPr>
            <a:r>
              <a:rPr i="0" sz="3600" b="0">
                <a:solidFill>
                  <a:srgbClr val="BFF4FF"/>
                </a:solidFill>
                <a:latin typeface="Albert Sans"/>
              </a:rPr>
              <a:t>10</a:t>
            </a:r>
          </a:p>
        </p:txBody>
      </p:sp>
      <p:sp>
        <p:nvSpPr>
          <p:cNvPr id="33" name="TextBox 32"/>
          <p:cNvSpPr txBox="1"/>
          <p:nvPr/>
        </p:nvSpPr>
        <p:spPr>
          <a:xfrm>
            <a:off x="457200" y="6353175"/>
            <a:ext cx="992237" cy="200025"/>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0000"/>
              </a:lnSpc>
              <a:defRPr i="0" sz="1050" b="0">
                <a:solidFill>
                  <a:srgbClr val="6B7280"/>
                </a:solidFill>
                <a:latin typeface="Albert Sans"/>
              </a:defRPr>
            </a:pPr>
            <a:r>
              <a:rPr i="0" sz="1050" b="0">
                <a:solidFill>
                  <a:srgbClr val="6B7280"/>
                </a:solidFill>
                <a:latin typeface="Albert Sans"/>
              </a:rPr>
              <a:t>www.devtalks.io</a:t>
            </a:r>
          </a:p>
        </p:txBody>
      </p:sp>
      <p:sp>
        <p:nvSpPr>
          <p:cNvPr id="34" name="Rectangle 33"/>
          <p:cNvSpPr/>
          <p:nvPr/>
        </p:nvSpPr>
        <p:spPr>
          <a:xfrm>
            <a:off x="1658987" y="6443662"/>
            <a:ext cx="10075812" cy="19050"/>
          </a:xfrm>
          <a:prstGeom prst="rect">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5" name="Rectangle 34"/>
          <p:cNvSpPr/>
          <p:nvPr/>
        </p:nvSpPr>
        <p:spPr>
          <a:xfrm rot="2700000">
            <a:off x="11595473" y="6223373"/>
            <a:ext cx="431052" cy="431052"/>
          </a:xfrm>
          <a:prstGeom prst="rect">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6" name="Rounded Rectangle 35"/>
          <p:cNvSpPr/>
          <p:nvPr/>
        </p:nvSpPr>
        <p:spPr>
          <a:xfrm>
            <a:off x="457200" y="2072431"/>
            <a:ext cx="5391150" cy="9525"/>
          </a:xfrm>
          <a:prstGeom prst="roundRect">
            <a:avLst>
              <a:gd name="adj" fmla="val 400000"/>
            </a:avLst>
          </a:prstGeom>
          <a:solidFill>
            <a:srgbClr val="E5E7EB"/>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7" name="Rounded Rectangle 36"/>
          <p:cNvSpPr/>
          <p:nvPr/>
        </p:nvSpPr>
        <p:spPr>
          <a:xfrm>
            <a:off x="6305550" y="2072431"/>
            <a:ext cx="5391150" cy="9525"/>
          </a:xfrm>
          <a:prstGeom prst="roundRect">
            <a:avLst>
              <a:gd name="adj" fmla="val 400000"/>
            </a:avLst>
          </a:prstGeom>
          <a:solidFill>
            <a:srgbClr val="E5E7EB"/>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8" name="Rounded Rectangle 37"/>
          <p:cNvSpPr/>
          <p:nvPr/>
        </p:nvSpPr>
        <p:spPr>
          <a:xfrm>
            <a:off x="457200" y="3041898"/>
            <a:ext cx="5391150" cy="9525"/>
          </a:xfrm>
          <a:prstGeom prst="roundRect">
            <a:avLst>
              <a:gd name="adj" fmla="val 400000"/>
            </a:avLst>
          </a:prstGeom>
          <a:solidFill>
            <a:srgbClr val="E5E7EB"/>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9" name="Rounded Rectangle 38"/>
          <p:cNvSpPr/>
          <p:nvPr/>
        </p:nvSpPr>
        <p:spPr>
          <a:xfrm>
            <a:off x="6305550" y="3041898"/>
            <a:ext cx="5391150" cy="9525"/>
          </a:xfrm>
          <a:prstGeom prst="roundRect">
            <a:avLst>
              <a:gd name="adj" fmla="val 400000"/>
            </a:avLst>
          </a:prstGeom>
          <a:solidFill>
            <a:srgbClr val="E5E7EB"/>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0" name="Rounded Rectangle 39"/>
          <p:cNvSpPr/>
          <p:nvPr/>
        </p:nvSpPr>
        <p:spPr>
          <a:xfrm>
            <a:off x="457200" y="4011364"/>
            <a:ext cx="5391150" cy="9525"/>
          </a:xfrm>
          <a:prstGeom prst="roundRect">
            <a:avLst>
              <a:gd name="adj" fmla="val 400000"/>
            </a:avLst>
          </a:prstGeom>
          <a:solidFill>
            <a:srgbClr val="E5E7EB"/>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1" name="Rounded Rectangle 40"/>
          <p:cNvSpPr/>
          <p:nvPr/>
        </p:nvSpPr>
        <p:spPr>
          <a:xfrm>
            <a:off x="6305550" y="4011364"/>
            <a:ext cx="5391150" cy="9525"/>
          </a:xfrm>
          <a:prstGeom prst="roundRect">
            <a:avLst>
              <a:gd name="adj" fmla="val 400000"/>
            </a:avLst>
          </a:prstGeom>
          <a:solidFill>
            <a:srgbClr val="E5E7EB"/>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2" name="Rounded Rectangle 41"/>
          <p:cNvSpPr/>
          <p:nvPr/>
        </p:nvSpPr>
        <p:spPr>
          <a:xfrm>
            <a:off x="457200" y="4980830"/>
            <a:ext cx="5391150" cy="9525"/>
          </a:xfrm>
          <a:prstGeom prst="roundRect">
            <a:avLst>
              <a:gd name="adj" fmla="val 400000"/>
            </a:avLst>
          </a:prstGeom>
          <a:solidFill>
            <a:srgbClr val="E5E7EB"/>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3" name="Rounded Rectangle 42"/>
          <p:cNvSpPr/>
          <p:nvPr/>
        </p:nvSpPr>
        <p:spPr>
          <a:xfrm>
            <a:off x="6305550" y="4980830"/>
            <a:ext cx="5391150" cy="9525"/>
          </a:xfrm>
          <a:prstGeom prst="roundRect">
            <a:avLst>
              <a:gd name="adj" fmla="val 400000"/>
            </a:avLst>
          </a:prstGeom>
          <a:solidFill>
            <a:srgbClr val="E5E7EB"/>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4" name="Rounded Rectangle 43"/>
          <p:cNvSpPr/>
          <p:nvPr/>
        </p:nvSpPr>
        <p:spPr>
          <a:xfrm>
            <a:off x="457200" y="5950297"/>
            <a:ext cx="5391150" cy="9525"/>
          </a:xfrm>
          <a:prstGeom prst="roundRect">
            <a:avLst>
              <a:gd name="adj" fmla="val 400000"/>
            </a:avLst>
          </a:prstGeom>
          <a:solidFill>
            <a:srgbClr val="E5E7EB"/>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5" name="Rounded Rectangle 44"/>
          <p:cNvSpPr/>
          <p:nvPr/>
        </p:nvSpPr>
        <p:spPr>
          <a:xfrm>
            <a:off x="6305550" y="5950297"/>
            <a:ext cx="5391150" cy="9525"/>
          </a:xfrm>
          <a:prstGeom prst="roundRect">
            <a:avLst>
              <a:gd name="adj" fmla="val 400000"/>
            </a:avLst>
          </a:prstGeom>
          <a:solidFill>
            <a:srgbClr val="E5E7EB"/>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6" name="Rounded Rectangle 45"/>
          <p:cNvSpPr/>
          <p:nvPr/>
        </p:nvSpPr>
        <p:spPr>
          <a:xfrm rot="2700000">
            <a:off x="433527" y="204928"/>
            <a:ext cx="161644" cy="161643"/>
          </a:xfrm>
          <a:prstGeom prst="roundRect">
            <a:avLst>
              <a:gd name="adj" fmla="val 23570"/>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57200" y="533400"/>
            <a:ext cx="11296650" cy="50289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88000"/>
              </a:lnSpc>
              <a:defRPr i="0" sz="3600" b="0">
                <a:solidFill>
                  <a:srgbClr val="111827"/>
                </a:solidFill>
                <a:latin typeface="Albert Sans"/>
              </a:defRPr>
            </a:pPr>
            <a:r>
              <a:rPr i="0" sz="3600" b="0">
                <a:solidFill>
                  <a:srgbClr val="111827"/>
                </a:solidFill>
                <a:latin typeface="Albert Sans"/>
              </a:rPr>
              <a:t>Table of Contents</a:t>
            </a:r>
          </a:p>
        </p:txBody>
      </p:sp>
      <p:sp>
        <p:nvSpPr>
          <p:cNvPr id="3" name="TextBox 2"/>
          <p:cNvSpPr txBox="1"/>
          <p:nvPr/>
        </p:nvSpPr>
        <p:spPr>
          <a:xfrm>
            <a:off x="1126628" y="1379190"/>
            <a:ext cx="4740771" cy="25137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96000"/>
              </a:lnSpc>
              <a:defRPr i="0" sz="1650" b="0">
                <a:solidFill>
                  <a:srgbClr val="111827"/>
                </a:solidFill>
                <a:latin typeface="Albert Sans"/>
              </a:defRPr>
            </a:pPr>
            <a:r>
              <a:rPr i="0" sz="1650" b="0">
                <a:solidFill>
                  <a:srgbClr val="111827"/>
                </a:solidFill>
                <a:latin typeface="Albert Sans"/>
              </a:rPr>
              <a:t>What is Persistence?</a:t>
            </a:r>
          </a:p>
        </p:txBody>
      </p:sp>
      <p:sp>
        <p:nvSpPr>
          <p:cNvPr id="4" name="TextBox 3"/>
          <p:cNvSpPr txBox="1"/>
          <p:nvPr/>
        </p:nvSpPr>
        <p:spPr>
          <a:xfrm>
            <a:off x="6974978" y="5257055"/>
            <a:ext cx="4740771" cy="25137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96000"/>
              </a:lnSpc>
              <a:defRPr i="0" sz="1650" b="0">
                <a:solidFill>
                  <a:srgbClr val="111827"/>
                </a:solidFill>
                <a:latin typeface="Albert Sans"/>
              </a:defRPr>
            </a:pPr>
            <a:r>
              <a:rPr i="0" sz="1650" b="0">
                <a:solidFill>
                  <a:srgbClr val="111827"/>
                </a:solidFill>
                <a:latin typeface="Albert Sans"/>
              </a:rPr>
              <a:t>Best Practices</a:t>
            </a:r>
          </a:p>
        </p:txBody>
      </p:sp>
      <p:sp>
        <p:nvSpPr>
          <p:cNvPr id="5" name="TextBox 4"/>
          <p:cNvSpPr txBox="1"/>
          <p:nvPr/>
        </p:nvSpPr>
        <p:spPr>
          <a:xfrm>
            <a:off x="1233189" y="4287589"/>
            <a:ext cx="4634210" cy="25137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96000"/>
              </a:lnSpc>
              <a:defRPr i="0" sz="1650" b="0">
                <a:solidFill>
                  <a:srgbClr val="111827"/>
                </a:solidFill>
                <a:latin typeface="Albert Sans"/>
              </a:defRPr>
            </a:pPr>
            <a:r>
              <a:rPr i="0" sz="1650" b="0">
                <a:solidFill>
                  <a:srgbClr val="111827"/>
                </a:solidFill>
                <a:latin typeface="Albert Sans"/>
              </a:rPr>
              <a:t>ACID Properties: The Avengers of Data</a:t>
            </a:r>
          </a:p>
        </p:txBody>
      </p:sp>
      <p:sp>
        <p:nvSpPr>
          <p:cNvPr id="6" name="TextBox 5"/>
          <p:cNvSpPr txBox="1"/>
          <p:nvPr/>
        </p:nvSpPr>
        <p:spPr>
          <a:xfrm>
            <a:off x="7098803" y="1379190"/>
            <a:ext cx="4616946" cy="25137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96000"/>
              </a:lnSpc>
              <a:defRPr i="0" sz="1650" b="0">
                <a:solidFill>
                  <a:srgbClr val="111827"/>
                </a:solidFill>
                <a:latin typeface="Albert Sans"/>
              </a:defRPr>
            </a:pPr>
            <a:r>
              <a:rPr i="0" sz="1650" b="0">
                <a:solidFill>
                  <a:srgbClr val="111827"/>
                </a:solidFill>
                <a:latin typeface="Albert Sans"/>
              </a:rPr>
              <a:t>Why Bother?</a:t>
            </a:r>
          </a:p>
        </p:txBody>
      </p:sp>
      <p:sp>
        <p:nvSpPr>
          <p:cNvPr id="7" name="TextBox 6"/>
          <p:cNvSpPr txBox="1"/>
          <p:nvPr/>
        </p:nvSpPr>
        <p:spPr>
          <a:xfrm>
            <a:off x="1251495" y="2348656"/>
            <a:ext cx="4615904" cy="25137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96000"/>
              </a:lnSpc>
              <a:defRPr i="0" sz="1650" b="0">
                <a:solidFill>
                  <a:srgbClr val="111827"/>
                </a:solidFill>
                <a:latin typeface="Albert Sans"/>
              </a:defRPr>
            </a:pPr>
            <a:r>
              <a:rPr i="0" sz="1650" b="0">
                <a:solidFill>
                  <a:srgbClr val="111827"/>
                </a:solidFill>
                <a:latin typeface="Albert Sans"/>
              </a:rPr>
              <a:t>Databases: The Overachievers</a:t>
            </a:r>
          </a:p>
        </p:txBody>
      </p:sp>
      <p:sp>
        <p:nvSpPr>
          <p:cNvPr id="8" name="TextBox 7"/>
          <p:cNvSpPr txBox="1"/>
          <p:nvPr/>
        </p:nvSpPr>
        <p:spPr>
          <a:xfrm>
            <a:off x="7107138" y="3318123"/>
            <a:ext cx="4608611" cy="25137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96000"/>
              </a:lnSpc>
              <a:defRPr i="0" sz="1650" b="0">
                <a:solidFill>
                  <a:srgbClr val="111827"/>
                </a:solidFill>
                <a:latin typeface="Albert Sans"/>
              </a:defRPr>
            </a:pPr>
            <a:r>
              <a:rPr i="0" sz="1650" b="0">
                <a:solidFill>
                  <a:srgbClr val="111827"/>
                </a:solidFill>
                <a:latin typeface="Albert Sans"/>
              </a:rPr>
              <a:t>ORM: Blessing or Curse?</a:t>
            </a:r>
          </a:p>
        </p:txBody>
      </p:sp>
      <p:sp>
        <p:nvSpPr>
          <p:cNvPr id="9" name="TextBox 8"/>
          <p:cNvSpPr txBox="1"/>
          <p:nvPr/>
        </p:nvSpPr>
        <p:spPr>
          <a:xfrm>
            <a:off x="1258788" y="5257055"/>
            <a:ext cx="4608611" cy="25137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96000"/>
              </a:lnSpc>
              <a:defRPr i="0" sz="1650" b="0">
                <a:solidFill>
                  <a:srgbClr val="111827"/>
                </a:solidFill>
                <a:latin typeface="Albert Sans"/>
              </a:defRPr>
            </a:pPr>
            <a:r>
              <a:rPr i="0" sz="1650" b="0">
                <a:solidFill>
                  <a:srgbClr val="111827"/>
                </a:solidFill>
                <a:latin typeface="Albert Sans"/>
              </a:rPr>
              <a:t>Common Mistakes</a:t>
            </a:r>
          </a:p>
        </p:txBody>
      </p:sp>
      <p:sp>
        <p:nvSpPr>
          <p:cNvPr id="10" name="TextBox 9"/>
          <p:cNvSpPr txBox="1"/>
          <p:nvPr/>
        </p:nvSpPr>
        <p:spPr>
          <a:xfrm>
            <a:off x="1262806" y="3318123"/>
            <a:ext cx="4604593" cy="25137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96000"/>
              </a:lnSpc>
              <a:defRPr i="0" sz="1650" b="0">
                <a:solidFill>
                  <a:srgbClr val="111827"/>
                </a:solidFill>
                <a:latin typeface="Albert Sans"/>
              </a:defRPr>
            </a:pPr>
            <a:r>
              <a:rPr i="0" sz="1650" b="0">
                <a:solidFill>
                  <a:srgbClr val="111827"/>
                </a:solidFill>
                <a:latin typeface="Albert Sans"/>
              </a:rPr>
              <a:t>Caching: The Memory Superheroes</a:t>
            </a:r>
          </a:p>
        </p:txBody>
      </p:sp>
      <p:sp>
        <p:nvSpPr>
          <p:cNvPr id="11" name="TextBox 10"/>
          <p:cNvSpPr txBox="1"/>
          <p:nvPr/>
        </p:nvSpPr>
        <p:spPr>
          <a:xfrm>
            <a:off x="7113091" y="4287589"/>
            <a:ext cx="4602658" cy="25137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96000"/>
              </a:lnSpc>
              <a:defRPr i="0" sz="1650" b="0">
                <a:solidFill>
                  <a:srgbClr val="111827"/>
                </a:solidFill>
                <a:latin typeface="Albert Sans"/>
              </a:defRPr>
            </a:pPr>
            <a:r>
              <a:rPr i="0" sz="1650" b="0">
                <a:solidFill>
                  <a:srgbClr val="111827"/>
                </a:solidFill>
                <a:latin typeface="Albert Sans"/>
              </a:rPr>
              <a:t>NoSQL: The Rebels</a:t>
            </a:r>
          </a:p>
        </p:txBody>
      </p:sp>
      <p:sp>
        <p:nvSpPr>
          <p:cNvPr id="12" name="TextBox 11"/>
          <p:cNvSpPr txBox="1"/>
          <p:nvPr/>
        </p:nvSpPr>
        <p:spPr>
          <a:xfrm>
            <a:off x="7126337" y="2348656"/>
            <a:ext cx="4589412" cy="25137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96000"/>
              </a:lnSpc>
              <a:defRPr i="0" sz="1650" b="0">
                <a:solidFill>
                  <a:srgbClr val="111827"/>
                </a:solidFill>
                <a:latin typeface="Albert Sans"/>
              </a:defRPr>
            </a:pPr>
            <a:r>
              <a:rPr i="0" sz="1650" b="0">
                <a:solidFill>
                  <a:srgbClr val="111827"/>
                </a:solidFill>
                <a:latin typeface="Albert Sans"/>
              </a:rPr>
              <a:t>File Systems: The Old School Cool</a:t>
            </a:r>
          </a:p>
        </p:txBody>
      </p:sp>
      <p:sp>
        <p:nvSpPr>
          <p:cNvPr id="13" name="TextBox 12"/>
          <p:cNvSpPr txBox="1"/>
          <p:nvPr/>
        </p:nvSpPr>
        <p:spPr>
          <a:xfrm>
            <a:off x="1126628" y="1706760"/>
            <a:ext cx="4740771" cy="21327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8000"/>
              </a:lnSpc>
              <a:defRPr i="0" sz="1050" b="0">
                <a:solidFill>
                  <a:srgbClr val="6B7280"/>
                </a:solidFill>
                <a:latin typeface="Albert Sans"/>
              </a:defRPr>
            </a:pPr>
            <a:r>
              <a:rPr i="0" sz="1050" b="0">
                <a:solidFill>
                  <a:srgbClr val="6B7280"/>
                </a:solidFill>
                <a:latin typeface="Albert Sans"/>
              </a:rPr>
              <a:t>Understanding why your data refuses to disappear</a:t>
            </a:r>
          </a:p>
        </p:txBody>
      </p:sp>
      <p:sp>
        <p:nvSpPr>
          <p:cNvPr id="14" name="TextBox 13"/>
          <p:cNvSpPr txBox="1"/>
          <p:nvPr/>
        </p:nvSpPr>
        <p:spPr>
          <a:xfrm>
            <a:off x="6974978" y="5584626"/>
            <a:ext cx="4740771" cy="21327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8000"/>
              </a:lnSpc>
              <a:defRPr i="0" sz="1050" b="0">
                <a:solidFill>
                  <a:srgbClr val="6B7280"/>
                </a:solidFill>
                <a:latin typeface="Albert Sans"/>
              </a:defRPr>
            </a:pPr>
            <a:r>
              <a:rPr i="0" sz="1050" b="0">
                <a:solidFill>
                  <a:srgbClr val="6B7280"/>
                </a:solidFill>
                <a:latin typeface="Albert Sans"/>
              </a:rPr>
              <a:t>The 'don't try this at home' warnings that work anyway</a:t>
            </a:r>
          </a:p>
        </p:txBody>
      </p:sp>
      <p:sp>
        <p:nvSpPr>
          <p:cNvPr id="15" name="TextBox 14"/>
          <p:cNvSpPr txBox="1"/>
          <p:nvPr/>
        </p:nvSpPr>
        <p:spPr>
          <a:xfrm>
            <a:off x="1233189" y="4615160"/>
            <a:ext cx="4634210" cy="21327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8000"/>
              </a:lnSpc>
              <a:defRPr i="0" sz="1050" b="0">
                <a:solidFill>
                  <a:srgbClr val="6B7280"/>
                </a:solidFill>
                <a:latin typeface="Albert Sans"/>
              </a:defRPr>
            </a:pPr>
            <a:r>
              <a:rPr i="0" sz="1050" b="0">
                <a:solidFill>
                  <a:srgbClr val="6B7280"/>
                </a:solidFill>
                <a:latin typeface="Albert Sans"/>
              </a:rPr>
              <a:t>The unsung heroes keeping your transactions intact</a:t>
            </a:r>
          </a:p>
        </p:txBody>
      </p:sp>
      <p:sp>
        <p:nvSpPr>
          <p:cNvPr id="16" name="TextBox 15"/>
          <p:cNvSpPr txBox="1"/>
          <p:nvPr/>
        </p:nvSpPr>
        <p:spPr>
          <a:xfrm>
            <a:off x="7098803" y="1706760"/>
            <a:ext cx="4616946" cy="21327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8000"/>
              </a:lnSpc>
              <a:defRPr i="0" sz="1050" b="0">
                <a:solidFill>
                  <a:srgbClr val="6B7280"/>
                </a:solidFill>
                <a:latin typeface="Albert Sans"/>
              </a:defRPr>
            </a:pPr>
            <a:r>
              <a:rPr i="0" sz="1050" b="0">
                <a:solidFill>
                  <a:srgbClr val="6B7280"/>
                </a:solidFill>
                <a:latin typeface="Albert Sans"/>
              </a:rPr>
              <a:t>Surviving the existential crisis of losing data</a:t>
            </a:r>
          </a:p>
        </p:txBody>
      </p:sp>
      <p:sp>
        <p:nvSpPr>
          <p:cNvPr id="17" name="TextBox 16"/>
          <p:cNvSpPr txBox="1"/>
          <p:nvPr/>
        </p:nvSpPr>
        <p:spPr>
          <a:xfrm>
            <a:off x="1251495" y="2676227"/>
            <a:ext cx="4615904" cy="21327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8000"/>
              </a:lnSpc>
              <a:defRPr i="0" sz="1050" b="0">
                <a:solidFill>
                  <a:srgbClr val="6B7280"/>
                </a:solidFill>
                <a:latin typeface="Albert Sans"/>
              </a:defRPr>
            </a:pPr>
            <a:r>
              <a:rPr i="0" sz="1050" b="0">
                <a:solidFill>
                  <a:srgbClr val="6B7280"/>
                </a:solidFill>
                <a:latin typeface="Albert Sans"/>
              </a:rPr>
              <a:t>When spreadsheets just won't cut it anymore</a:t>
            </a:r>
          </a:p>
        </p:txBody>
      </p:sp>
      <p:sp>
        <p:nvSpPr>
          <p:cNvPr id="18" name="TextBox 17"/>
          <p:cNvSpPr txBox="1"/>
          <p:nvPr/>
        </p:nvSpPr>
        <p:spPr>
          <a:xfrm>
            <a:off x="7107138" y="3645693"/>
            <a:ext cx="4608611" cy="21327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8000"/>
              </a:lnSpc>
              <a:defRPr i="0" sz="1050" b="0">
                <a:solidFill>
                  <a:srgbClr val="6B7280"/>
                </a:solidFill>
                <a:latin typeface="Albert Sans"/>
              </a:defRPr>
            </a:pPr>
            <a:r>
              <a:rPr i="0" sz="1050" b="0">
                <a:solidFill>
                  <a:srgbClr val="6B7280"/>
                </a:solidFill>
                <a:latin typeface="Albert Sans"/>
              </a:rPr>
              <a:t>A translator that's sometimes fluent, sometimes not</a:t>
            </a:r>
          </a:p>
        </p:txBody>
      </p:sp>
      <p:sp>
        <p:nvSpPr>
          <p:cNvPr id="19" name="TextBox 18"/>
          <p:cNvSpPr txBox="1"/>
          <p:nvPr/>
        </p:nvSpPr>
        <p:spPr>
          <a:xfrm>
            <a:off x="1258788" y="5584626"/>
            <a:ext cx="4608611" cy="21327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8000"/>
              </a:lnSpc>
              <a:defRPr i="0" sz="1050" b="0">
                <a:solidFill>
                  <a:srgbClr val="6B7280"/>
                </a:solidFill>
                <a:latin typeface="Albert Sans"/>
              </a:defRPr>
            </a:pPr>
            <a:r>
              <a:rPr i="0" sz="1050" b="0">
                <a:solidFill>
                  <a:srgbClr val="6B7280"/>
                </a:solidFill>
                <a:latin typeface="Albert Sans"/>
              </a:rPr>
              <a:t>The hilarious fails we all pretend we haven't made</a:t>
            </a:r>
          </a:p>
        </p:txBody>
      </p:sp>
      <p:sp>
        <p:nvSpPr>
          <p:cNvPr id="20" name="TextBox 19"/>
          <p:cNvSpPr txBox="1"/>
          <p:nvPr/>
        </p:nvSpPr>
        <p:spPr>
          <a:xfrm>
            <a:off x="1262806" y="3645693"/>
            <a:ext cx="4604593" cy="21327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8000"/>
              </a:lnSpc>
              <a:defRPr i="0" sz="1050" b="0">
                <a:solidFill>
                  <a:srgbClr val="6B7280"/>
                </a:solidFill>
                <a:latin typeface="Albert Sans"/>
              </a:defRPr>
            </a:pPr>
            <a:r>
              <a:rPr i="0" sz="1050" b="0">
                <a:solidFill>
                  <a:srgbClr val="6B7280"/>
                </a:solidFill>
                <a:latin typeface="Albert Sans"/>
              </a:rPr>
              <a:t>Speed demons saving your app from itself</a:t>
            </a:r>
          </a:p>
        </p:txBody>
      </p:sp>
      <p:sp>
        <p:nvSpPr>
          <p:cNvPr id="21" name="TextBox 20"/>
          <p:cNvSpPr txBox="1"/>
          <p:nvPr/>
        </p:nvSpPr>
        <p:spPr>
          <a:xfrm>
            <a:off x="7113091" y="4615160"/>
            <a:ext cx="4602658" cy="21327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8000"/>
              </a:lnSpc>
              <a:defRPr i="0" sz="1050" b="0">
                <a:solidFill>
                  <a:srgbClr val="6B7280"/>
                </a:solidFill>
                <a:latin typeface="Albert Sans"/>
              </a:defRPr>
            </a:pPr>
            <a:r>
              <a:rPr i="0" sz="1050" b="0">
                <a:solidFill>
                  <a:srgbClr val="6B7280"/>
                </a:solidFill>
                <a:latin typeface="Albert Sans"/>
              </a:rPr>
              <a:t>Breaking rules and building scale like it's 2010</a:t>
            </a:r>
          </a:p>
        </p:txBody>
      </p:sp>
      <p:sp>
        <p:nvSpPr>
          <p:cNvPr id="22" name="TextBox 21"/>
          <p:cNvSpPr txBox="1"/>
          <p:nvPr/>
        </p:nvSpPr>
        <p:spPr>
          <a:xfrm>
            <a:off x="7126337" y="2676227"/>
            <a:ext cx="4589412" cy="21327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8000"/>
              </a:lnSpc>
              <a:defRPr i="0" sz="1050" b="0">
                <a:solidFill>
                  <a:srgbClr val="6B7280"/>
                </a:solidFill>
                <a:latin typeface="Albert Sans"/>
              </a:defRPr>
            </a:pPr>
            <a:r>
              <a:rPr i="0" sz="1050" b="0">
                <a:solidFill>
                  <a:srgbClr val="6B7280"/>
                </a:solidFill>
                <a:latin typeface="Albert Sans"/>
              </a:rPr>
              <a:t>Boring? Maybe. Reliable? Absolutely.</a:t>
            </a:r>
          </a:p>
        </p:txBody>
      </p:sp>
      <p:sp>
        <p:nvSpPr>
          <p:cNvPr id="23" name="TextBox 22"/>
          <p:cNvSpPr txBox="1"/>
          <p:nvPr/>
        </p:nvSpPr>
        <p:spPr>
          <a:xfrm>
            <a:off x="457200" y="6353175"/>
            <a:ext cx="1476226" cy="200025"/>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0000"/>
              </a:lnSpc>
              <a:defRPr i="0" sz="1050" b="0">
                <a:solidFill>
                  <a:srgbClr val="6B7280"/>
                </a:solidFill>
                <a:latin typeface="Albert Sans"/>
              </a:defRPr>
            </a:pPr>
            <a:r>
              <a:rPr i="0" sz="1050" b="0">
                <a:solidFill>
                  <a:srgbClr val="6B7280"/>
                </a:solidFill>
                <a:latin typeface="Albert Sans"/>
              </a:rPr>
              <a:t>www.persistence101.dev</a:t>
            </a:r>
          </a:p>
        </p:txBody>
      </p:sp>
      <p:sp>
        <p:nvSpPr>
          <p:cNvPr id="24" name="TextBox 23"/>
          <p:cNvSpPr txBox="1"/>
          <p:nvPr/>
        </p:nvSpPr>
        <p:spPr>
          <a:xfrm>
            <a:off x="6305550" y="2310556"/>
            <a:ext cx="611237" cy="4572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80000"/>
              </a:lnSpc>
              <a:defRPr i="0" sz="3600" b="0">
                <a:solidFill>
                  <a:srgbClr val="BFF4FF"/>
                </a:solidFill>
                <a:latin typeface="Albert Sans"/>
              </a:defRPr>
            </a:pPr>
            <a:r>
              <a:rPr i="0" sz="3600" b="0">
                <a:solidFill>
                  <a:srgbClr val="BFF4FF"/>
                </a:solidFill>
                <a:latin typeface="Albert Sans"/>
              </a:rPr>
              <a:t>04</a:t>
            </a:r>
          </a:p>
        </p:txBody>
      </p:sp>
      <p:sp>
        <p:nvSpPr>
          <p:cNvPr id="25" name="TextBox 24"/>
          <p:cNvSpPr txBox="1"/>
          <p:nvPr/>
        </p:nvSpPr>
        <p:spPr>
          <a:xfrm>
            <a:off x="6305550" y="4249489"/>
            <a:ext cx="597991" cy="4572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80000"/>
              </a:lnSpc>
              <a:defRPr i="0" sz="3600" b="0">
                <a:solidFill>
                  <a:srgbClr val="BFF4FF"/>
                </a:solidFill>
                <a:latin typeface="Albert Sans"/>
              </a:defRPr>
            </a:pPr>
            <a:r>
              <a:rPr i="0" sz="3600" b="0">
                <a:solidFill>
                  <a:srgbClr val="BFF4FF"/>
                </a:solidFill>
                <a:latin typeface="Albert Sans"/>
              </a:rPr>
              <a:t>08</a:t>
            </a:r>
          </a:p>
        </p:txBody>
      </p:sp>
      <p:sp>
        <p:nvSpPr>
          <p:cNvPr id="26" name="TextBox 25"/>
          <p:cNvSpPr txBox="1"/>
          <p:nvPr/>
        </p:nvSpPr>
        <p:spPr>
          <a:xfrm>
            <a:off x="457200" y="3280023"/>
            <a:ext cx="596056" cy="4572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80000"/>
              </a:lnSpc>
              <a:defRPr i="0" sz="3600" b="0">
                <a:solidFill>
                  <a:srgbClr val="BFF4FF"/>
                </a:solidFill>
                <a:latin typeface="Albert Sans"/>
              </a:defRPr>
            </a:pPr>
            <a:r>
              <a:rPr i="0" sz="3600" b="0">
                <a:solidFill>
                  <a:srgbClr val="BFF4FF"/>
                </a:solidFill>
                <a:latin typeface="Albert Sans"/>
              </a:rPr>
              <a:t>05</a:t>
            </a:r>
          </a:p>
        </p:txBody>
      </p:sp>
      <p:sp>
        <p:nvSpPr>
          <p:cNvPr id="27" name="TextBox 26"/>
          <p:cNvSpPr txBox="1"/>
          <p:nvPr/>
        </p:nvSpPr>
        <p:spPr>
          <a:xfrm>
            <a:off x="6305550" y="3280023"/>
            <a:ext cx="592038" cy="4572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80000"/>
              </a:lnSpc>
              <a:defRPr i="0" sz="3600" b="0">
                <a:solidFill>
                  <a:srgbClr val="BFF4FF"/>
                </a:solidFill>
                <a:latin typeface="Albert Sans"/>
              </a:defRPr>
            </a:pPr>
            <a:r>
              <a:rPr i="0" sz="3600" b="0">
                <a:solidFill>
                  <a:srgbClr val="BFF4FF"/>
                </a:solidFill>
                <a:latin typeface="Albert Sans"/>
              </a:rPr>
              <a:t>06</a:t>
            </a:r>
          </a:p>
        </p:txBody>
      </p:sp>
      <p:sp>
        <p:nvSpPr>
          <p:cNvPr id="28" name="TextBox 27"/>
          <p:cNvSpPr txBox="1"/>
          <p:nvPr/>
        </p:nvSpPr>
        <p:spPr>
          <a:xfrm>
            <a:off x="457200" y="5218955"/>
            <a:ext cx="592038" cy="4572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80000"/>
              </a:lnSpc>
              <a:defRPr i="0" sz="3600" b="0">
                <a:solidFill>
                  <a:srgbClr val="BFF4FF"/>
                </a:solidFill>
                <a:latin typeface="Albert Sans"/>
              </a:defRPr>
            </a:pPr>
            <a:r>
              <a:rPr i="0" sz="3600" b="0">
                <a:solidFill>
                  <a:srgbClr val="BFF4FF"/>
                </a:solidFill>
                <a:latin typeface="Albert Sans"/>
              </a:rPr>
              <a:t>09</a:t>
            </a:r>
          </a:p>
        </p:txBody>
      </p:sp>
      <p:sp>
        <p:nvSpPr>
          <p:cNvPr id="29" name="TextBox 28"/>
          <p:cNvSpPr txBox="1"/>
          <p:nvPr/>
        </p:nvSpPr>
        <p:spPr>
          <a:xfrm>
            <a:off x="457200" y="2310556"/>
            <a:ext cx="584745" cy="4572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80000"/>
              </a:lnSpc>
              <a:defRPr i="0" sz="3600" b="0">
                <a:solidFill>
                  <a:srgbClr val="BFF4FF"/>
                </a:solidFill>
                <a:latin typeface="Albert Sans"/>
              </a:defRPr>
            </a:pPr>
            <a:r>
              <a:rPr i="0" sz="3600" b="0">
                <a:solidFill>
                  <a:srgbClr val="BFF4FF"/>
                </a:solidFill>
                <a:latin typeface="Albert Sans"/>
              </a:rPr>
              <a:t>03</a:t>
            </a:r>
          </a:p>
        </p:txBody>
      </p:sp>
      <p:sp>
        <p:nvSpPr>
          <p:cNvPr id="30" name="TextBox 29"/>
          <p:cNvSpPr txBox="1"/>
          <p:nvPr/>
        </p:nvSpPr>
        <p:spPr>
          <a:xfrm>
            <a:off x="6305550" y="1341090"/>
            <a:ext cx="583703" cy="4572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80000"/>
              </a:lnSpc>
              <a:defRPr i="0" sz="3600" b="0">
                <a:solidFill>
                  <a:srgbClr val="BFF4FF"/>
                </a:solidFill>
                <a:latin typeface="Albert Sans"/>
              </a:defRPr>
            </a:pPr>
            <a:r>
              <a:rPr i="0" sz="3600" b="0">
                <a:solidFill>
                  <a:srgbClr val="BFF4FF"/>
                </a:solidFill>
                <a:latin typeface="Albert Sans"/>
              </a:rPr>
              <a:t>02</a:t>
            </a:r>
          </a:p>
        </p:txBody>
      </p:sp>
      <p:sp>
        <p:nvSpPr>
          <p:cNvPr id="31" name="TextBox 30"/>
          <p:cNvSpPr txBox="1"/>
          <p:nvPr/>
        </p:nvSpPr>
        <p:spPr>
          <a:xfrm>
            <a:off x="457200" y="4249489"/>
            <a:ext cx="566439" cy="4572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80000"/>
              </a:lnSpc>
              <a:defRPr i="0" sz="3600" b="0">
                <a:solidFill>
                  <a:srgbClr val="BFF4FF"/>
                </a:solidFill>
                <a:latin typeface="Albert Sans"/>
              </a:defRPr>
            </a:pPr>
            <a:r>
              <a:rPr i="0" sz="3600" b="0">
                <a:solidFill>
                  <a:srgbClr val="BFF4FF"/>
                </a:solidFill>
                <a:latin typeface="Albert Sans"/>
              </a:rPr>
              <a:t>07</a:t>
            </a:r>
          </a:p>
        </p:txBody>
      </p:sp>
      <p:sp>
        <p:nvSpPr>
          <p:cNvPr id="32" name="TextBox 31"/>
          <p:cNvSpPr txBox="1"/>
          <p:nvPr/>
        </p:nvSpPr>
        <p:spPr>
          <a:xfrm>
            <a:off x="457200" y="1341090"/>
            <a:ext cx="459878" cy="4572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80000"/>
              </a:lnSpc>
              <a:defRPr i="0" sz="3600" b="0">
                <a:solidFill>
                  <a:srgbClr val="BFF4FF"/>
                </a:solidFill>
                <a:latin typeface="Albert Sans"/>
              </a:defRPr>
            </a:pPr>
            <a:r>
              <a:rPr i="0" sz="3600" b="0">
                <a:solidFill>
                  <a:srgbClr val="BFF4FF"/>
                </a:solidFill>
                <a:latin typeface="Albert Sans"/>
              </a:rPr>
              <a:t>01</a:t>
            </a:r>
          </a:p>
        </p:txBody>
      </p:sp>
      <p:sp>
        <p:nvSpPr>
          <p:cNvPr id="33" name="TextBox 32"/>
          <p:cNvSpPr txBox="1"/>
          <p:nvPr/>
        </p:nvSpPr>
        <p:spPr>
          <a:xfrm>
            <a:off x="6305550" y="5218955"/>
            <a:ext cx="459878" cy="4572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80000"/>
              </a:lnSpc>
              <a:defRPr i="0" sz="3600" b="0">
                <a:solidFill>
                  <a:srgbClr val="BFF4FF"/>
                </a:solidFill>
                <a:latin typeface="Albert Sans"/>
              </a:defRPr>
            </a:pPr>
            <a:r>
              <a:rPr i="0" sz="3600" b="0">
                <a:solidFill>
                  <a:srgbClr val="BFF4FF"/>
                </a:solidFill>
                <a:latin typeface="Albert Sans"/>
              </a:rPr>
              <a:t>10</a:t>
            </a:r>
          </a:p>
        </p:txBody>
      </p:sp>
      <p:sp>
        <p:nvSpPr>
          <p:cNvPr id="34" name="Rectangle 33"/>
          <p:cNvSpPr/>
          <p:nvPr/>
        </p:nvSpPr>
        <p:spPr>
          <a:xfrm rot="2700000">
            <a:off x="11595473" y="6223373"/>
            <a:ext cx="431052" cy="431052"/>
          </a:xfrm>
          <a:prstGeom prst="rect">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5" name="Rectangle 34"/>
          <p:cNvSpPr/>
          <p:nvPr/>
        </p:nvSpPr>
        <p:spPr>
          <a:xfrm>
            <a:off x="2142976" y="6443662"/>
            <a:ext cx="9591823" cy="19050"/>
          </a:xfrm>
          <a:prstGeom prst="rect">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6" name="Rounded Rectangle 35"/>
          <p:cNvSpPr/>
          <p:nvPr/>
        </p:nvSpPr>
        <p:spPr>
          <a:xfrm>
            <a:off x="457200" y="2072431"/>
            <a:ext cx="5391150" cy="9525"/>
          </a:xfrm>
          <a:prstGeom prst="roundRect">
            <a:avLst>
              <a:gd name="adj" fmla="val 400000"/>
            </a:avLst>
          </a:prstGeom>
          <a:solidFill>
            <a:srgbClr val="E5E7EB"/>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7" name="Rounded Rectangle 36"/>
          <p:cNvSpPr/>
          <p:nvPr/>
        </p:nvSpPr>
        <p:spPr>
          <a:xfrm>
            <a:off x="6305550" y="2072431"/>
            <a:ext cx="5391150" cy="9525"/>
          </a:xfrm>
          <a:prstGeom prst="roundRect">
            <a:avLst>
              <a:gd name="adj" fmla="val 400000"/>
            </a:avLst>
          </a:prstGeom>
          <a:solidFill>
            <a:srgbClr val="E5E7EB"/>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8" name="Rounded Rectangle 37"/>
          <p:cNvSpPr/>
          <p:nvPr/>
        </p:nvSpPr>
        <p:spPr>
          <a:xfrm>
            <a:off x="457200" y="3041898"/>
            <a:ext cx="5391150" cy="9525"/>
          </a:xfrm>
          <a:prstGeom prst="roundRect">
            <a:avLst>
              <a:gd name="adj" fmla="val 400000"/>
            </a:avLst>
          </a:prstGeom>
          <a:solidFill>
            <a:srgbClr val="E5E7EB"/>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9" name="Rounded Rectangle 38"/>
          <p:cNvSpPr/>
          <p:nvPr/>
        </p:nvSpPr>
        <p:spPr>
          <a:xfrm>
            <a:off x="6305550" y="3041898"/>
            <a:ext cx="5391150" cy="9525"/>
          </a:xfrm>
          <a:prstGeom prst="roundRect">
            <a:avLst>
              <a:gd name="adj" fmla="val 400000"/>
            </a:avLst>
          </a:prstGeom>
          <a:solidFill>
            <a:srgbClr val="E5E7EB"/>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0" name="Rounded Rectangle 39"/>
          <p:cNvSpPr/>
          <p:nvPr/>
        </p:nvSpPr>
        <p:spPr>
          <a:xfrm>
            <a:off x="457200" y="4011364"/>
            <a:ext cx="5391150" cy="9525"/>
          </a:xfrm>
          <a:prstGeom prst="roundRect">
            <a:avLst>
              <a:gd name="adj" fmla="val 400000"/>
            </a:avLst>
          </a:prstGeom>
          <a:solidFill>
            <a:srgbClr val="E5E7EB"/>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1" name="Rounded Rectangle 40"/>
          <p:cNvSpPr/>
          <p:nvPr/>
        </p:nvSpPr>
        <p:spPr>
          <a:xfrm>
            <a:off x="6305550" y="4011364"/>
            <a:ext cx="5391150" cy="9525"/>
          </a:xfrm>
          <a:prstGeom prst="roundRect">
            <a:avLst>
              <a:gd name="adj" fmla="val 400000"/>
            </a:avLst>
          </a:prstGeom>
          <a:solidFill>
            <a:srgbClr val="E5E7EB"/>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2" name="Rounded Rectangle 41"/>
          <p:cNvSpPr/>
          <p:nvPr/>
        </p:nvSpPr>
        <p:spPr>
          <a:xfrm>
            <a:off x="457200" y="4980830"/>
            <a:ext cx="5391150" cy="9525"/>
          </a:xfrm>
          <a:prstGeom prst="roundRect">
            <a:avLst>
              <a:gd name="adj" fmla="val 400000"/>
            </a:avLst>
          </a:prstGeom>
          <a:solidFill>
            <a:srgbClr val="E5E7EB"/>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3" name="Rounded Rectangle 42"/>
          <p:cNvSpPr/>
          <p:nvPr/>
        </p:nvSpPr>
        <p:spPr>
          <a:xfrm>
            <a:off x="6305550" y="4980830"/>
            <a:ext cx="5391150" cy="9525"/>
          </a:xfrm>
          <a:prstGeom prst="roundRect">
            <a:avLst>
              <a:gd name="adj" fmla="val 400000"/>
            </a:avLst>
          </a:prstGeom>
          <a:solidFill>
            <a:srgbClr val="E5E7EB"/>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4" name="Rounded Rectangle 43"/>
          <p:cNvSpPr/>
          <p:nvPr/>
        </p:nvSpPr>
        <p:spPr>
          <a:xfrm>
            <a:off x="457200" y="5950297"/>
            <a:ext cx="5391150" cy="9525"/>
          </a:xfrm>
          <a:prstGeom prst="roundRect">
            <a:avLst>
              <a:gd name="adj" fmla="val 400000"/>
            </a:avLst>
          </a:prstGeom>
          <a:solidFill>
            <a:srgbClr val="E5E7EB"/>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5" name="Rounded Rectangle 44"/>
          <p:cNvSpPr/>
          <p:nvPr/>
        </p:nvSpPr>
        <p:spPr>
          <a:xfrm>
            <a:off x="6305550" y="5950297"/>
            <a:ext cx="5391150" cy="9525"/>
          </a:xfrm>
          <a:prstGeom prst="roundRect">
            <a:avLst>
              <a:gd name="adj" fmla="val 400000"/>
            </a:avLst>
          </a:prstGeom>
          <a:solidFill>
            <a:srgbClr val="E5E7EB"/>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6" name="Rounded Rectangle 45"/>
          <p:cNvSpPr/>
          <p:nvPr/>
        </p:nvSpPr>
        <p:spPr>
          <a:xfrm rot="2700000">
            <a:off x="433527" y="204927"/>
            <a:ext cx="161644" cy="161645"/>
          </a:xfrm>
          <a:prstGeom prst="roundRect">
            <a:avLst>
              <a:gd name="adj" fmla="val 23570"/>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4572000"/>
            <a:ext cx="12192000" cy="1524000"/>
          </a:xfrm>
          <a:prstGeom prst="rect">
            <a:avLst/>
          </a:prstGeom>
          <a:solidFill>
            <a:srgbClr val="BFF4FF"/>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 name="Rounded Rectangle 2"/>
          <p:cNvSpPr/>
          <p:nvPr/>
        </p:nvSpPr>
        <p:spPr>
          <a:xfrm>
            <a:off x="2152650" y="1683990"/>
            <a:ext cx="2476500" cy="2419201"/>
          </a:xfrm>
          <a:prstGeom prst="roundRect">
            <a:avLst>
              <a:gd name="adj" fmla="val 8661"/>
            </a:avLst>
          </a:prstGeom>
          <a:solidFill>
            <a:srgbClr val="BFF4FF"/>
          </a:solidFill>
          <a:ln>
            <a:noFill/>
          </a:ln>
          <a:effectLst>
            <a:outerShdw blurRad="381000" dir="5400000" dist="152400" rotWithShape="0">
              <a:srgbClr val="000000">
                <a:alpha val="784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 name="Rounded Rectangle 3"/>
          <p:cNvSpPr/>
          <p:nvPr/>
        </p:nvSpPr>
        <p:spPr>
          <a:xfrm>
            <a:off x="4857750" y="1683990"/>
            <a:ext cx="2476500" cy="2419201"/>
          </a:xfrm>
          <a:prstGeom prst="roundRect">
            <a:avLst>
              <a:gd name="adj" fmla="val 8661"/>
            </a:avLst>
          </a:prstGeom>
          <a:solidFill>
            <a:srgbClr val="BFF4FF"/>
          </a:solidFill>
          <a:ln>
            <a:noFill/>
          </a:ln>
          <a:effectLst>
            <a:outerShdw blurRad="381000" dir="5400000" dist="152400" rotWithShape="0">
              <a:srgbClr val="000000">
                <a:alpha val="784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5" name="Rounded Rectangle 4"/>
          <p:cNvSpPr/>
          <p:nvPr/>
        </p:nvSpPr>
        <p:spPr>
          <a:xfrm>
            <a:off x="7562850" y="1683990"/>
            <a:ext cx="2476500" cy="2419201"/>
          </a:xfrm>
          <a:prstGeom prst="roundRect">
            <a:avLst>
              <a:gd name="adj" fmla="val 8661"/>
            </a:avLst>
          </a:prstGeom>
          <a:solidFill>
            <a:srgbClr val="BFF4FF"/>
          </a:solidFill>
          <a:ln>
            <a:noFill/>
          </a:ln>
          <a:effectLst>
            <a:outerShdw blurRad="381000" dir="5400000" dist="152400" rotWithShape="0">
              <a:srgbClr val="000000">
                <a:alpha val="784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 name="TextBox 5"/>
          <p:cNvSpPr txBox="1"/>
          <p:nvPr/>
        </p:nvSpPr>
        <p:spPr>
          <a:xfrm>
            <a:off x="457200" y="533400"/>
            <a:ext cx="11296650" cy="50289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88000"/>
              </a:lnSpc>
              <a:defRPr i="0" sz="3600" b="0">
                <a:solidFill>
                  <a:srgbClr val="111827"/>
                </a:solidFill>
                <a:latin typeface="Albert Sans"/>
              </a:defRPr>
            </a:pPr>
            <a:r>
              <a:rPr i="0" sz="3600" b="0">
                <a:solidFill>
                  <a:srgbClr val="111827"/>
                </a:solidFill>
                <a:latin typeface="Albert Sans"/>
              </a:rPr>
              <a:t>What is Persistence?</a:t>
            </a:r>
          </a:p>
        </p:txBody>
      </p:sp>
      <p:sp>
        <p:nvSpPr>
          <p:cNvPr id="7" name="TextBox 6"/>
          <p:cNvSpPr txBox="1"/>
          <p:nvPr/>
        </p:nvSpPr>
        <p:spPr>
          <a:xfrm>
            <a:off x="2381250" y="2779365"/>
            <a:ext cx="2038350" cy="1133326"/>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36000"/>
              </a:lnSpc>
              <a:defRPr i="0" sz="1050" b="0">
                <a:solidFill>
                  <a:srgbClr val="6B7280"/>
                </a:solidFill>
                <a:latin typeface="Albert Sans"/>
              </a:defRPr>
            </a:pPr>
            <a:r>
              <a:rPr i="0" sz="1050" b="0">
                <a:solidFill>
                  <a:srgbClr val="6B7280"/>
                </a:solidFill>
                <a:latin typeface="Albert Sans"/>
              </a:rPr>
              <a:t>Unlike your variables, persistent data stays. It doesn't vanish when the function ends—it's that friend who always texts back.</a:t>
            </a:r>
          </a:p>
        </p:txBody>
      </p:sp>
      <p:sp>
        <p:nvSpPr>
          <p:cNvPr id="8" name="TextBox 7"/>
          <p:cNvSpPr txBox="1"/>
          <p:nvPr/>
        </p:nvSpPr>
        <p:spPr>
          <a:xfrm>
            <a:off x="7791450" y="2779365"/>
            <a:ext cx="2038350" cy="1133326"/>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36000"/>
              </a:lnSpc>
              <a:defRPr i="0" sz="1050" b="0">
                <a:solidFill>
                  <a:srgbClr val="6B7280"/>
                </a:solidFill>
                <a:latin typeface="Albert Sans"/>
              </a:defRPr>
            </a:pPr>
            <a:r>
              <a:rPr i="0" sz="1050" b="0">
                <a:solidFill>
                  <a:srgbClr val="6B7280"/>
                </a:solidFill>
                <a:latin typeface="Albert Sans"/>
              </a:rPr>
              <a:t>Persistent data laughs at program deaths. It survives server explosions and cosmic events. Well, at least system crashes.</a:t>
            </a:r>
          </a:p>
        </p:txBody>
      </p:sp>
      <p:sp>
        <p:nvSpPr>
          <p:cNvPr id="9" name="TextBox 8"/>
          <p:cNvSpPr txBox="1"/>
          <p:nvPr/>
        </p:nvSpPr>
        <p:spPr>
          <a:xfrm>
            <a:off x="5086350" y="2779365"/>
            <a:ext cx="2038350" cy="90666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36000"/>
              </a:lnSpc>
              <a:defRPr i="0" sz="1050" b="0">
                <a:solidFill>
                  <a:srgbClr val="6B7280"/>
                </a:solidFill>
                <a:latin typeface="Albert Sans"/>
              </a:defRPr>
            </a:pPr>
            <a:r>
              <a:rPr i="0" sz="1050" b="0">
                <a:solidFill>
                  <a:srgbClr val="6B7280"/>
                </a:solidFill>
                <a:latin typeface="Albert Sans"/>
              </a:rPr>
              <a:t>Regular variables? They die faster than your New Year's resolutions. Poof, gone when the function ends.</a:t>
            </a:r>
          </a:p>
        </p:txBody>
      </p:sp>
      <p:sp>
        <p:nvSpPr>
          <p:cNvPr id="10" name="TextBox 9"/>
          <p:cNvSpPr txBox="1"/>
          <p:nvPr/>
        </p:nvSpPr>
        <p:spPr>
          <a:xfrm>
            <a:off x="457200" y="1150590"/>
            <a:ext cx="7258050" cy="2286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0000"/>
              </a:lnSpc>
              <a:defRPr i="0" sz="1200" b="0">
                <a:solidFill>
                  <a:srgbClr val="6B7280"/>
                </a:solidFill>
                <a:latin typeface="Albert Sans"/>
              </a:defRPr>
            </a:pPr>
            <a:r>
              <a:rPr i="0" sz="1200" b="0">
                <a:solidFill>
                  <a:srgbClr val="6B7280"/>
                </a:solidFill>
                <a:latin typeface="Albert Sans"/>
              </a:rPr>
              <a:t>The art of keeping data alive even after your code has crashed, burned, and ghosted the memory.</a:t>
            </a:r>
          </a:p>
        </p:txBody>
      </p:sp>
      <p:sp>
        <p:nvSpPr>
          <p:cNvPr id="11" name="TextBox 10"/>
          <p:cNvSpPr txBox="1"/>
          <p:nvPr/>
        </p:nvSpPr>
        <p:spPr>
          <a:xfrm>
            <a:off x="2381250" y="2407890"/>
            <a:ext cx="2038350" cy="257175"/>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0000"/>
              </a:lnSpc>
              <a:defRPr i="0" sz="1350" b="0">
                <a:solidFill>
                  <a:srgbClr val="111827"/>
                </a:solidFill>
                <a:latin typeface="Albert Sans"/>
              </a:defRPr>
            </a:pPr>
            <a:r>
              <a:rPr i="0" sz="1350" b="0">
                <a:solidFill>
                  <a:srgbClr val="111827"/>
                </a:solidFill>
                <a:latin typeface="Albert Sans"/>
              </a:rPr>
              <a:t>No Ghosting Allowed</a:t>
            </a:r>
          </a:p>
        </p:txBody>
      </p:sp>
      <p:sp>
        <p:nvSpPr>
          <p:cNvPr id="12" name="TextBox 11"/>
          <p:cNvSpPr txBox="1"/>
          <p:nvPr/>
        </p:nvSpPr>
        <p:spPr>
          <a:xfrm>
            <a:off x="5086350" y="2407890"/>
            <a:ext cx="2038350" cy="257175"/>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0000"/>
              </a:lnSpc>
              <a:defRPr i="0" sz="1350" b="0">
                <a:solidFill>
                  <a:srgbClr val="111827"/>
                </a:solidFill>
                <a:latin typeface="Albert Sans"/>
              </a:defRPr>
            </a:pPr>
            <a:r>
              <a:rPr i="0" sz="1350" b="0">
                <a:solidFill>
                  <a:srgbClr val="111827"/>
                </a:solidFill>
                <a:latin typeface="Albert Sans"/>
              </a:rPr>
              <a:t>Variable Reality Check</a:t>
            </a:r>
          </a:p>
        </p:txBody>
      </p:sp>
      <p:sp>
        <p:nvSpPr>
          <p:cNvPr id="13" name="TextBox 12"/>
          <p:cNvSpPr txBox="1"/>
          <p:nvPr/>
        </p:nvSpPr>
        <p:spPr>
          <a:xfrm>
            <a:off x="7791450" y="2407890"/>
            <a:ext cx="2038350" cy="257175"/>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0000"/>
              </a:lnSpc>
              <a:defRPr i="0" sz="1350" b="0">
                <a:solidFill>
                  <a:srgbClr val="111827"/>
                </a:solidFill>
                <a:latin typeface="Albert Sans"/>
              </a:defRPr>
            </a:pPr>
            <a:r>
              <a:rPr i="0" sz="1350" b="0">
                <a:solidFill>
                  <a:srgbClr val="111827"/>
                </a:solidFill>
                <a:latin typeface="Albert Sans"/>
              </a:rPr>
              <a:t>The Immortal Data</a:t>
            </a:r>
          </a:p>
        </p:txBody>
      </p:sp>
      <p:sp>
        <p:nvSpPr>
          <p:cNvPr id="14" name="TextBox 13"/>
          <p:cNvSpPr txBox="1"/>
          <p:nvPr/>
        </p:nvSpPr>
        <p:spPr>
          <a:xfrm>
            <a:off x="457200" y="6353175"/>
            <a:ext cx="1476226" cy="200025"/>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0000"/>
              </a:lnSpc>
              <a:defRPr i="0" sz="1050" b="0">
                <a:solidFill>
                  <a:srgbClr val="6B7280"/>
                </a:solidFill>
                <a:latin typeface="Albert Sans"/>
              </a:defRPr>
            </a:pPr>
            <a:r>
              <a:rPr i="0" sz="1050" b="0">
                <a:solidFill>
                  <a:srgbClr val="6B7280"/>
                </a:solidFill>
                <a:latin typeface="Albert Sans"/>
              </a:rPr>
              <a:t>www.persistence101.dev</a:t>
            </a:r>
          </a:p>
        </p:txBody>
      </p:sp>
      <p:sp>
        <p:nvSpPr>
          <p:cNvPr id="15" name="Rectangle 14"/>
          <p:cNvSpPr/>
          <p:nvPr/>
        </p:nvSpPr>
        <p:spPr>
          <a:xfrm rot="2700000">
            <a:off x="11595473" y="6223373"/>
            <a:ext cx="431052" cy="431052"/>
          </a:xfrm>
          <a:prstGeom prst="rect">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6" name="Rectangle 15"/>
          <p:cNvSpPr/>
          <p:nvPr/>
        </p:nvSpPr>
        <p:spPr>
          <a:xfrm>
            <a:off x="2142976" y="6443662"/>
            <a:ext cx="9591823" cy="19050"/>
          </a:xfrm>
          <a:prstGeom prst="rect">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7" name="Rounded Rectangle 16"/>
          <p:cNvSpPr/>
          <p:nvPr/>
        </p:nvSpPr>
        <p:spPr>
          <a:xfrm>
            <a:off x="2381250" y="1874490"/>
            <a:ext cx="381000" cy="381000"/>
          </a:xfrm>
          <a:prstGeom prst="roundRect">
            <a:avLst>
              <a:gd name="adj" fmla="val 10000"/>
            </a:avLst>
          </a:prstGeom>
          <a:solidFill>
            <a:srgbClr val="FFFFFF"/>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8" name="Rounded Rectangle 17"/>
          <p:cNvSpPr/>
          <p:nvPr/>
        </p:nvSpPr>
        <p:spPr>
          <a:xfrm>
            <a:off x="5086350" y="1874490"/>
            <a:ext cx="381000" cy="381000"/>
          </a:xfrm>
          <a:prstGeom prst="roundRect">
            <a:avLst>
              <a:gd name="adj" fmla="val 10000"/>
            </a:avLst>
          </a:prstGeom>
          <a:solidFill>
            <a:srgbClr val="FFFFFF"/>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9" name="Rounded Rectangle 18"/>
          <p:cNvSpPr/>
          <p:nvPr/>
        </p:nvSpPr>
        <p:spPr>
          <a:xfrm>
            <a:off x="7791450" y="1874490"/>
            <a:ext cx="381000" cy="381000"/>
          </a:xfrm>
          <a:prstGeom prst="roundRect">
            <a:avLst>
              <a:gd name="adj" fmla="val 10000"/>
            </a:avLst>
          </a:prstGeom>
          <a:solidFill>
            <a:srgbClr val="FFFFFF"/>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20" name="Picture 19" descr="832f84bf-106c-43d2-81b9-5394ec240132.png"/>
          <p:cNvPicPr>
            <a:picLocks noChangeAspect="1"/>
          </p:cNvPicPr>
          <p:nvPr/>
        </p:nvPicPr>
        <p:blipFill>
          <a:blip r:embed="rId3"/>
          <a:stretch>
            <a:fillRect/>
          </a:stretch>
        </p:blipFill>
        <p:spPr>
          <a:xfrm>
            <a:off x="2457450" y="1955452"/>
            <a:ext cx="228600" cy="228600"/>
          </a:xfrm>
          <a:prstGeom prst="rect">
            <a:avLst/>
          </a:prstGeom>
        </p:spPr>
      </p:pic>
      <p:pic>
        <p:nvPicPr>
          <p:cNvPr id="21" name="Picture 20" descr="c79c6665-aa1c-4f91-aef4-0daf60e40bdd.png"/>
          <p:cNvPicPr>
            <a:picLocks noChangeAspect="1"/>
          </p:cNvPicPr>
          <p:nvPr/>
        </p:nvPicPr>
        <p:blipFill>
          <a:blip r:embed="rId4"/>
          <a:stretch>
            <a:fillRect/>
          </a:stretch>
        </p:blipFill>
        <p:spPr>
          <a:xfrm>
            <a:off x="5162550" y="1955452"/>
            <a:ext cx="228600" cy="228600"/>
          </a:xfrm>
          <a:prstGeom prst="rect">
            <a:avLst/>
          </a:prstGeom>
        </p:spPr>
      </p:pic>
      <p:pic>
        <p:nvPicPr>
          <p:cNvPr id="22" name="Picture 21" descr="789533a5-4beb-497d-9ecf-7886f19d1ef5.png"/>
          <p:cNvPicPr>
            <a:picLocks noChangeAspect="1"/>
          </p:cNvPicPr>
          <p:nvPr/>
        </p:nvPicPr>
        <p:blipFill>
          <a:blip r:embed="rId5"/>
          <a:stretch>
            <a:fillRect/>
          </a:stretch>
        </p:blipFill>
        <p:spPr>
          <a:xfrm>
            <a:off x="7867650" y="1955452"/>
            <a:ext cx="228600" cy="228600"/>
          </a:xfrm>
          <a:prstGeom prst="rect">
            <a:avLst/>
          </a:prstGeom>
        </p:spPr>
      </p:pic>
      <p:sp>
        <p:nvSpPr>
          <p:cNvPr id="23" name="Rounded Rectangle 22"/>
          <p:cNvSpPr/>
          <p:nvPr/>
        </p:nvSpPr>
        <p:spPr>
          <a:xfrm rot="2700000">
            <a:off x="433527" y="204927"/>
            <a:ext cx="161644" cy="161645"/>
          </a:xfrm>
          <a:prstGeom prst="roundRect">
            <a:avLst>
              <a:gd name="adj" fmla="val 23570"/>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57200" y="647700"/>
            <a:ext cx="4078932" cy="168012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84000"/>
              </a:lnSpc>
              <a:defRPr i="0" sz="4200" b="0">
                <a:solidFill>
                  <a:srgbClr val="111827"/>
                </a:solidFill>
                <a:latin typeface="Albert Sans"/>
              </a:defRPr>
            </a:pPr>
            <a:r>
              <a:rPr i="0" sz="4200" b="0">
                <a:solidFill>
                  <a:srgbClr val="111827"/>
                </a:solidFill>
                <a:latin typeface="Albert Sans"/>
              </a:rPr>
              <a:t>Why Should You CareAbout Persisting?</a:t>
            </a:r>
          </a:p>
        </p:txBody>
      </p:sp>
      <p:pic>
        <p:nvPicPr>
          <p:cNvPr id="3" name="Picture 2" descr="4a132105-db91-4d5e-90ba-1bf6bf0704cf.png"/>
          <p:cNvPicPr>
            <a:picLocks noChangeAspect="1"/>
          </p:cNvPicPr>
          <p:nvPr/>
        </p:nvPicPr>
        <p:blipFill>
          <a:blip r:embed="rId2"/>
          <a:stretch>
            <a:fillRect/>
          </a:stretch>
        </p:blipFill>
        <p:spPr>
          <a:xfrm>
            <a:off x="9887545" y="2352675"/>
            <a:ext cx="2151905" cy="1861095"/>
          </a:xfrm>
          <a:prstGeom prst="rect">
            <a:avLst/>
          </a:prstGeom>
        </p:spPr>
      </p:pic>
      <p:pic>
        <p:nvPicPr>
          <p:cNvPr id="4" name="Picture 3" descr="4146eafe-aa6f-4d91-98ad-e9e745807570.png"/>
          <p:cNvPicPr>
            <a:picLocks noChangeAspect="1"/>
          </p:cNvPicPr>
          <p:nvPr/>
        </p:nvPicPr>
        <p:blipFill>
          <a:blip r:embed="rId3"/>
          <a:stretch>
            <a:fillRect/>
          </a:stretch>
        </p:blipFill>
        <p:spPr>
          <a:xfrm>
            <a:off x="7354639" y="2352675"/>
            <a:ext cx="2151905" cy="1802010"/>
          </a:xfrm>
          <a:prstGeom prst="rect">
            <a:avLst/>
          </a:prstGeom>
        </p:spPr>
      </p:pic>
      <p:pic>
        <p:nvPicPr>
          <p:cNvPr id="5" name="Picture 4" descr="4146eafe-aa6f-4d91-98ad-e9e745807570.png"/>
          <p:cNvPicPr>
            <a:picLocks noChangeAspect="1"/>
          </p:cNvPicPr>
          <p:nvPr/>
        </p:nvPicPr>
        <p:blipFill>
          <a:blip r:embed="rId3"/>
          <a:stretch>
            <a:fillRect/>
          </a:stretch>
        </p:blipFill>
        <p:spPr>
          <a:xfrm>
            <a:off x="4821882" y="2352675"/>
            <a:ext cx="2151757" cy="1802010"/>
          </a:xfrm>
          <a:prstGeom prst="rect">
            <a:avLst/>
          </a:prstGeom>
        </p:spPr>
      </p:pic>
      <p:pic>
        <p:nvPicPr>
          <p:cNvPr id="6" name="Picture 5" descr="5499edb7-f117-4e00-8688-6a613619811d.png"/>
          <p:cNvPicPr>
            <a:picLocks noChangeAspect="1"/>
          </p:cNvPicPr>
          <p:nvPr/>
        </p:nvPicPr>
        <p:blipFill>
          <a:blip r:embed="rId4"/>
          <a:stretch>
            <a:fillRect/>
          </a:stretch>
        </p:blipFill>
        <p:spPr>
          <a:xfrm>
            <a:off x="7354639" y="647700"/>
            <a:ext cx="2151905" cy="1714500"/>
          </a:xfrm>
          <a:prstGeom prst="rect">
            <a:avLst/>
          </a:prstGeom>
        </p:spPr>
      </p:pic>
      <p:pic>
        <p:nvPicPr>
          <p:cNvPr id="7" name="Picture 6" descr="f7ccb22f-1bbf-41ff-aa44-157747761508.png"/>
          <p:cNvPicPr>
            <a:picLocks noChangeAspect="1"/>
          </p:cNvPicPr>
          <p:nvPr/>
        </p:nvPicPr>
        <p:blipFill>
          <a:blip r:embed="rId5"/>
          <a:stretch>
            <a:fillRect/>
          </a:stretch>
        </p:blipFill>
        <p:spPr>
          <a:xfrm>
            <a:off x="9887545" y="647700"/>
            <a:ext cx="2151905" cy="1714500"/>
          </a:xfrm>
          <a:prstGeom prst="rect">
            <a:avLst/>
          </a:prstGeom>
        </p:spPr>
      </p:pic>
      <p:pic>
        <p:nvPicPr>
          <p:cNvPr id="8" name="Picture 7" descr="e9921378-b04c-4599-a418-193c2a24e36a.png"/>
          <p:cNvPicPr>
            <a:picLocks noChangeAspect="1"/>
          </p:cNvPicPr>
          <p:nvPr/>
        </p:nvPicPr>
        <p:blipFill>
          <a:blip r:embed="rId6"/>
          <a:stretch>
            <a:fillRect/>
          </a:stretch>
        </p:blipFill>
        <p:spPr>
          <a:xfrm>
            <a:off x="4821882" y="647700"/>
            <a:ext cx="2151757" cy="1714500"/>
          </a:xfrm>
          <a:prstGeom prst="rect">
            <a:avLst/>
          </a:prstGeom>
        </p:spPr>
      </p:pic>
      <p:sp>
        <p:nvSpPr>
          <p:cNvPr id="9" name="TextBox 8"/>
          <p:cNvSpPr txBox="1"/>
          <p:nvPr/>
        </p:nvSpPr>
        <p:spPr>
          <a:xfrm>
            <a:off x="457200" y="2632620"/>
            <a:ext cx="2876550" cy="82287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44000"/>
              </a:lnSpc>
              <a:defRPr i="0" sz="1200" b="0">
                <a:solidFill>
                  <a:srgbClr val="6B7280"/>
                </a:solidFill>
                <a:latin typeface="Albert Sans"/>
              </a:defRPr>
            </a:pPr>
            <a:r>
              <a:rPr i="0" sz="1200" b="0">
                <a:solidFill>
                  <a:srgbClr val="6B7280"/>
                </a:solidFill>
                <a:latin typeface="Albert Sans"/>
              </a:rPr>
              <a:t>RAM forgets everything when it sleeps. Your users are even less forgiving than RAM.</a:t>
            </a:r>
          </a:p>
        </p:txBody>
      </p:sp>
      <p:sp>
        <p:nvSpPr>
          <p:cNvPr id="10" name="TextBox 9"/>
          <p:cNvSpPr txBox="1"/>
          <p:nvPr/>
        </p:nvSpPr>
        <p:spPr>
          <a:xfrm>
            <a:off x="7583239" y="2981325"/>
            <a:ext cx="1713755" cy="90666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36000"/>
              </a:lnSpc>
              <a:defRPr i="0" sz="1050" b="0">
                <a:solidFill>
                  <a:srgbClr val="6B7280"/>
                </a:solidFill>
                <a:latin typeface="Albert Sans"/>
              </a:defRPr>
            </a:pPr>
            <a:r>
              <a:rPr i="0" sz="1050" b="0">
                <a:solidFill>
                  <a:srgbClr val="6B7280"/>
                </a:solidFill>
                <a:latin typeface="Albert Sans"/>
              </a:rPr>
              <a:t>The law requires data retention. Don't make lawyers your only reason to persist.</a:t>
            </a:r>
          </a:p>
        </p:txBody>
      </p:sp>
      <p:sp>
        <p:nvSpPr>
          <p:cNvPr id="11" name="TextBox 10"/>
          <p:cNvSpPr txBox="1"/>
          <p:nvPr/>
        </p:nvSpPr>
        <p:spPr>
          <a:xfrm>
            <a:off x="5050482" y="2981325"/>
            <a:ext cx="1713607" cy="90666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36000"/>
              </a:lnSpc>
              <a:defRPr i="0" sz="1050" b="0">
                <a:solidFill>
                  <a:srgbClr val="6B7280"/>
                </a:solidFill>
                <a:latin typeface="Albert Sans"/>
              </a:defRPr>
            </a:pPr>
            <a:r>
              <a:rPr i="0" sz="1050" b="0">
                <a:solidFill>
                  <a:srgbClr val="6B7280"/>
                </a:solidFill>
                <a:latin typeface="Albert Sans"/>
              </a:rPr>
              <a:t>RAM wipes its memory the moment power goes out. Your users won't even give you 3 seconds.</a:t>
            </a:r>
          </a:p>
        </p:txBody>
      </p:sp>
      <p:sp>
        <p:nvSpPr>
          <p:cNvPr id="12" name="TextBox 11"/>
          <p:cNvSpPr txBox="1"/>
          <p:nvPr/>
        </p:nvSpPr>
        <p:spPr>
          <a:xfrm>
            <a:off x="10116145" y="3267075"/>
            <a:ext cx="1713755" cy="679995"/>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36000"/>
              </a:lnSpc>
              <a:defRPr i="0" sz="1050" b="0">
                <a:solidFill>
                  <a:srgbClr val="6B7280"/>
                </a:solidFill>
                <a:latin typeface="Albert Sans"/>
              </a:defRPr>
            </a:pPr>
            <a:r>
              <a:rPr i="0" sz="1050" b="0">
                <a:solidFill>
                  <a:srgbClr val="6B7280"/>
                </a:solidFill>
                <a:latin typeface="Albert Sans"/>
              </a:rPr>
              <a:t>Without persistence, every restart resets your app to day one.</a:t>
            </a:r>
          </a:p>
        </p:txBody>
      </p:sp>
      <p:sp>
        <p:nvSpPr>
          <p:cNvPr id="13" name="TextBox 12"/>
          <p:cNvSpPr txBox="1"/>
          <p:nvPr/>
        </p:nvSpPr>
        <p:spPr>
          <a:xfrm>
            <a:off x="10116145" y="2581275"/>
            <a:ext cx="1713755" cy="5715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0000"/>
              </a:lnSpc>
              <a:defRPr i="0" sz="1500" b="0">
                <a:solidFill>
                  <a:srgbClr val="111827"/>
                </a:solidFill>
                <a:latin typeface="Albert Sans"/>
              </a:defRPr>
            </a:pPr>
            <a:r>
              <a:rPr i="0" sz="1500" b="0">
                <a:solidFill>
                  <a:srgbClr val="111827"/>
                </a:solidFill>
                <a:latin typeface="Albert Sans"/>
              </a:rPr>
              <a:t>App Restart = Factory Reset</a:t>
            </a:r>
          </a:p>
        </p:txBody>
      </p:sp>
      <p:sp>
        <p:nvSpPr>
          <p:cNvPr id="14" name="TextBox 13"/>
          <p:cNvSpPr txBox="1"/>
          <p:nvPr/>
        </p:nvSpPr>
        <p:spPr>
          <a:xfrm>
            <a:off x="7583239" y="2581275"/>
            <a:ext cx="1713755" cy="28575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0000"/>
              </a:lnSpc>
              <a:defRPr i="0" sz="1500" b="0">
                <a:solidFill>
                  <a:srgbClr val="111827"/>
                </a:solidFill>
                <a:latin typeface="Albert Sans"/>
              </a:defRPr>
            </a:pPr>
            <a:r>
              <a:rPr i="0" sz="1500" b="0">
                <a:solidFill>
                  <a:srgbClr val="111827"/>
                </a:solidFill>
                <a:latin typeface="Albert Sans"/>
              </a:rPr>
              <a:t>GDPR Compliance</a:t>
            </a:r>
          </a:p>
        </p:txBody>
      </p:sp>
      <p:sp>
        <p:nvSpPr>
          <p:cNvPr id="15" name="TextBox 14"/>
          <p:cNvSpPr txBox="1"/>
          <p:nvPr/>
        </p:nvSpPr>
        <p:spPr>
          <a:xfrm>
            <a:off x="5050482" y="2581275"/>
            <a:ext cx="1713607" cy="28575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0000"/>
              </a:lnSpc>
              <a:defRPr i="0" sz="1500" b="0">
                <a:solidFill>
                  <a:srgbClr val="111827"/>
                </a:solidFill>
                <a:latin typeface="Albert Sans"/>
              </a:defRPr>
            </a:pPr>
            <a:r>
              <a:rPr i="0" sz="1500" b="0">
                <a:solidFill>
                  <a:srgbClr val="111827"/>
                </a:solidFill>
                <a:latin typeface="Albert Sans"/>
              </a:rPr>
              <a:t>RAM is Volatile</a:t>
            </a:r>
          </a:p>
        </p:txBody>
      </p:sp>
      <p:sp>
        <p:nvSpPr>
          <p:cNvPr id="16" name="TextBox 15"/>
          <p:cNvSpPr txBox="1"/>
          <p:nvPr/>
        </p:nvSpPr>
        <p:spPr>
          <a:xfrm>
            <a:off x="457200" y="6353175"/>
            <a:ext cx="1199108" cy="200025"/>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0000"/>
              </a:lnSpc>
              <a:defRPr i="0" sz="1050" b="0">
                <a:solidFill>
                  <a:srgbClr val="6B7280"/>
                </a:solidFill>
                <a:latin typeface="Albert Sans"/>
              </a:defRPr>
            </a:pPr>
            <a:r>
              <a:rPr i="0" sz="1050" b="0">
                <a:solidFill>
                  <a:srgbClr val="6B7280"/>
                </a:solidFill>
                <a:latin typeface="Albert Sans"/>
              </a:rPr>
              <a:t>www.persistify.com</a:t>
            </a:r>
          </a:p>
        </p:txBody>
      </p:sp>
      <p:sp>
        <p:nvSpPr>
          <p:cNvPr id="17" name="Rectangle 16"/>
          <p:cNvSpPr/>
          <p:nvPr/>
        </p:nvSpPr>
        <p:spPr>
          <a:xfrm>
            <a:off x="1865858" y="6443662"/>
            <a:ext cx="9868941" cy="19050"/>
          </a:xfrm>
          <a:prstGeom prst="rect">
            <a:avLst/>
          </a:prstGeom>
          <a:solidFill>
            <a:srgbClr val="E5E7EB"/>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8" name="Rectangle 17"/>
          <p:cNvSpPr/>
          <p:nvPr/>
        </p:nvSpPr>
        <p:spPr>
          <a:xfrm rot="2700000">
            <a:off x="11595473" y="6223373"/>
            <a:ext cx="431052" cy="431052"/>
          </a:xfrm>
          <a:prstGeom prst="rect">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9" name="Rounded Rectangle 18"/>
          <p:cNvSpPr/>
          <p:nvPr/>
        </p:nvSpPr>
        <p:spPr>
          <a:xfrm rot="2700000">
            <a:off x="433527" y="204927"/>
            <a:ext cx="161644" cy="161645"/>
          </a:xfrm>
          <a:prstGeom prst="roundRect">
            <a:avLst>
              <a:gd name="adj" fmla="val 23570"/>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57200" y="647700"/>
            <a:ext cx="4078932" cy="168012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84000"/>
              </a:lnSpc>
              <a:defRPr i="0" sz="4200" b="0">
                <a:solidFill>
                  <a:srgbClr val="111827"/>
                </a:solidFill>
                <a:latin typeface="Albert Sans"/>
              </a:defRPr>
            </a:pPr>
            <a:r>
              <a:rPr i="0" sz="4200" b="0">
                <a:solidFill>
                  <a:srgbClr val="111827"/>
                </a:solidFill>
                <a:latin typeface="Albert Sans"/>
              </a:rPr>
              <a:t>The PersistenceSpectrum</a:t>
            </a:r>
          </a:p>
        </p:txBody>
      </p:sp>
      <p:pic>
        <p:nvPicPr>
          <p:cNvPr id="3" name="Picture 2" descr="409ede4d-0daa-4384-92ea-3b6ccb4060d5.png"/>
          <p:cNvPicPr>
            <a:picLocks noChangeAspect="1"/>
          </p:cNvPicPr>
          <p:nvPr/>
        </p:nvPicPr>
        <p:blipFill>
          <a:blip r:embed="rId2"/>
          <a:stretch>
            <a:fillRect/>
          </a:stretch>
        </p:blipFill>
        <p:spPr>
          <a:xfrm>
            <a:off x="7354639" y="2352675"/>
            <a:ext cx="2151905" cy="2087760"/>
          </a:xfrm>
          <a:prstGeom prst="rect">
            <a:avLst/>
          </a:prstGeom>
        </p:spPr>
      </p:pic>
      <p:pic>
        <p:nvPicPr>
          <p:cNvPr id="4" name="Picture 3" descr="409ede4d-0daa-4384-92ea-3b6ccb4060d5.png"/>
          <p:cNvPicPr>
            <a:picLocks noChangeAspect="1"/>
          </p:cNvPicPr>
          <p:nvPr/>
        </p:nvPicPr>
        <p:blipFill>
          <a:blip r:embed="rId2"/>
          <a:stretch>
            <a:fillRect/>
          </a:stretch>
        </p:blipFill>
        <p:spPr>
          <a:xfrm>
            <a:off x="9887545" y="2352675"/>
            <a:ext cx="2151905" cy="2087760"/>
          </a:xfrm>
          <a:prstGeom prst="rect">
            <a:avLst/>
          </a:prstGeom>
        </p:spPr>
      </p:pic>
      <p:pic>
        <p:nvPicPr>
          <p:cNvPr id="5" name="Picture 4" descr="4146eafe-aa6f-4d91-98ad-e9e745807570.png"/>
          <p:cNvPicPr>
            <a:picLocks noChangeAspect="1"/>
          </p:cNvPicPr>
          <p:nvPr/>
        </p:nvPicPr>
        <p:blipFill>
          <a:blip r:embed="rId3"/>
          <a:stretch>
            <a:fillRect/>
          </a:stretch>
        </p:blipFill>
        <p:spPr>
          <a:xfrm>
            <a:off x="4821882" y="2352675"/>
            <a:ext cx="2151757" cy="1802010"/>
          </a:xfrm>
          <a:prstGeom prst="rect">
            <a:avLst/>
          </a:prstGeom>
        </p:spPr>
      </p:pic>
      <p:pic>
        <p:nvPicPr>
          <p:cNvPr id="6" name="Picture 5" descr="43e780e9-59b5-49f3-a147-a50b38b8d0b3.png"/>
          <p:cNvPicPr>
            <a:picLocks noChangeAspect="1"/>
          </p:cNvPicPr>
          <p:nvPr/>
        </p:nvPicPr>
        <p:blipFill>
          <a:blip r:embed="rId4"/>
          <a:stretch>
            <a:fillRect/>
          </a:stretch>
        </p:blipFill>
        <p:spPr>
          <a:xfrm>
            <a:off x="7354639" y="647700"/>
            <a:ext cx="2151905" cy="1714500"/>
          </a:xfrm>
          <a:prstGeom prst="rect">
            <a:avLst/>
          </a:prstGeom>
        </p:spPr>
      </p:pic>
      <p:pic>
        <p:nvPicPr>
          <p:cNvPr id="7" name="Picture 6" descr="f36ad231-b47e-40aa-89dc-9e5c110f5241.png"/>
          <p:cNvPicPr>
            <a:picLocks noChangeAspect="1"/>
          </p:cNvPicPr>
          <p:nvPr/>
        </p:nvPicPr>
        <p:blipFill>
          <a:blip r:embed="rId5"/>
          <a:stretch>
            <a:fillRect/>
          </a:stretch>
        </p:blipFill>
        <p:spPr>
          <a:xfrm>
            <a:off x="9887545" y="647700"/>
            <a:ext cx="2151905" cy="1714500"/>
          </a:xfrm>
          <a:prstGeom prst="rect">
            <a:avLst/>
          </a:prstGeom>
        </p:spPr>
      </p:pic>
      <p:pic>
        <p:nvPicPr>
          <p:cNvPr id="8" name="Picture 7" descr="dc290ec6-393d-4049-b793-468a72e8e7cb.png"/>
          <p:cNvPicPr>
            <a:picLocks noChangeAspect="1"/>
          </p:cNvPicPr>
          <p:nvPr/>
        </p:nvPicPr>
        <p:blipFill>
          <a:blip r:embed="rId6"/>
          <a:stretch>
            <a:fillRect/>
          </a:stretch>
        </p:blipFill>
        <p:spPr>
          <a:xfrm>
            <a:off x="4821882" y="647700"/>
            <a:ext cx="2151757" cy="1714500"/>
          </a:xfrm>
          <a:prstGeom prst="rect">
            <a:avLst/>
          </a:prstGeom>
        </p:spPr>
      </p:pic>
      <p:sp>
        <p:nvSpPr>
          <p:cNvPr id="9" name="TextBox 8"/>
          <p:cNvSpPr txBox="1"/>
          <p:nvPr/>
        </p:nvSpPr>
        <p:spPr>
          <a:xfrm>
            <a:off x="457200" y="2632620"/>
            <a:ext cx="2876550" cy="82287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44000"/>
              </a:lnSpc>
              <a:defRPr i="0" sz="1200" b="0">
                <a:solidFill>
                  <a:srgbClr val="6B7280"/>
                </a:solidFill>
                <a:latin typeface="Albert Sans"/>
              </a:defRPr>
            </a:pPr>
            <a:r>
              <a:rPr i="0" sz="1200" b="0">
                <a:solidFill>
                  <a:srgbClr val="6B7280"/>
                </a:solidFill>
                <a:latin typeface="Albert Sans"/>
              </a:rPr>
              <a:t>From humble text files to enterprise cloud magic—choose your data destiny wisely.</a:t>
            </a:r>
          </a:p>
        </p:txBody>
      </p:sp>
      <p:sp>
        <p:nvSpPr>
          <p:cNvPr id="10" name="TextBox 9"/>
          <p:cNvSpPr txBox="1"/>
          <p:nvPr/>
        </p:nvSpPr>
        <p:spPr>
          <a:xfrm>
            <a:off x="7583239" y="3267075"/>
            <a:ext cx="1713755" cy="90666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36000"/>
              </a:lnSpc>
              <a:defRPr i="0" sz="1050" b="0">
                <a:solidFill>
                  <a:srgbClr val="6B7280"/>
                </a:solidFill>
                <a:latin typeface="Albert Sans"/>
              </a:defRPr>
            </a:pPr>
            <a:r>
              <a:rPr i="0" sz="1050" b="0">
                <a:solidFill>
                  <a:srgbClr val="6B7280"/>
                </a:solidFill>
                <a:latin typeface="Albert Sans"/>
              </a:rPr>
              <a:t>Scalable, flexible, and always hungry for your credit card. The mansion of data storage.</a:t>
            </a:r>
          </a:p>
        </p:txBody>
      </p:sp>
      <p:sp>
        <p:nvSpPr>
          <p:cNvPr id="11" name="TextBox 10"/>
          <p:cNvSpPr txBox="1"/>
          <p:nvPr/>
        </p:nvSpPr>
        <p:spPr>
          <a:xfrm>
            <a:off x="10116145" y="3267075"/>
            <a:ext cx="1713755" cy="90666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36000"/>
              </a:lnSpc>
              <a:defRPr i="0" sz="1050" b="0">
                <a:solidFill>
                  <a:srgbClr val="6B7280"/>
                </a:solidFill>
                <a:latin typeface="Albert Sans"/>
              </a:defRPr>
            </a:pPr>
            <a:r>
              <a:rPr i="0" sz="1050" b="0">
                <a:solidFill>
                  <a:srgbClr val="6B7280"/>
                </a:solidFill>
                <a:latin typeface="Albert Sans"/>
              </a:rPr>
              <a:t>Where bugs are features, documentation is a myth, and 'it works on my machine' is valid.</a:t>
            </a:r>
          </a:p>
        </p:txBody>
      </p:sp>
      <p:sp>
        <p:nvSpPr>
          <p:cNvPr id="12" name="TextBox 11"/>
          <p:cNvSpPr txBox="1"/>
          <p:nvPr/>
        </p:nvSpPr>
        <p:spPr>
          <a:xfrm>
            <a:off x="5050482" y="2981325"/>
            <a:ext cx="1713607" cy="90666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36000"/>
              </a:lnSpc>
              <a:defRPr i="0" sz="1050" b="0">
                <a:solidFill>
                  <a:srgbClr val="6B7280"/>
                </a:solidFill>
                <a:latin typeface="Albert Sans"/>
              </a:defRPr>
            </a:pPr>
            <a:r>
              <a:rPr i="0" sz="1050" b="0">
                <a:solidFill>
                  <a:srgbClr val="6B7280"/>
                </a:solidFill>
                <a:latin typeface="Albert Sans"/>
              </a:rPr>
              <a:t>No subscriptions, no vendor drama. Like writing your thoughts in a diary that never judges you back.</a:t>
            </a:r>
          </a:p>
        </p:txBody>
      </p:sp>
      <p:sp>
        <p:nvSpPr>
          <p:cNvPr id="13" name="TextBox 12"/>
          <p:cNvSpPr txBox="1"/>
          <p:nvPr/>
        </p:nvSpPr>
        <p:spPr>
          <a:xfrm>
            <a:off x="7583239" y="2581275"/>
            <a:ext cx="1713755" cy="5715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0000"/>
              </a:lnSpc>
              <a:defRPr i="0" sz="1500" b="0">
                <a:solidFill>
                  <a:srgbClr val="111827"/>
                </a:solidFill>
                <a:latin typeface="Albert Sans"/>
              </a:defRPr>
            </a:pPr>
            <a:r>
              <a:rPr i="0" sz="1500" b="0">
                <a:solidFill>
                  <a:srgbClr val="111827"/>
                </a:solidFill>
                <a:latin typeface="Albert Sans"/>
              </a:rPr>
              <a:t>Cloud Databases: Pricey</a:t>
            </a:r>
          </a:p>
        </p:txBody>
      </p:sp>
      <p:sp>
        <p:nvSpPr>
          <p:cNvPr id="14" name="TextBox 13"/>
          <p:cNvSpPr txBox="1"/>
          <p:nvPr/>
        </p:nvSpPr>
        <p:spPr>
          <a:xfrm>
            <a:off x="10116145" y="2581275"/>
            <a:ext cx="1713755" cy="5715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0000"/>
              </a:lnSpc>
              <a:defRPr i="0" sz="1500" b="0">
                <a:solidFill>
                  <a:srgbClr val="111827"/>
                </a:solidFill>
                <a:latin typeface="Albert Sans"/>
              </a:defRPr>
            </a:pPr>
            <a:r>
              <a:rPr i="0" sz="1500" b="0">
                <a:solidFill>
                  <a:srgbClr val="111827"/>
                </a:solidFill>
                <a:latin typeface="Albert Sans"/>
              </a:rPr>
              <a:t>The Middle Ground</a:t>
            </a:r>
          </a:p>
        </p:txBody>
      </p:sp>
      <p:sp>
        <p:nvSpPr>
          <p:cNvPr id="15" name="TextBox 14"/>
          <p:cNvSpPr txBox="1"/>
          <p:nvPr/>
        </p:nvSpPr>
        <p:spPr>
          <a:xfrm>
            <a:off x="5050482" y="2581275"/>
            <a:ext cx="1713607" cy="28575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0000"/>
              </a:lnSpc>
              <a:defRPr i="0" sz="1500" b="0">
                <a:solidFill>
                  <a:srgbClr val="111827"/>
                </a:solidFill>
                <a:latin typeface="Albert Sans"/>
              </a:defRPr>
            </a:pPr>
            <a:r>
              <a:rPr i="0" sz="1500" b="0">
                <a:solidFill>
                  <a:srgbClr val="111827"/>
                </a:solidFill>
                <a:latin typeface="Albert Sans"/>
              </a:rPr>
              <a:t>Text Files: Honest</a:t>
            </a:r>
          </a:p>
        </p:txBody>
      </p:sp>
      <p:sp>
        <p:nvSpPr>
          <p:cNvPr id="16" name="TextBox 15"/>
          <p:cNvSpPr txBox="1"/>
          <p:nvPr/>
        </p:nvSpPr>
        <p:spPr>
          <a:xfrm>
            <a:off x="457200" y="6353175"/>
            <a:ext cx="1342132" cy="200025"/>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0000"/>
              </a:lnSpc>
              <a:defRPr i="0" sz="1050" b="0">
                <a:solidFill>
                  <a:srgbClr val="6B7280"/>
                </a:solidFill>
                <a:latin typeface="Albert Sans"/>
              </a:defRPr>
            </a:pPr>
            <a:r>
              <a:rPr i="0" sz="1050" b="0">
                <a:solidFill>
                  <a:srgbClr val="6B7280"/>
                </a:solidFill>
                <a:latin typeface="Albert Sans"/>
              </a:rPr>
              <a:t>www.datasurvive.com</a:t>
            </a:r>
          </a:p>
        </p:txBody>
      </p:sp>
      <p:sp>
        <p:nvSpPr>
          <p:cNvPr id="17" name="Rectangle 16"/>
          <p:cNvSpPr/>
          <p:nvPr/>
        </p:nvSpPr>
        <p:spPr>
          <a:xfrm rot="2700000">
            <a:off x="11595473" y="6223373"/>
            <a:ext cx="431052" cy="431052"/>
          </a:xfrm>
          <a:prstGeom prst="rect">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8" name="Rectangle 17"/>
          <p:cNvSpPr/>
          <p:nvPr/>
        </p:nvSpPr>
        <p:spPr>
          <a:xfrm>
            <a:off x="2008882" y="6443662"/>
            <a:ext cx="9725917" cy="19050"/>
          </a:xfrm>
          <a:prstGeom prst="rect">
            <a:avLst/>
          </a:prstGeom>
          <a:solidFill>
            <a:srgbClr val="E5E7EB"/>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9" name="Rounded Rectangle 18"/>
          <p:cNvSpPr/>
          <p:nvPr/>
        </p:nvSpPr>
        <p:spPr>
          <a:xfrm rot="2700000">
            <a:off x="433527" y="204927"/>
            <a:ext cx="161644" cy="161645"/>
          </a:xfrm>
          <a:prstGeom prst="roundRect">
            <a:avLst>
              <a:gd name="adj" fmla="val 23570"/>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57200" y="647700"/>
            <a:ext cx="4078932" cy="112008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84000"/>
              </a:lnSpc>
              <a:defRPr i="0" sz="4200" b="0">
                <a:solidFill>
                  <a:srgbClr val="111827"/>
                </a:solidFill>
                <a:latin typeface="Albert Sans"/>
              </a:defRPr>
            </a:pPr>
            <a:r>
              <a:rPr i="0" sz="4200" b="0">
                <a:solidFill>
                  <a:srgbClr val="111827"/>
                </a:solidFill>
                <a:latin typeface="Albert Sans"/>
              </a:rPr>
              <a:t>Databases:The Overachievers</a:t>
            </a:r>
          </a:p>
        </p:txBody>
      </p:sp>
      <p:pic>
        <p:nvPicPr>
          <p:cNvPr id="3" name="Picture 2" descr="ac0f46b9-6ffb-4ee9-9f4d-21b1d91a5887.png"/>
          <p:cNvPicPr>
            <a:picLocks noChangeAspect="1"/>
          </p:cNvPicPr>
          <p:nvPr/>
        </p:nvPicPr>
        <p:blipFill>
          <a:blip r:embed="rId2"/>
          <a:stretch>
            <a:fillRect/>
          </a:stretch>
        </p:blipFill>
        <p:spPr>
          <a:xfrm>
            <a:off x="4821882" y="2352675"/>
            <a:ext cx="2151757" cy="2028676"/>
          </a:xfrm>
          <a:prstGeom prst="rect">
            <a:avLst/>
          </a:prstGeom>
        </p:spPr>
      </p:pic>
      <p:pic>
        <p:nvPicPr>
          <p:cNvPr id="4" name="Picture 3" descr="4146eafe-aa6f-4d91-98ad-e9e745807570.png"/>
          <p:cNvPicPr>
            <a:picLocks noChangeAspect="1"/>
          </p:cNvPicPr>
          <p:nvPr/>
        </p:nvPicPr>
        <p:blipFill>
          <a:blip r:embed="rId3"/>
          <a:stretch>
            <a:fillRect/>
          </a:stretch>
        </p:blipFill>
        <p:spPr>
          <a:xfrm>
            <a:off x="7354639" y="2352675"/>
            <a:ext cx="2151905" cy="1802010"/>
          </a:xfrm>
          <a:prstGeom prst="rect">
            <a:avLst/>
          </a:prstGeom>
        </p:spPr>
      </p:pic>
      <p:pic>
        <p:nvPicPr>
          <p:cNvPr id="5" name="Picture 4" descr="b289d62f-1d90-4c63-bc34-7ce39d8aab39.png"/>
          <p:cNvPicPr>
            <a:picLocks noChangeAspect="1"/>
          </p:cNvPicPr>
          <p:nvPr/>
        </p:nvPicPr>
        <p:blipFill>
          <a:blip r:embed="rId4"/>
          <a:stretch>
            <a:fillRect/>
          </a:stretch>
        </p:blipFill>
        <p:spPr>
          <a:xfrm>
            <a:off x="7354639" y="647700"/>
            <a:ext cx="2151905" cy="1714500"/>
          </a:xfrm>
          <a:prstGeom prst="rect">
            <a:avLst/>
          </a:prstGeom>
        </p:spPr>
      </p:pic>
      <p:pic>
        <p:nvPicPr>
          <p:cNvPr id="6" name="Picture 5" descr="c74a6a8f-a82f-462b-aa24-7531fc5a2f6f.png"/>
          <p:cNvPicPr>
            <a:picLocks noChangeAspect="1"/>
          </p:cNvPicPr>
          <p:nvPr/>
        </p:nvPicPr>
        <p:blipFill>
          <a:blip r:embed="rId5"/>
          <a:stretch>
            <a:fillRect/>
          </a:stretch>
        </p:blipFill>
        <p:spPr>
          <a:xfrm>
            <a:off x="9887545" y="647700"/>
            <a:ext cx="2151905" cy="1714500"/>
          </a:xfrm>
          <a:prstGeom prst="rect">
            <a:avLst/>
          </a:prstGeom>
        </p:spPr>
      </p:pic>
      <p:pic>
        <p:nvPicPr>
          <p:cNvPr id="7" name="Picture 6" descr="821f82ea-e3f1-443b-af19-866d220adf6f.png"/>
          <p:cNvPicPr>
            <a:picLocks noChangeAspect="1"/>
          </p:cNvPicPr>
          <p:nvPr/>
        </p:nvPicPr>
        <p:blipFill>
          <a:blip r:embed="rId6"/>
          <a:stretch>
            <a:fillRect/>
          </a:stretch>
        </p:blipFill>
        <p:spPr>
          <a:xfrm>
            <a:off x="4821882" y="647700"/>
            <a:ext cx="2151757" cy="1714500"/>
          </a:xfrm>
          <a:prstGeom prst="rect">
            <a:avLst/>
          </a:prstGeom>
        </p:spPr>
      </p:pic>
      <p:pic>
        <p:nvPicPr>
          <p:cNvPr id="8" name="Picture 7" descr="03bcd8aa-d816-4ab0-b71f-30a3dd1a4267.png"/>
          <p:cNvPicPr>
            <a:picLocks noChangeAspect="1"/>
          </p:cNvPicPr>
          <p:nvPr/>
        </p:nvPicPr>
        <p:blipFill>
          <a:blip r:embed="rId7"/>
          <a:stretch>
            <a:fillRect/>
          </a:stretch>
        </p:blipFill>
        <p:spPr>
          <a:xfrm>
            <a:off x="9887545" y="2352675"/>
            <a:ext cx="2151905" cy="1575345"/>
          </a:xfrm>
          <a:prstGeom prst="rect">
            <a:avLst/>
          </a:prstGeom>
        </p:spPr>
      </p:pic>
      <p:sp>
        <p:nvSpPr>
          <p:cNvPr id="9" name="TextBox 8"/>
          <p:cNvSpPr txBox="1"/>
          <p:nvPr/>
        </p:nvSpPr>
        <p:spPr>
          <a:xfrm>
            <a:off x="457200" y="2072580"/>
            <a:ext cx="2876550" cy="82287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44000"/>
              </a:lnSpc>
              <a:defRPr i="0" sz="1200" b="0">
                <a:solidFill>
                  <a:srgbClr val="6B7280"/>
                </a:solidFill>
                <a:latin typeface="Albert Sans"/>
              </a:defRPr>
            </a:pPr>
            <a:r>
              <a:rPr i="0" sz="1200" b="0">
                <a:solidFill>
                  <a:srgbClr val="6B7280"/>
                </a:solidFill>
                <a:latin typeface="Albert Sans"/>
              </a:rPr>
              <a:t>When your data refuses to quit. Structured storage meets query languages.</a:t>
            </a:r>
          </a:p>
        </p:txBody>
      </p:sp>
      <p:sp>
        <p:nvSpPr>
          <p:cNvPr id="10" name="TextBox 9"/>
          <p:cNvSpPr txBox="1"/>
          <p:nvPr/>
        </p:nvSpPr>
        <p:spPr>
          <a:xfrm>
            <a:off x="5050482" y="2981325"/>
            <a:ext cx="1713607" cy="1133326"/>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36000"/>
              </a:lnSpc>
              <a:defRPr i="0" sz="1050" b="0">
                <a:solidFill>
                  <a:srgbClr val="6B7280"/>
                </a:solidFill>
                <a:latin typeface="Albert Sans"/>
              </a:defRPr>
            </a:pPr>
            <a:r>
              <a:rPr i="0" sz="1050" b="0">
                <a:solidFill>
                  <a:srgbClr val="6B7280"/>
                </a:solidFill>
                <a:latin typeface="Albert Sans"/>
              </a:rPr>
              <a:t>Organized like your ex's new relationship—methodical, searchable, always knowing where everything is.</a:t>
            </a:r>
          </a:p>
        </p:txBody>
      </p:sp>
      <p:sp>
        <p:nvSpPr>
          <p:cNvPr id="11" name="TextBox 10"/>
          <p:cNvSpPr txBox="1"/>
          <p:nvPr/>
        </p:nvSpPr>
        <p:spPr>
          <a:xfrm>
            <a:off x="7583239" y="2981325"/>
            <a:ext cx="1713755" cy="90666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36000"/>
              </a:lnSpc>
              <a:defRPr i="0" sz="1050" b="0">
                <a:solidFill>
                  <a:srgbClr val="6B7280"/>
                </a:solidFill>
                <a:latin typeface="Albert Sans"/>
              </a:defRPr>
            </a:pPr>
            <a:r>
              <a:rPr i="0" sz="1050" b="0">
                <a:solidFill>
                  <a:srgbClr val="6B7280"/>
                </a:solidFill>
                <a:latin typeface="Albert Sans"/>
              </a:rPr>
              <a:t>Your data stays faithful even when your Wi-Fi doesn't. Transactions that never leave you hanging.</a:t>
            </a:r>
          </a:p>
        </p:txBody>
      </p:sp>
      <p:sp>
        <p:nvSpPr>
          <p:cNvPr id="12" name="TextBox 11"/>
          <p:cNvSpPr txBox="1"/>
          <p:nvPr/>
        </p:nvSpPr>
        <p:spPr>
          <a:xfrm>
            <a:off x="10116145" y="2981325"/>
            <a:ext cx="1713755" cy="679995"/>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36000"/>
              </a:lnSpc>
              <a:defRPr i="0" sz="1050" b="0">
                <a:solidFill>
                  <a:srgbClr val="6B7280"/>
                </a:solidFill>
                <a:latin typeface="Albert Sans"/>
              </a:defRPr>
            </a:pPr>
            <a:r>
              <a:rPr i="0" sz="1050" b="0">
                <a:solidFill>
                  <a:srgbClr val="6B7280"/>
                </a:solidFill>
                <a:latin typeface="Albert Sans"/>
              </a:rPr>
              <a:t>Relational, document, key-value, graph, time-series—because one size fits none.</a:t>
            </a:r>
          </a:p>
        </p:txBody>
      </p:sp>
      <p:sp>
        <p:nvSpPr>
          <p:cNvPr id="13" name="TextBox 12"/>
          <p:cNvSpPr txBox="1"/>
          <p:nvPr/>
        </p:nvSpPr>
        <p:spPr>
          <a:xfrm>
            <a:off x="7583239" y="2581275"/>
            <a:ext cx="1713755" cy="28575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0000"/>
              </a:lnSpc>
              <a:defRPr i="0" sz="1500" b="0">
                <a:solidFill>
                  <a:srgbClr val="111827"/>
                </a:solidFill>
                <a:latin typeface="Albert Sans"/>
              </a:defRPr>
            </a:pPr>
            <a:r>
              <a:rPr i="0" sz="1500" b="0">
                <a:solidFill>
                  <a:srgbClr val="111827"/>
                </a:solidFill>
                <a:latin typeface="Albert Sans"/>
              </a:rPr>
              <a:t>ACID Compliance</a:t>
            </a:r>
          </a:p>
        </p:txBody>
      </p:sp>
      <p:sp>
        <p:nvSpPr>
          <p:cNvPr id="14" name="TextBox 13"/>
          <p:cNvSpPr txBox="1"/>
          <p:nvPr/>
        </p:nvSpPr>
        <p:spPr>
          <a:xfrm>
            <a:off x="10116145" y="2581275"/>
            <a:ext cx="1713755" cy="28575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0000"/>
              </a:lnSpc>
              <a:defRPr i="0" sz="1500" b="0">
                <a:solidFill>
                  <a:srgbClr val="111827"/>
                </a:solidFill>
                <a:latin typeface="Albert Sans"/>
              </a:defRPr>
            </a:pPr>
            <a:r>
              <a:rPr i="0" sz="1500" b="0">
                <a:solidFill>
                  <a:srgbClr val="111827"/>
                </a:solidFill>
                <a:latin typeface="Albert Sans"/>
              </a:rPr>
              <a:t>Database Variety</a:t>
            </a:r>
          </a:p>
        </p:txBody>
      </p:sp>
      <p:sp>
        <p:nvSpPr>
          <p:cNvPr id="15" name="TextBox 14"/>
          <p:cNvSpPr txBox="1"/>
          <p:nvPr/>
        </p:nvSpPr>
        <p:spPr>
          <a:xfrm>
            <a:off x="5050482" y="2581275"/>
            <a:ext cx="1713607" cy="28575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0000"/>
              </a:lnSpc>
              <a:defRPr i="0" sz="1500" b="0">
                <a:solidFill>
                  <a:srgbClr val="111827"/>
                </a:solidFill>
                <a:latin typeface="Albert Sans"/>
              </a:defRPr>
            </a:pPr>
            <a:r>
              <a:rPr i="0" sz="1500" b="0">
                <a:solidFill>
                  <a:srgbClr val="111827"/>
                </a:solidFill>
                <a:latin typeface="Albert Sans"/>
              </a:rPr>
              <a:t>Structured Storage</a:t>
            </a:r>
          </a:p>
        </p:txBody>
      </p:sp>
      <p:sp>
        <p:nvSpPr>
          <p:cNvPr id="16" name="TextBox 15"/>
          <p:cNvSpPr txBox="1"/>
          <p:nvPr/>
        </p:nvSpPr>
        <p:spPr>
          <a:xfrm>
            <a:off x="457200" y="6353175"/>
            <a:ext cx="1378594" cy="200025"/>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0000"/>
              </a:lnSpc>
              <a:defRPr i="0" sz="1050" b="0">
                <a:solidFill>
                  <a:srgbClr val="6B7280"/>
                </a:solidFill>
                <a:latin typeface="Albert Sans"/>
              </a:defRPr>
            </a:pPr>
            <a:r>
              <a:rPr i="0" sz="1050" b="0">
                <a:solidFill>
                  <a:srgbClr val="6B7280"/>
                </a:solidFill>
                <a:latin typeface="Albert Sans"/>
              </a:rPr>
              <a:t>www.databaselife.com</a:t>
            </a:r>
          </a:p>
        </p:txBody>
      </p:sp>
      <p:sp>
        <p:nvSpPr>
          <p:cNvPr id="17" name="Rectangle 16"/>
          <p:cNvSpPr/>
          <p:nvPr/>
        </p:nvSpPr>
        <p:spPr>
          <a:xfrm rot="2700000">
            <a:off x="11595473" y="6223373"/>
            <a:ext cx="431052" cy="431052"/>
          </a:xfrm>
          <a:prstGeom prst="rect">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8" name="Rectangle 17"/>
          <p:cNvSpPr/>
          <p:nvPr/>
        </p:nvSpPr>
        <p:spPr>
          <a:xfrm>
            <a:off x="2045344" y="6443662"/>
            <a:ext cx="9689455" cy="19050"/>
          </a:xfrm>
          <a:prstGeom prst="rect">
            <a:avLst/>
          </a:prstGeom>
          <a:solidFill>
            <a:srgbClr val="E5E7EB"/>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9" name="Rounded Rectangle 18"/>
          <p:cNvSpPr/>
          <p:nvPr/>
        </p:nvSpPr>
        <p:spPr>
          <a:xfrm rot="2700000">
            <a:off x="433527" y="204927"/>
            <a:ext cx="161644" cy="161645"/>
          </a:xfrm>
          <a:prstGeom prst="roundRect">
            <a:avLst>
              <a:gd name="adj" fmla="val 23570"/>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57200" y="647700"/>
            <a:ext cx="4078932" cy="168012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84000"/>
              </a:lnSpc>
              <a:defRPr i="0" sz="4200" b="0">
                <a:solidFill>
                  <a:srgbClr val="111827"/>
                </a:solidFill>
                <a:latin typeface="Albert Sans"/>
              </a:defRPr>
            </a:pPr>
            <a:r>
              <a:rPr i="0" sz="4200" b="0">
                <a:solidFill>
                  <a:srgbClr val="111827"/>
                </a:solidFill>
                <a:latin typeface="Albert Sans"/>
              </a:rPr>
              <a:t>SQL Databases:The Old Guard</a:t>
            </a:r>
          </a:p>
        </p:txBody>
      </p:sp>
      <p:pic>
        <p:nvPicPr>
          <p:cNvPr id="3" name="Picture 2" descr="fe60d059-b8b2-419d-803d-724f95d4cf55.png"/>
          <p:cNvPicPr>
            <a:picLocks noChangeAspect="1"/>
          </p:cNvPicPr>
          <p:nvPr/>
        </p:nvPicPr>
        <p:blipFill>
          <a:blip r:embed="rId2"/>
          <a:stretch>
            <a:fillRect/>
          </a:stretch>
        </p:blipFill>
        <p:spPr>
          <a:xfrm>
            <a:off x="4821882" y="2352675"/>
            <a:ext cx="2151757" cy="2146845"/>
          </a:xfrm>
          <a:prstGeom prst="rect">
            <a:avLst/>
          </a:prstGeom>
        </p:spPr>
      </p:pic>
      <p:pic>
        <p:nvPicPr>
          <p:cNvPr id="4" name="Picture 3" descr="409ede4d-0daa-4384-92ea-3b6ccb4060d5.png"/>
          <p:cNvPicPr>
            <a:picLocks noChangeAspect="1"/>
          </p:cNvPicPr>
          <p:nvPr/>
        </p:nvPicPr>
        <p:blipFill>
          <a:blip r:embed="rId3"/>
          <a:stretch>
            <a:fillRect/>
          </a:stretch>
        </p:blipFill>
        <p:spPr>
          <a:xfrm>
            <a:off x="7354639" y="2352675"/>
            <a:ext cx="2151905" cy="2087760"/>
          </a:xfrm>
          <a:prstGeom prst="rect">
            <a:avLst/>
          </a:prstGeom>
        </p:spPr>
      </p:pic>
      <p:pic>
        <p:nvPicPr>
          <p:cNvPr id="5" name="Picture 4" descr="4a132105-db91-4d5e-90ba-1bf6bf0704cf.png"/>
          <p:cNvPicPr>
            <a:picLocks noChangeAspect="1"/>
          </p:cNvPicPr>
          <p:nvPr/>
        </p:nvPicPr>
        <p:blipFill>
          <a:blip r:embed="rId4"/>
          <a:stretch>
            <a:fillRect/>
          </a:stretch>
        </p:blipFill>
        <p:spPr>
          <a:xfrm>
            <a:off x="9887545" y="2352675"/>
            <a:ext cx="2151905" cy="1861095"/>
          </a:xfrm>
          <a:prstGeom prst="rect">
            <a:avLst/>
          </a:prstGeom>
        </p:spPr>
      </p:pic>
      <p:pic>
        <p:nvPicPr>
          <p:cNvPr id="6" name="Picture 5" descr="6e971e90-6baf-46f5-8023-7329b85a1806.png"/>
          <p:cNvPicPr>
            <a:picLocks noChangeAspect="1"/>
          </p:cNvPicPr>
          <p:nvPr/>
        </p:nvPicPr>
        <p:blipFill>
          <a:blip r:embed="rId5"/>
          <a:stretch>
            <a:fillRect/>
          </a:stretch>
        </p:blipFill>
        <p:spPr>
          <a:xfrm>
            <a:off x="7354639" y="647700"/>
            <a:ext cx="2151905" cy="1714500"/>
          </a:xfrm>
          <a:prstGeom prst="rect">
            <a:avLst/>
          </a:prstGeom>
        </p:spPr>
      </p:pic>
      <p:pic>
        <p:nvPicPr>
          <p:cNvPr id="7" name="Picture 6" descr="c74a6a8f-a82f-462b-aa24-7531fc5a2f6f.png"/>
          <p:cNvPicPr>
            <a:picLocks noChangeAspect="1"/>
          </p:cNvPicPr>
          <p:nvPr/>
        </p:nvPicPr>
        <p:blipFill>
          <a:blip r:embed="rId6"/>
          <a:stretch>
            <a:fillRect/>
          </a:stretch>
        </p:blipFill>
        <p:spPr>
          <a:xfrm>
            <a:off x="9887545" y="647700"/>
            <a:ext cx="2151905" cy="1714500"/>
          </a:xfrm>
          <a:prstGeom prst="rect">
            <a:avLst/>
          </a:prstGeom>
        </p:spPr>
      </p:pic>
      <p:pic>
        <p:nvPicPr>
          <p:cNvPr id="8" name="Picture 7" descr="e4bd9827-814b-4d7f-9bf6-c1766f678ce7.png"/>
          <p:cNvPicPr>
            <a:picLocks noChangeAspect="1"/>
          </p:cNvPicPr>
          <p:nvPr/>
        </p:nvPicPr>
        <p:blipFill>
          <a:blip r:embed="rId7"/>
          <a:stretch>
            <a:fillRect/>
          </a:stretch>
        </p:blipFill>
        <p:spPr>
          <a:xfrm>
            <a:off x="4821882" y="647700"/>
            <a:ext cx="2151757" cy="1714500"/>
          </a:xfrm>
          <a:prstGeom prst="rect">
            <a:avLst/>
          </a:prstGeom>
        </p:spPr>
      </p:pic>
      <p:sp>
        <p:nvSpPr>
          <p:cNvPr id="9" name="TextBox 8"/>
          <p:cNvSpPr txBox="1"/>
          <p:nvPr/>
        </p:nvSpPr>
        <p:spPr>
          <a:xfrm>
            <a:off x="457200" y="2632620"/>
            <a:ext cx="2876550" cy="82287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44000"/>
              </a:lnSpc>
              <a:defRPr i="0" sz="1200" b="0">
                <a:solidFill>
                  <a:srgbClr val="6B7280"/>
                </a:solidFill>
                <a:latin typeface="Albert Sans"/>
              </a:defRPr>
            </a:pPr>
            <a:r>
              <a:rPr i="0" sz="1200" b="0">
                <a:solidFill>
                  <a:srgbClr val="6B7280"/>
                </a:solidFill>
                <a:latin typeface="Albert Sans"/>
              </a:rPr>
              <a:t>The traditional database veterans who insist on structure, rules, and ACID-compliant Sunday dinners.</a:t>
            </a:r>
          </a:p>
        </p:txBody>
      </p:sp>
      <p:sp>
        <p:nvSpPr>
          <p:cNvPr id="10" name="TextBox 9"/>
          <p:cNvSpPr txBox="1"/>
          <p:nvPr/>
        </p:nvSpPr>
        <p:spPr>
          <a:xfrm>
            <a:off x="7583239" y="3267075"/>
            <a:ext cx="1713755" cy="90666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36000"/>
              </a:lnSpc>
              <a:defRPr i="0" sz="1050" b="0">
                <a:solidFill>
                  <a:srgbClr val="6B7280"/>
                </a:solidFill>
                <a:latin typeface="Albert Sans"/>
              </a:defRPr>
            </a:pPr>
            <a:r>
              <a:rPr i="0" sz="1050" b="0">
                <a:solidFill>
                  <a:srgbClr val="6B7280"/>
                </a:solidFill>
                <a:latin typeface="Albert Sans"/>
              </a:rPr>
              <a:t>MySQL, PostgreSQL, Oracle, SQL Server—debating indexing strategies.</a:t>
            </a:r>
          </a:p>
        </p:txBody>
      </p:sp>
      <p:sp>
        <p:nvSpPr>
          <p:cNvPr id="11" name="TextBox 10"/>
          <p:cNvSpPr txBox="1"/>
          <p:nvPr/>
        </p:nvSpPr>
        <p:spPr>
          <a:xfrm>
            <a:off x="5050482" y="2581275"/>
            <a:ext cx="1713607" cy="85725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0000"/>
              </a:lnSpc>
              <a:defRPr i="0" sz="1500" b="0">
                <a:solidFill>
                  <a:srgbClr val="111827"/>
                </a:solidFill>
                <a:latin typeface="Albert Sans"/>
              </a:defRPr>
            </a:pPr>
            <a:r>
              <a:rPr i="0" sz="1500" b="0">
                <a:solidFill>
                  <a:srgbClr val="111827"/>
                </a:solidFill>
                <a:latin typeface="Albert Sans"/>
              </a:rPr>
              <a:t>Tables: Spreadsheets After Therapy</a:t>
            </a:r>
          </a:p>
        </p:txBody>
      </p:sp>
      <p:sp>
        <p:nvSpPr>
          <p:cNvPr id="12" name="TextBox 11"/>
          <p:cNvSpPr txBox="1"/>
          <p:nvPr/>
        </p:nvSpPr>
        <p:spPr>
          <a:xfrm>
            <a:off x="10116145" y="3267075"/>
            <a:ext cx="1713755" cy="679995"/>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36000"/>
              </a:lnSpc>
              <a:defRPr i="0" sz="1050" b="0">
                <a:solidFill>
                  <a:srgbClr val="6B7280"/>
                </a:solidFill>
                <a:latin typeface="Albert Sans"/>
              </a:defRPr>
            </a:pPr>
            <a:r>
              <a:rPr i="0" sz="1050" b="0">
                <a:solidFill>
                  <a:srgbClr val="6B7280"/>
                </a:solidFill>
                <a:latin typeface="Albert Sans"/>
              </a:rPr>
              <a:t>Where tables meet, swap info they shouldn't, and emerge complicated.</a:t>
            </a:r>
          </a:p>
        </p:txBody>
      </p:sp>
      <p:sp>
        <p:nvSpPr>
          <p:cNvPr id="13" name="TextBox 12"/>
          <p:cNvSpPr txBox="1"/>
          <p:nvPr/>
        </p:nvSpPr>
        <p:spPr>
          <a:xfrm>
            <a:off x="5050482" y="3552825"/>
            <a:ext cx="1713607" cy="679995"/>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36000"/>
              </a:lnSpc>
              <a:defRPr i="0" sz="1050" b="0">
                <a:solidFill>
                  <a:srgbClr val="6B7280"/>
                </a:solidFill>
                <a:latin typeface="Albert Sans"/>
              </a:defRPr>
            </a:pPr>
            <a:r>
              <a:rPr i="0" sz="1050" b="0">
                <a:solidFill>
                  <a:srgbClr val="6B7280"/>
                </a:solidFill>
                <a:latin typeface="Albert Sans"/>
              </a:rPr>
              <a:t>Rows and columns doing the same job, but finally communicating properly.</a:t>
            </a:r>
          </a:p>
        </p:txBody>
      </p:sp>
      <p:sp>
        <p:nvSpPr>
          <p:cNvPr id="14" name="TextBox 13"/>
          <p:cNvSpPr txBox="1"/>
          <p:nvPr/>
        </p:nvSpPr>
        <p:spPr>
          <a:xfrm>
            <a:off x="7583239" y="2581275"/>
            <a:ext cx="1713755" cy="5715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0000"/>
              </a:lnSpc>
              <a:defRPr i="0" sz="1500" b="0">
                <a:solidFill>
                  <a:srgbClr val="111827"/>
                </a:solidFill>
                <a:latin typeface="Albert Sans"/>
              </a:defRPr>
            </a:pPr>
            <a:r>
              <a:rPr i="0" sz="1500" b="0">
                <a:solidFill>
                  <a:srgbClr val="111827"/>
                </a:solidFill>
                <a:latin typeface="Albert Sans"/>
              </a:rPr>
              <a:t>The Usual Suspects</a:t>
            </a:r>
          </a:p>
        </p:txBody>
      </p:sp>
      <p:sp>
        <p:nvSpPr>
          <p:cNvPr id="15" name="TextBox 14"/>
          <p:cNvSpPr txBox="1"/>
          <p:nvPr/>
        </p:nvSpPr>
        <p:spPr>
          <a:xfrm>
            <a:off x="10116145" y="2581275"/>
            <a:ext cx="1713755" cy="5715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0000"/>
              </a:lnSpc>
              <a:defRPr i="0" sz="1500" b="0">
                <a:solidFill>
                  <a:srgbClr val="111827"/>
                </a:solidFill>
                <a:latin typeface="Albert Sans"/>
              </a:defRPr>
            </a:pPr>
            <a:r>
              <a:rPr i="0" sz="1500" b="0">
                <a:solidFill>
                  <a:srgbClr val="111827"/>
                </a:solidFill>
                <a:latin typeface="Albert Sans"/>
              </a:rPr>
              <a:t>Joins: Identity Crisis</a:t>
            </a:r>
          </a:p>
        </p:txBody>
      </p:sp>
      <p:sp>
        <p:nvSpPr>
          <p:cNvPr id="16" name="TextBox 15"/>
          <p:cNvSpPr txBox="1"/>
          <p:nvPr/>
        </p:nvSpPr>
        <p:spPr>
          <a:xfrm>
            <a:off x="457200" y="6353175"/>
            <a:ext cx="1442591" cy="200025"/>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0000"/>
              </a:lnSpc>
              <a:defRPr i="0" sz="1050" b="0">
                <a:solidFill>
                  <a:srgbClr val="6B7280"/>
                </a:solidFill>
                <a:latin typeface="Albert Sans"/>
              </a:defRPr>
            </a:pPr>
            <a:r>
              <a:rPr i="0" sz="1050" b="0">
                <a:solidFill>
                  <a:srgbClr val="6B7280"/>
                </a:solidFill>
                <a:latin typeface="Albert Sans"/>
              </a:rPr>
              <a:t>www.sqldatabases.com</a:t>
            </a:r>
          </a:p>
        </p:txBody>
      </p:sp>
      <p:sp>
        <p:nvSpPr>
          <p:cNvPr id="17" name="Rectangle 16"/>
          <p:cNvSpPr/>
          <p:nvPr/>
        </p:nvSpPr>
        <p:spPr>
          <a:xfrm rot="2700000">
            <a:off x="11595473" y="6223373"/>
            <a:ext cx="431052" cy="431052"/>
          </a:xfrm>
          <a:prstGeom prst="rect">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8" name="Rectangle 17"/>
          <p:cNvSpPr/>
          <p:nvPr/>
        </p:nvSpPr>
        <p:spPr>
          <a:xfrm>
            <a:off x="2109341" y="6443662"/>
            <a:ext cx="9625458" cy="19050"/>
          </a:xfrm>
          <a:prstGeom prst="rect">
            <a:avLst/>
          </a:prstGeom>
          <a:solidFill>
            <a:srgbClr val="E5E7EB"/>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9" name="Rounded Rectangle 18"/>
          <p:cNvSpPr/>
          <p:nvPr/>
        </p:nvSpPr>
        <p:spPr>
          <a:xfrm rot="2700000">
            <a:off x="433527" y="204927"/>
            <a:ext cx="161644" cy="161645"/>
          </a:xfrm>
          <a:prstGeom prst="roundRect">
            <a:avLst>
              <a:gd name="adj" fmla="val 23570"/>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57200" y="647700"/>
            <a:ext cx="4078932" cy="168012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84000"/>
              </a:lnSpc>
              <a:defRPr i="0" sz="4200" b="0">
                <a:solidFill>
                  <a:srgbClr val="111827"/>
                </a:solidFill>
                <a:latin typeface="Albert Sans"/>
              </a:defRPr>
            </a:pPr>
            <a:r>
              <a:rPr i="0" sz="4200" b="0">
                <a:solidFill>
                  <a:srgbClr val="111827"/>
                </a:solidFill>
                <a:latin typeface="Albert Sans"/>
              </a:rPr>
              <a:t>NoSQL Databases:The Rebels</a:t>
            </a:r>
          </a:p>
        </p:txBody>
      </p:sp>
      <p:pic>
        <p:nvPicPr>
          <p:cNvPr id="3" name="Picture 2" descr="409ede4d-0daa-4384-92ea-3b6ccb4060d5.png"/>
          <p:cNvPicPr>
            <a:picLocks noChangeAspect="1"/>
          </p:cNvPicPr>
          <p:nvPr/>
        </p:nvPicPr>
        <p:blipFill>
          <a:blip r:embed="rId2"/>
          <a:stretch>
            <a:fillRect/>
          </a:stretch>
        </p:blipFill>
        <p:spPr>
          <a:xfrm>
            <a:off x="4821882" y="2352675"/>
            <a:ext cx="2151757" cy="2087760"/>
          </a:xfrm>
          <a:prstGeom prst="rect">
            <a:avLst/>
          </a:prstGeom>
        </p:spPr>
      </p:pic>
      <p:pic>
        <p:nvPicPr>
          <p:cNvPr id="4" name="Picture 3" descr="4a132105-db91-4d5e-90ba-1bf6bf0704cf.png"/>
          <p:cNvPicPr>
            <a:picLocks noChangeAspect="1"/>
          </p:cNvPicPr>
          <p:nvPr/>
        </p:nvPicPr>
        <p:blipFill>
          <a:blip r:embed="rId3"/>
          <a:stretch>
            <a:fillRect/>
          </a:stretch>
        </p:blipFill>
        <p:spPr>
          <a:xfrm>
            <a:off x="9887545" y="2352675"/>
            <a:ext cx="2151905" cy="1861095"/>
          </a:xfrm>
          <a:prstGeom prst="rect">
            <a:avLst/>
          </a:prstGeom>
        </p:spPr>
      </p:pic>
      <p:pic>
        <p:nvPicPr>
          <p:cNvPr id="5" name="Picture 4" descr="44b04949-bafa-4474-ba67-9f691b47b122.png"/>
          <p:cNvPicPr>
            <a:picLocks noChangeAspect="1"/>
          </p:cNvPicPr>
          <p:nvPr/>
        </p:nvPicPr>
        <p:blipFill>
          <a:blip r:embed="rId4"/>
          <a:stretch>
            <a:fillRect/>
          </a:stretch>
        </p:blipFill>
        <p:spPr>
          <a:xfrm>
            <a:off x="7354639" y="647700"/>
            <a:ext cx="2151905" cy="1714500"/>
          </a:xfrm>
          <a:prstGeom prst="rect">
            <a:avLst/>
          </a:prstGeom>
        </p:spPr>
      </p:pic>
      <p:pic>
        <p:nvPicPr>
          <p:cNvPr id="6" name="Picture 5" descr="5eed1e39-a316-49dc-8e6a-a0f8b338ba1d.png"/>
          <p:cNvPicPr>
            <a:picLocks noChangeAspect="1"/>
          </p:cNvPicPr>
          <p:nvPr/>
        </p:nvPicPr>
        <p:blipFill>
          <a:blip r:embed="rId5"/>
          <a:stretch>
            <a:fillRect/>
          </a:stretch>
        </p:blipFill>
        <p:spPr>
          <a:xfrm>
            <a:off x="9887545" y="647700"/>
            <a:ext cx="2151905" cy="1714500"/>
          </a:xfrm>
          <a:prstGeom prst="rect">
            <a:avLst/>
          </a:prstGeom>
        </p:spPr>
      </p:pic>
      <p:pic>
        <p:nvPicPr>
          <p:cNvPr id="7" name="Picture 6" descr="e4bd9827-814b-4d7f-9bf6-c1766f678ce7.png"/>
          <p:cNvPicPr>
            <a:picLocks noChangeAspect="1"/>
          </p:cNvPicPr>
          <p:nvPr/>
        </p:nvPicPr>
        <p:blipFill>
          <a:blip r:embed="rId6"/>
          <a:stretch>
            <a:fillRect/>
          </a:stretch>
        </p:blipFill>
        <p:spPr>
          <a:xfrm>
            <a:off x="4821882" y="647700"/>
            <a:ext cx="2151757" cy="1714500"/>
          </a:xfrm>
          <a:prstGeom prst="rect">
            <a:avLst/>
          </a:prstGeom>
        </p:spPr>
      </p:pic>
      <p:pic>
        <p:nvPicPr>
          <p:cNvPr id="8" name="Picture 7" descr="03bcd8aa-d816-4ab0-b71f-30a3dd1a4267.png"/>
          <p:cNvPicPr>
            <a:picLocks noChangeAspect="1"/>
          </p:cNvPicPr>
          <p:nvPr/>
        </p:nvPicPr>
        <p:blipFill>
          <a:blip r:embed="rId7"/>
          <a:stretch>
            <a:fillRect/>
          </a:stretch>
        </p:blipFill>
        <p:spPr>
          <a:xfrm>
            <a:off x="7354639" y="2352675"/>
            <a:ext cx="2151905" cy="1575345"/>
          </a:xfrm>
          <a:prstGeom prst="rect">
            <a:avLst/>
          </a:prstGeom>
        </p:spPr>
      </p:pic>
      <p:sp>
        <p:nvSpPr>
          <p:cNvPr id="9" name="TextBox 8"/>
          <p:cNvSpPr txBox="1"/>
          <p:nvPr/>
        </p:nvSpPr>
        <p:spPr>
          <a:xfrm>
            <a:off x="457200" y="2632620"/>
            <a:ext cx="2876550" cy="54858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44000"/>
              </a:lnSpc>
              <a:defRPr i="0" sz="1200" b="0">
                <a:solidFill>
                  <a:srgbClr val="6B7280"/>
                </a:solidFill>
                <a:latin typeface="Albert Sans"/>
              </a:defRPr>
            </a:pPr>
            <a:r>
              <a:rPr i="0" sz="1200" b="0">
                <a:solidFill>
                  <a:srgbClr val="6B7280"/>
                </a:solidFill>
                <a:latin typeface="Albert Sans"/>
              </a:rPr>
              <a:t>The punk rockers of data storage. No schemas, no rules, just pure chaos.</a:t>
            </a:r>
          </a:p>
        </p:txBody>
      </p:sp>
      <p:sp>
        <p:nvSpPr>
          <p:cNvPr id="10" name="TextBox 9"/>
          <p:cNvSpPr txBox="1"/>
          <p:nvPr/>
        </p:nvSpPr>
        <p:spPr>
          <a:xfrm>
            <a:off x="5050482" y="3267075"/>
            <a:ext cx="1713607" cy="90666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36000"/>
              </a:lnSpc>
              <a:defRPr i="0" sz="1050" b="0">
                <a:solidFill>
                  <a:srgbClr val="6B7280"/>
                </a:solidFill>
                <a:latin typeface="Albert Sans"/>
              </a:defRPr>
            </a:pPr>
            <a:r>
              <a:rPr i="0" sz="1050" b="0">
                <a:solidFill>
                  <a:srgbClr val="6B7280"/>
                </a:solidFill>
                <a:latin typeface="Albert Sans"/>
              </a:rPr>
              <a:t>Why commit to structure when you can be flexible? No judgment—just pure data freedom.</a:t>
            </a:r>
          </a:p>
        </p:txBody>
      </p:sp>
      <p:sp>
        <p:nvSpPr>
          <p:cNvPr id="11" name="TextBox 10"/>
          <p:cNvSpPr txBox="1"/>
          <p:nvPr/>
        </p:nvSpPr>
        <p:spPr>
          <a:xfrm>
            <a:off x="7583239" y="2981325"/>
            <a:ext cx="1713755" cy="679995"/>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36000"/>
              </a:lnSpc>
              <a:defRPr i="0" sz="1050" b="0">
                <a:solidFill>
                  <a:srgbClr val="6B7280"/>
                </a:solidFill>
                <a:latin typeface="Albert Sans"/>
              </a:defRPr>
            </a:pPr>
            <a:r>
              <a:rPr i="0" sz="1050" b="0">
                <a:solidFill>
                  <a:srgbClr val="6B7280"/>
                </a:solidFill>
                <a:latin typeface="Albert Sans"/>
              </a:rPr>
              <a:t>Throw more servers at the problem. Scale out like a boss.</a:t>
            </a:r>
          </a:p>
        </p:txBody>
      </p:sp>
      <p:sp>
        <p:nvSpPr>
          <p:cNvPr id="12" name="TextBox 11"/>
          <p:cNvSpPr txBox="1"/>
          <p:nvPr/>
        </p:nvSpPr>
        <p:spPr>
          <a:xfrm>
            <a:off x="10116145" y="3267075"/>
            <a:ext cx="1713755" cy="679995"/>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36000"/>
              </a:lnSpc>
              <a:defRPr i="0" sz="1050" b="0">
                <a:solidFill>
                  <a:srgbClr val="6B7280"/>
                </a:solidFill>
                <a:latin typeface="Albert Sans"/>
              </a:defRPr>
            </a:pPr>
            <a:r>
              <a:rPr i="0" sz="1050" b="0">
                <a:solidFill>
                  <a:srgbClr val="6B7280"/>
                </a:solidFill>
                <a:latin typeface="Albert Sans"/>
              </a:rPr>
              <a:t>CAP theorem said pick two. We picked availability and partition tolerance.</a:t>
            </a:r>
          </a:p>
        </p:txBody>
      </p:sp>
      <p:sp>
        <p:nvSpPr>
          <p:cNvPr id="13" name="TextBox 12"/>
          <p:cNvSpPr txBox="1"/>
          <p:nvPr/>
        </p:nvSpPr>
        <p:spPr>
          <a:xfrm>
            <a:off x="10116145" y="2581275"/>
            <a:ext cx="1713755" cy="5715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0000"/>
              </a:lnSpc>
              <a:defRPr i="0" sz="1500" b="0">
                <a:solidFill>
                  <a:srgbClr val="111827"/>
                </a:solidFill>
                <a:latin typeface="Albert Sans"/>
              </a:defRPr>
            </a:pPr>
            <a:r>
              <a:rPr i="0" sz="1500" b="0">
                <a:solidFill>
                  <a:srgbClr val="111827"/>
                </a:solidFill>
                <a:latin typeface="Albert Sans"/>
              </a:rPr>
              <a:t>Eventual Consistency</a:t>
            </a:r>
          </a:p>
        </p:txBody>
      </p:sp>
      <p:sp>
        <p:nvSpPr>
          <p:cNvPr id="14" name="TextBox 13"/>
          <p:cNvSpPr txBox="1"/>
          <p:nvPr/>
        </p:nvSpPr>
        <p:spPr>
          <a:xfrm>
            <a:off x="5050482" y="2581275"/>
            <a:ext cx="1713607" cy="5715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0000"/>
              </a:lnSpc>
              <a:defRPr i="0" sz="1500" b="0">
                <a:solidFill>
                  <a:srgbClr val="111827"/>
                </a:solidFill>
                <a:latin typeface="Albert Sans"/>
              </a:defRPr>
            </a:pPr>
            <a:r>
              <a:rPr i="0" sz="1500" b="0">
                <a:solidFill>
                  <a:srgbClr val="111827"/>
                </a:solidFill>
                <a:latin typeface="Albert Sans"/>
              </a:rPr>
              <a:t>Schema-Less Design</a:t>
            </a:r>
          </a:p>
        </p:txBody>
      </p:sp>
      <p:sp>
        <p:nvSpPr>
          <p:cNvPr id="15" name="TextBox 14"/>
          <p:cNvSpPr txBox="1"/>
          <p:nvPr/>
        </p:nvSpPr>
        <p:spPr>
          <a:xfrm>
            <a:off x="7583239" y="2581275"/>
            <a:ext cx="1713755" cy="28575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0000"/>
              </a:lnSpc>
              <a:defRPr i="0" sz="1500" b="0">
                <a:solidFill>
                  <a:srgbClr val="111827"/>
                </a:solidFill>
                <a:latin typeface="Albert Sans"/>
              </a:defRPr>
            </a:pPr>
            <a:r>
              <a:rPr i="0" sz="1500" b="0">
                <a:solidFill>
                  <a:srgbClr val="111827"/>
                </a:solidFill>
                <a:latin typeface="Albert Sans"/>
              </a:rPr>
              <a:t>Horizontal Scaling</a:t>
            </a:r>
          </a:p>
        </p:txBody>
      </p:sp>
      <p:sp>
        <p:nvSpPr>
          <p:cNvPr id="16" name="TextBox 15"/>
          <p:cNvSpPr txBox="1"/>
          <p:nvPr/>
        </p:nvSpPr>
        <p:spPr>
          <a:xfrm>
            <a:off x="457200" y="6353175"/>
            <a:ext cx="1415801" cy="200025"/>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0000"/>
              </a:lnSpc>
              <a:defRPr i="0" sz="1050" b="0">
                <a:solidFill>
                  <a:srgbClr val="6B7280"/>
                </a:solidFill>
                <a:latin typeface="Albert Sans"/>
              </a:defRPr>
            </a:pPr>
            <a:r>
              <a:rPr i="0" sz="1050" b="0">
                <a:solidFill>
                  <a:srgbClr val="6B7280"/>
                </a:solidFill>
                <a:latin typeface="Albert Sans"/>
              </a:rPr>
              <a:t>www.nosql-rebels.com</a:t>
            </a:r>
          </a:p>
        </p:txBody>
      </p:sp>
      <p:sp>
        <p:nvSpPr>
          <p:cNvPr id="17" name="Rectangle 16"/>
          <p:cNvSpPr/>
          <p:nvPr/>
        </p:nvSpPr>
        <p:spPr>
          <a:xfrm rot="2700000">
            <a:off x="11595473" y="6223373"/>
            <a:ext cx="431052" cy="431052"/>
          </a:xfrm>
          <a:prstGeom prst="rect">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8" name="Rectangle 17"/>
          <p:cNvSpPr/>
          <p:nvPr/>
        </p:nvSpPr>
        <p:spPr>
          <a:xfrm>
            <a:off x="2082551" y="6443662"/>
            <a:ext cx="9652248" cy="19050"/>
          </a:xfrm>
          <a:prstGeom prst="rect">
            <a:avLst/>
          </a:prstGeom>
          <a:solidFill>
            <a:srgbClr val="E5E7EB"/>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9" name="Rounded Rectangle 18"/>
          <p:cNvSpPr/>
          <p:nvPr/>
        </p:nvSpPr>
        <p:spPr>
          <a:xfrm rot="2700000">
            <a:off x="433527" y="204927"/>
            <a:ext cx="161644" cy="161645"/>
          </a:xfrm>
          <a:prstGeom prst="roundRect">
            <a:avLst>
              <a:gd name="adj" fmla="val 23570"/>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57200" y="647700"/>
            <a:ext cx="4078932" cy="168012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84000"/>
              </a:lnSpc>
              <a:defRPr i="0" sz="4200" b="0">
                <a:solidFill>
                  <a:srgbClr val="111827"/>
                </a:solidFill>
                <a:latin typeface="Albert Sans"/>
              </a:defRPr>
            </a:pPr>
            <a:r>
              <a:rPr i="0" sz="4200" b="0">
                <a:solidFill>
                  <a:srgbClr val="111827"/>
                </a:solidFill>
                <a:latin typeface="Albert Sans"/>
              </a:rPr>
              <a:t>ACID Properties:The Avengers</a:t>
            </a:r>
          </a:p>
        </p:txBody>
      </p:sp>
      <p:pic>
        <p:nvPicPr>
          <p:cNvPr id="3" name="Picture 2" descr="6d57e167-010d-40da-905f-9cce81496dcc.png"/>
          <p:cNvPicPr>
            <a:picLocks noChangeAspect="1"/>
          </p:cNvPicPr>
          <p:nvPr/>
        </p:nvPicPr>
        <p:blipFill>
          <a:blip r:embed="rId2"/>
          <a:stretch>
            <a:fillRect/>
          </a:stretch>
        </p:blipFill>
        <p:spPr>
          <a:xfrm>
            <a:off x="7354639" y="2352675"/>
            <a:ext cx="2151905" cy="1802010"/>
          </a:xfrm>
          <a:prstGeom prst="rect">
            <a:avLst/>
          </a:prstGeom>
        </p:spPr>
      </p:pic>
      <p:pic>
        <p:nvPicPr>
          <p:cNvPr id="4" name="Picture 3" descr="6d57e167-010d-40da-905f-9cce81496dcc.png"/>
          <p:cNvPicPr>
            <a:picLocks noChangeAspect="1"/>
          </p:cNvPicPr>
          <p:nvPr/>
        </p:nvPicPr>
        <p:blipFill>
          <a:blip r:embed="rId2"/>
          <a:stretch>
            <a:fillRect/>
          </a:stretch>
        </p:blipFill>
        <p:spPr>
          <a:xfrm>
            <a:off x="9887545" y="2352675"/>
            <a:ext cx="2151905" cy="1802010"/>
          </a:xfrm>
          <a:prstGeom prst="rect">
            <a:avLst/>
          </a:prstGeom>
        </p:spPr>
      </p:pic>
      <p:pic>
        <p:nvPicPr>
          <p:cNvPr id="5" name="Picture 4" descr="870a66f1-4460-4565-a706-e96ea04f51f5.png"/>
          <p:cNvPicPr>
            <a:picLocks noChangeAspect="1"/>
          </p:cNvPicPr>
          <p:nvPr/>
        </p:nvPicPr>
        <p:blipFill>
          <a:blip r:embed="rId3"/>
          <a:stretch>
            <a:fillRect/>
          </a:stretch>
        </p:blipFill>
        <p:spPr>
          <a:xfrm>
            <a:off x="7354639" y="647700"/>
            <a:ext cx="2151905" cy="1714500"/>
          </a:xfrm>
          <a:prstGeom prst="rect">
            <a:avLst/>
          </a:prstGeom>
        </p:spPr>
      </p:pic>
      <p:pic>
        <p:nvPicPr>
          <p:cNvPr id="6" name="Picture 5" descr="e80c0ce5-e0ea-4df7-9026-bc5b2457c3dd.png"/>
          <p:cNvPicPr>
            <a:picLocks noChangeAspect="1"/>
          </p:cNvPicPr>
          <p:nvPr/>
        </p:nvPicPr>
        <p:blipFill>
          <a:blip r:embed="rId4"/>
          <a:stretch>
            <a:fillRect/>
          </a:stretch>
        </p:blipFill>
        <p:spPr>
          <a:xfrm>
            <a:off x="9887545" y="647700"/>
            <a:ext cx="2151905" cy="1714500"/>
          </a:xfrm>
          <a:prstGeom prst="rect">
            <a:avLst/>
          </a:prstGeom>
        </p:spPr>
      </p:pic>
      <p:pic>
        <p:nvPicPr>
          <p:cNvPr id="7" name="Picture 6" descr="b289d62f-1d90-4c63-bc34-7ce39d8aab39.png"/>
          <p:cNvPicPr>
            <a:picLocks noChangeAspect="1"/>
          </p:cNvPicPr>
          <p:nvPr/>
        </p:nvPicPr>
        <p:blipFill>
          <a:blip r:embed="rId5"/>
          <a:stretch>
            <a:fillRect/>
          </a:stretch>
        </p:blipFill>
        <p:spPr>
          <a:xfrm>
            <a:off x="4821882" y="647700"/>
            <a:ext cx="2151757" cy="1714500"/>
          </a:xfrm>
          <a:prstGeom prst="rect">
            <a:avLst/>
          </a:prstGeom>
        </p:spPr>
      </p:pic>
      <p:pic>
        <p:nvPicPr>
          <p:cNvPr id="8" name="Picture 7" descr="03bcd8aa-d816-4ab0-b71f-30a3dd1a4267.png"/>
          <p:cNvPicPr>
            <a:picLocks noChangeAspect="1"/>
          </p:cNvPicPr>
          <p:nvPr/>
        </p:nvPicPr>
        <p:blipFill>
          <a:blip r:embed="rId6"/>
          <a:stretch>
            <a:fillRect/>
          </a:stretch>
        </p:blipFill>
        <p:spPr>
          <a:xfrm>
            <a:off x="4821882" y="2352675"/>
            <a:ext cx="2151757" cy="1575345"/>
          </a:xfrm>
          <a:prstGeom prst="rect">
            <a:avLst/>
          </a:prstGeom>
        </p:spPr>
      </p:pic>
      <p:sp>
        <p:nvSpPr>
          <p:cNvPr id="9" name="TextBox 8"/>
          <p:cNvSpPr txBox="1"/>
          <p:nvPr/>
        </p:nvSpPr>
        <p:spPr>
          <a:xfrm>
            <a:off x="457200" y="2632620"/>
            <a:ext cx="2876550" cy="82287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44000"/>
              </a:lnSpc>
              <a:defRPr i="0" sz="1200" b="0">
                <a:solidFill>
                  <a:srgbClr val="6B7280"/>
                </a:solidFill>
                <a:latin typeface="Albert Sans"/>
              </a:defRPr>
            </a:pPr>
            <a:r>
              <a:rPr i="0" sz="1200" b="0">
                <a:solidFill>
                  <a:srgbClr val="6B7280"/>
                </a:solidFill>
                <a:latin typeface="Albert Sans"/>
              </a:rPr>
              <a:t>Four superheroes ensuring your database stays safe, consistent, and drama-free.</a:t>
            </a:r>
          </a:p>
        </p:txBody>
      </p:sp>
      <p:sp>
        <p:nvSpPr>
          <p:cNvPr id="10" name="TextBox 9"/>
          <p:cNvSpPr txBox="1"/>
          <p:nvPr/>
        </p:nvSpPr>
        <p:spPr>
          <a:xfrm>
            <a:off x="7583239" y="2981325"/>
            <a:ext cx="1713755" cy="90666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36000"/>
              </a:lnSpc>
              <a:defRPr i="0" sz="1050" b="0">
                <a:solidFill>
                  <a:srgbClr val="6B7280"/>
                </a:solidFill>
                <a:latin typeface="Albert Sans"/>
              </a:defRPr>
            </a:pPr>
            <a:r>
              <a:rPr i="0" sz="1050" b="0">
                <a:solidFill>
                  <a:srgbClr val="6B7280"/>
                </a:solidFill>
                <a:latin typeface="Albert Sans"/>
              </a:rPr>
              <a:t>Your data follows rules. Unlike skipping leg day, this keeps everything in check.</a:t>
            </a:r>
          </a:p>
        </p:txBody>
      </p:sp>
      <p:sp>
        <p:nvSpPr>
          <p:cNvPr id="11" name="TextBox 10"/>
          <p:cNvSpPr txBox="1"/>
          <p:nvPr/>
        </p:nvSpPr>
        <p:spPr>
          <a:xfrm>
            <a:off x="10116145" y="2981325"/>
            <a:ext cx="1713755" cy="90666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36000"/>
              </a:lnSpc>
              <a:defRPr i="0" sz="1050" b="0">
                <a:solidFill>
                  <a:srgbClr val="6B7280"/>
                </a:solidFill>
                <a:latin typeface="Albert Sans"/>
              </a:defRPr>
            </a:pPr>
            <a:r>
              <a:rPr i="0" sz="1050" b="0">
                <a:solidFill>
                  <a:srgbClr val="6B7280"/>
                </a:solidFill>
                <a:latin typeface="Albert Sans"/>
              </a:rPr>
              <a:t>Concurrent transactions mind their own business. Like that coworker who never bothers you.</a:t>
            </a:r>
          </a:p>
        </p:txBody>
      </p:sp>
      <p:sp>
        <p:nvSpPr>
          <p:cNvPr id="12" name="TextBox 11"/>
          <p:cNvSpPr txBox="1"/>
          <p:nvPr/>
        </p:nvSpPr>
        <p:spPr>
          <a:xfrm>
            <a:off x="5050482" y="2981325"/>
            <a:ext cx="1713607" cy="679995"/>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36000"/>
              </a:lnSpc>
              <a:defRPr i="0" sz="1050" b="0">
                <a:solidFill>
                  <a:srgbClr val="6B7280"/>
                </a:solidFill>
                <a:latin typeface="Albert Sans"/>
              </a:defRPr>
            </a:pPr>
            <a:r>
              <a:rPr i="0" sz="1050" b="0">
                <a:solidFill>
                  <a:srgbClr val="6B7280"/>
                </a:solidFill>
                <a:latin typeface="Albert Sans"/>
              </a:rPr>
              <a:t>All or nothing. Your transaction commits completely or disappears.</a:t>
            </a:r>
          </a:p>
        </p:txBody>
      </p:sp>
      <p:sp>
        <p:nvSpPr>
          <p:cNvPr id="13" name="TextBox 12"/>
          <p:cNvSpPr txBox="1"/>
          <p:nvPr/>
        </p:nvSpPr>
        <p:spPr>
          <a:xfrm>
            <a:off x="7583239" y="2581275"/>
            <a:ext cx="1713755" cy="28575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0000"/>
              </a:lnSpc>
              <a:defRPr i="0" sz="1500" b="0">
                <a:solidFill>
                  <a:srgbClr val="111827"/>
                </a:solidFill>
                <a:latin typeface="Albert Sans"/>
              </a:defRPr>
            </a:pPr>
            <a:r>
              <a:rPr i="0" sz="1500" b="0">
                <a:solidFill>
                  <a:srgbClr val="111827"/>
                </a:solidFill>
                <a:latin typeface="Albert Sans"/>
              </a:rPr>
              <a:t>Consistency</a:t>
            </a:r>
          </a:p>
        </p:txBody>
      </p:sp>
      <p:sp>
        <p:nvSpPr>
          <p:cNvPr id="14" name="TextBox 13"/>
          <p:cNvSpPr txBox="1"/>
          <p:nvPr/>
        </p:nvSpPr>
        <p:spPr>
          <a:xfrm>
            <a:off x="10116145" y="2581275"/>
            <a:ext cx="1713755" cy="28575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0000"/>
              </a:lnSpc>
              <a:defRPr i="0" sz="1500" b="0">
                <a:solidFill>
                  <a:srgbClr val="111827"/>
                </a:solidFill>
                <a:latin typeface="Albert Sans"/>
              </a:defRPr>
            </a:pPr>
            <a:r>
              <a:rPr i="0" sz="1500" b="0">
                <a:solidFill>
                  <a:srgbClr val="111827"/>
                </a:solidFill>
                <a:latin typeface="Albert Sans"/>
              </a:rPr>
              <a:t>Isolation</a:t>
            </a:r>
          </a:p>
        </p:txBody>
      </p:sp>
      <p:sp>
        <p:nvSpPr>
          <p:cNvPr id="15" name="TextBox 14"/>
          <p:cNvSpPr txBox="1"/>
          <p:nvPr/>
        </p:nvSpPr>
        <p:spPr>
          <a:xfrm>
            <a:off x="5050482" y="2581275"/>
            <a:ext cx="1713607" cy="28575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0000"/>
              </a:lnSpc>
              <a:defRPr i="0" sz="1500" b="0">
                <a:solidFill>
                  <a:srgbClr val="111827"/>
                </a:solidFill>
                <a:latin typeface="Albert Sans"/>
              </a:defRPr>
            </a:pPr>
            <a:r>
              <a:rPr i="0" sz="1500" b="0">
                <a:solidFill>
                  <a:srgbClr val="111827"/>
                </a:solidFill>
                <a:latin typeface="Albert Sans"/>
              </a:rPr>
              <a:t>Atomicity</a:t>
            </a:r>
          </a:p>
        </p:txBody>
      </p:sp>
      <p:sp>
        <p:nvSpPr>
          <p:cNvPr id="16" name="TextBox 15"/>
          <p:cNvSpPr txBox="1"/>
          <p:nvPr/>
        </p:nvSpPr>
        <p:spPr>
          <a:xfrm>
            <a:off x="457200" y="6353175"/>
            <a:ext cx="1461492" cy="200025"/>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0000"/>
              </a:lnSpc>
              <a:defRPr i="0" sz="1050" b="0">
                <a:solidFill>
                  <a:srgbClr val="6B7280"/>
                </a:solidFill>
                <a:latin typeface="Albert Sans"/>
              </a:defRPr>
            </a:pPr>
            <a:r>
              <a:rPr i="0" sz="1050" b="0">
                <a:solidFill>
                  <a:srgbClr val="6B7280"/>
                </a:solidFill>
                <a:latin typeface="Albert Sans"/>
              </a:rPr>
              <a:t>www.acidavengers.com</a:t>
            </a:r>
          </a:p>
        </p:txBody>
      </p:sp>
      <p:sp>
        <p:nvSpPr>
          <p:cNvPr id="17" name="Rectangle 16"/>
          <p:cNvSpPr/>
          <p:nvPr/>
        </p:nvSpPr>
        <p:spPr>
          <a:xfrm rot="2700000">
            <a:off x="11595473" y="6223373"/>
            <a:ext cx="431052" cy="431052"/>
          </a:xfrm>
          <a:prstGeom prst="rect">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8" name="Rectangle 17"/>
          <p:cNvSpPr/>
          <p:nvPr/>
        </p:nvSpPr>
        <p:spPr>
          <a:xfrm>
            <a:off x="2128242" y="6443662"/>
            <a:ext cx="9606557" cy="19050"/>
          </a:xfrm>
          <a:prstGeom prst="rect">
            <a:avLst/>
          </a:prstGeom>
          <a:solidFill>
            <a:srgbClr val="E5E7EB"/>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9" name="Rounded Rectangle 18"/>
          <p:cNvSpPr/>
          <p:nvPr/>
        </p:nvSpPr>
        <p:spPr>
          <a:xfrm rot="2700000">
            <a:off x="433527" y="204927"/>
            <a:ext cx="161644" cy="161645"/>
          </a:xfrm>
          <a:prstGeom prst="roundRect">
            <a:avLst>
              <a:gd name="adj" fmla="val 23570"/>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57200" y="647700"/>
            <a:ext cx="4078932" cy="168012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84000"/>
              </a:lnSpc>
              <a:defRPr i="0" sz="4200" b="0">
                <a:solidFill>
                  <a:srgbClr val="111827"/>
                </a:solidFill>
                <a:latin typeface="Albert Sans"/>
              </a:defRPr>
            </a:pPr>
            <a:r>
              <a:rPr i="0" sz="4200" b="0">
                <a:solidFill>
                  <a:srgbClr val="111827"/>
                </a:solidFill>
                <a:latin typeface="Albert Sans"/>
              </a:rPr>
              <a:t>File Systems:Old School Cool</a:t>
            </a:r>
          </a:p>
        </p:txBody>
      </p:sp>
      <p:pic>
        <p:nvPicPr>
          <p:cNvPr id="3" name="Picture 2" descr="4146eafe-aa6f-4d91-98ad-e9e745807570.png"/>
          <p:cNvPicPr>
            <a:picLocks noChangeAspect="1"/>
          </p:cNvPicPr>
          <p:nvPr/>
        </p:nvPicPr>
        <p:blipFill>
          <a:blip r:embed="rId2"/>
          <a:stretch>
            <a:fillRect/>
          </a:stretch>
        </p:blipFill>
        <p:spPr>
          <a:xfrm>
            <a:off x="7354639" y="2352675"/>
            <a:ext cx="2151905" cy="1802010"/>
          </a:xfrm>
          <a:prstGeom prst="rect">
            <a:avLst/>
          </a:prstGeom>
        </p:spPr>
      </p:pic>
      <p:pic>
        <p:nvPicPr>
          <p:cNvPr id="4" name="Picture 3" descr="4146eafe-aa6f-4d91-98ad-e9e745807570.png"/>
          <p:cNvPicPr>
            <a:picLocks noChangeAspect="1"/>
          </p:cNvPicPr>
          <p:nvPr/>
        </p:nvPicPr>
        <p:blipFill>
          <a:blip r:embed="rId2"/>
          <a:stretch>
            <a:fillRect/>
          </a:stretch>
        </p:blipFill>
        <p:spPr>
          <a:xfrm>
            <a:off x="9887545" y="2352675"/>
            <a:ext cx="2151905" cy="1802010"/>
          </a:xfrm>
          <a:prstGeom prst="rect">
            <a:avLst/>
          </a:prstGeom>
        </p:spPr>
      </p:pic>
      <p:pic>
        <p:nvPicPr>
          <p:cNvPr id="5" name="Picture 4" descr="4146eafe-aa6f-4d91-98ad-e9e745807570.png"/>
          <p:cNvPicPr>
            <a:picLocks noChangeAspect="1"/>
          </p:cNvPicPr>
          <p:nvPr/>
        </p:nvPicPr>
        <p:blipFill>
          <a:blip r:embed="rId2"/>
          <a:stretch>
            <a:fillRect/>
          </a:stretch>
        </p:blipFill>
        <p:spPr>
          <a:xfrm>
            <a:off x="4821882" y="2352675"/>
            <a:ext cx="2151757" cy="1802010"/>
          </a:xfrm>
          <a:prstGeom prst="rect">
            <a:avLst/>
          </a:prstGeom>
        </p:spPr>
      </p:pic>
      <p:pic>
        <p:nvPicPr>
          <p:cNvPr id="6" name="Picture 5" descr="7615affc-c87a-4c9f-bfe9-d93df54e2690.png"/>
          <p:cNvPicPr>
            <a:picLocks noChangeAspect="1"/>
          </p:cNvPicPr>
          <p:nvPr/>
        </p:nvPicPr>
        <p:blipFill>
          <a:blip r:embed="rId3"/>
          <a:stretch>
            <a:fillRect/>
          </a:stretch>
        </p:blipFill>
        <p:spPr>
          <a:xfrm>
            <a:off x="7354639" y="647700"/>
            <a:ext cx="2151905" cy="1714500"/>
          </a:xfrm>
          <a:prstGeom prst="rect">
            <a:avLst/>
          </a:prstGeom>
        </p:spPr>
      </p:pic>
      <p:pic>
        <p:nvPicPr>
          <p:cNvPr id="7" name="Picture 6" descr="527d38ac-32c1-4529-ba54-45e8e551de59.png"/>
          <p:cNvPicPr>
            <a:picLocks noChangeAspect="1"/>
          </p:cNvPicPr>
          <p:nvPr/>
        </p:nvPicPr>
        <p:blipFill>
          <a:blip r:embed="rId4"/>
          <a:stretch>
            <a:fillRect/>
          </a:stretch>
        </p:blipFill>
        <p:spPr>
          <a:xfrm>
            <a:off x="9887545" y="647700"/>
            <a:ext cx="2151905" cy="1714500"/>
          </a:xfrm>
          <a:prstGeom prst="rect">
            <a:avLst/>
          </a:prstGeom>
        </p:spPr>
      </p:pic>
      <p:pic>
        <p:nvPicPr>
          <p:cNvPr id="8" name="Picture 7" descr="18cfa91d-a895-4a9d-85f6-d4e599185d8e.png"/>
          <p:cNvPicPr>
            <a:picLocks noChangeAspect="1"/>
          </p:cNvPicPr>
          <p:nvPr/>
        </p:nvPicPr>
        <p:blipFill>
          <a:blip r:embed="rId5"/>
          <a:stretch>
            <a:fillRect/>
          </a:stretch>
        </p:blipFill>
        <p:spPr>
          <a:xfrm>
            <a:off x="4821882" y="647700"/>
            <a:ext cx="2151757" cy="1714500"/>
          </a:xfrm>
          <a:prstGeom prst="rect">
            <a:avLst/>
          </a:prstGeom>
        </p:spPr>
      </p:pic>
      <p:sp>
        <p:nvSpPr>
          <p:cNvPr id="9" name="TextBox 8"/>
          <p:cNvSpPr txBox="1"/>
          <p:nvPr/>
        </p:nvSpPr>
        <p:spPr>
          <a:xfrm>
            <a:off x="457200" y="2632620"/>
            <a:ext cx="2876550" cy="82287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44000"/>
              </a:lnSpc>
              <a:defRPr i="0" sz="1200" b="0">
                <a:solidFill>
                  <a:srgbClr val="6B7280"/>
                </a:solidFill>
                <a:latin typeface="Albert Sans"/>
              </a:defRPr>
            </a:pPr>
            <a:r>
              <a:rPr i="0" sz="1200" b="0">
                <a:solidFill>
                  <a:srgbClr val="6B7280"/>
                </a:solidFill>
                <a:latin typeface="Albert Sans"/>
              </a:rPr>
              <a:t>Old school file formats are still going strong. Perfect for configs and small data.</a:t>
            </a:r>
          </a:p>
        </p:txBody>
      </p:sp>
      <p:sp>
        <p:nvSpPr>
          <p:cNvPr id="10" name="TextBox 9"/>
          <p:cNvSpPr txBox="1"/>
          <p:nvPr/>
        </p:nvSpPr>
        <p:spPr>
          <a:xfrm>
            <a:off x="7583239" y="2981325"/>
            <a:ext cx="1713755" cy="90666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36000"/>
              </a:lnSpc>
              <a:defRPr i="0" sz="1050" b="0">
                <a:solidFill>
                  <a:srgbClr val="6B7280"/>
                </a:solidFill>
                <a:latin typeface="Albert Sans"/>
              </a:defRPr>
            </a:pPr>
            <a:r>
              <a:rPr i="0" sz="1050" b="0">
                <a:solidFill>
                  <a:srgbClr val="6B7280"/>
                </a:solidFill>
                <a:latin typeface="Albert Sans"/>
              </a:rPr>
              <a:t>When your data fits in a text file, why overcomplicate things? Fast and portable.</a:t>
            </a:r>
          </a:p>
        </p:txBody>
      </p:sp>
      <p:sp>
        <p:nvSpPr>
          <p:cNvPr id="11" name="TextBox 10"/>
          <p:cNvSpPr txBox="1"/>
          <p:nvPr/>
        </p:nvSpPr>
        <p:spPr>
          <a:xfrm>
            <a:off x="10116145" y="2981325"/>
            <a:ext cx="1713755" cy="90666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36000"/>
              </a:lnSpc>
              <a:defRPr i="0" sz="1050" b="0">
                <a:solidFill>
                  <a:srgbClr val="6B7280"/>
                </a:solidFill>
                <a:latin typeface="Albert Sans"/>
              </a:defRPr>
            </a:pPr>
            <a:r>
              <a:rPr i="0" sz="1050" b="0">
                <a:solidFill>
                  <a:srgbClr val="6B7280"/>
                </a:solidFill>
                <a:latin typeface="Albert Sans"/>
              </a:rPr>
              <a:t>For the love of all things holy, please don't store production data in spreadsheets.</a:t>
            </a:r>
          </a:p>
        </p:txBody>
      </p:sp>
      <p:sp>
        <p:nvSpPr>
          <p:cNvPr id="12" name="TextBox 11"/>
          <p:cNvSpPr txBox="1"/>
          <p:nvPr/>
        </p:nvSpPr>
        <p:spPr>
          <a:xfrm>
            <a:off x="5050482" y="2981325"/>
            <a:ext cx="1713607" cy="90666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36000"/>
              </a:lnSpc>
              <a:defRPr i="0" sz="1050" b="0">
                <a:solidFill>
                  <a:srgbClr val="6B7280"/>
                </a:solidFill>
                <a:latin typeface="Albert Sans"/>
              </a:defRPr>
            </a:pPr>
            <a:r>
              <a:rPr i="0" sz="1050" b="0">
                <a:solidFill>
                  <a:srgbClr val="6B7280"/>
                </a:solidFill>
                <a:latin typeface="Albert Sans"/>
              </a:rPr>
              <a:t>Survived decades of tech trends. Lightweight, human-readable, version-control friendly.</a:t>
            </a:r>
          </a:p>
        </p:txBody>
      </p:sp>
      <p:sp>
        <p:nvSpPr>
          <p:cNvPr id="13" name="TextBox 12"/>
          <p:cNvSpPr txBox="1"/>
          <p:nvPr/>
        </p:nvSpPr>
        <p:spPr>
          <a:xfrm>
            <a:off x="7583239" y="2581275"/>
            <a:ext cx="1713755" cy="28575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0000"/>
              </a:lnSpc>
              <a:defRPr i="0" sz="1500" b="0">
                <a:solidFill>
                  <a:srgbClr val="111827"/>
                </a:solidFill>
                <a:latin typeface="Albert Sans"/>
              </a:defRPr>
            </a:pPr>
            <a:r>
              <a:rPr i="0" sz="1500" b="0">
                <a:solidFill>
                  <a:srgbClr val="111827"/>
                </a:solidFill>
                <a:latin typeface="Albert Sans"/>
              </a:rPr>
              <a:t>Config Files</a:t>
            </a:r>
          </a:p>
        </p:txBody>
      </p:sp>
      <p:sp>
        <p:nvSpPr>
          <p:cNvPr id="14" name="TextBox 13"/>
          <p:cNvSpPr txBox="1"/>
          <p:nvPr/>
        </p:nvSpPr>
        <p:spPr>
          <a:xfrm>
            <a:off x="10116145" y="2581275"/>
            <a:ext cx="1713755" cy="28575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0000"/>
              </a:lnSpc>
              <a:defRPr i="0" sz="1500" b="0">
                <a:solidFill>
                  <a:srgbClr val="111827"/>
                </a:solidFill>
                <a:latin typeface="Albert Sans"/>
              </a:defRPr>
            </a:pPr>
            <a:r>
              <a:rPr i="0" sz="1500" b="0">
                <a:solidFill>
                  <a:srgbClr val="111827"/>
                </a:solidFill>
                <a:latin typeface="Albert Sans"/>
              </a:rPr>
              <a:t>Not Excel!</a:t>
            </a:r>
          </a:p>
        </p:txBody>
      </p:sp>
      <p:sp>
        <p:nvSpPr>
          <p:cNvPr id="15" name="TextBox 14"/>
          <p:cNvSpPr txBox="1"/>
          <p:nvPr/>
        </p:nvSpPr>
        <p:spPr>
          <a:xfrm>
            <a:off x="5050482" y="2581275"/>
            <a:ext cx="1713607" cy="28575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0000"/>
              </a:lnSpc>
              <a:defRPr i="0" sz="1500" b="0">
                <a:solidFill>
                  <a:srgbClr val="111827"/>
                </a:solidFill>
                <a:latin typeface="Albert Sans"/>
              </a:defRPr>
            </a:pPr>
            <a:r>
              <a:rPr i="0" sz="1500" b="0">
                <a:solidFill>
                  <a:srgbClr val="111827"/>
                </a:solidFill>
                <a:latin typeface="Albert Sans"/>
              </a:rPr>
              <a:t>CSV, JSON </a:t>
            </a:r>
            <a:r>
              <a:rPr i="0" sz="1500" b="0">
                <a:solidFill>
                  <a:srgbClr val="111827"/>
                </a:solidFill>
                <a:latin typeface="Albert Sans"/>
              </a:rPr>
              <a:t>&amp;</a:t>
            </a:r>
            <a:r>
              <a:rPr i="0" sz="1500" b="0">
                <a:solidFill>
                  <a:srgbClr val="111827"/>
                </a:solidFill>
                <a:latin typeface="Albert Sans"/>
              </a:rPr>
              <a:t> XML</a:t>
            </a:r>
          </a:p>
        </p:txBody>
      </p:sp>
      <p:sp>
        <p:nvSpPr>
          <p:cNvPr id="16" name="TextBox 15"/>
          <p:cNvSpPr txBox="1"/>
          <p:nvPr/>
        </p:nvSpPr>
        <p:spPr>
          <a:xfrm>
            <a:off x="457200" y="6353175"/>
            <a:ext cx="1348233" cy="200025"/>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0000"/>
              </a:lnSpc>
              <a:defRPr i="0" sz="1050" b="0">
                <a:solidFill>
                  <a:srgbClr val="6B7280"/>
                </a:solidFill>
                <a:latin typeface="Albert Sans"/>
              </a:defRPr>
            </a:pPr>
            <a:r>
              <a:rPr i="0" sz="1050" b="0">
                <a:solidFill>
                  <a:srgbClr val="6B7280"/>
                </a:solidFill>
                <a:latin typeface="Albert Sans"/>
              </a:rPr>
              <a:t>www.techwisdom.dev</a:t>
            </a:r>
          </a:p>
        </p:txBody>
      </p:sp>
      <p:sp>
        <p:nvSpPr>
          <p:cNvPr id="17" name="Rectangle 16"/>
          <p:cNvSpPr/>
          <p:nvPr/>
        </p:nvSpPr>
        <p:spPr>
          <a:xfrm rot="2700000">
            <a:off x="11595473" y="6223378"/>
            <a:ext cx="431052" cy="431043"/>
          </a:xfrm>
          <a:prstGeom prst="rect">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8" name="Rectangle 17"/>
          <p:cNvSpPr/>
          <p:nvPr/>
        </p:nvSpPr>
        <p:spPr>
          <a:xfrm>
            <a:off x="2014983" y="6443662"/>
            <a:ext cx="9719816" cy="19050"/>
          </a:xfrm>
          <a:prstGeom prst="rect">
            <a:avLst/>
          </a:prstGeom>
          <a:solidFill>
            <a:srgbClr val="E5E7EB"/>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9" name="Rounded Rectangle 18"/>
          <p:cNvSpPr/>
          <p:nvPr/>
        </p:nvSpPr>
        <p:spPr>
          <a:xfrm rot="2700000">
            <a:off x="433527" y="204927"/>
            <a:ext cx="161644" cy="161645"/>
          </a:xfrm>
          <a:prstGeom prst="roundRect">
            <a:avLst>
              <a:gd name="adj" fmla="val 23570"/>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57200" y="647700"/>
            <a:ext cx="4078932" cy="112008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84000"/>
              </a:lnSpc>
              <a:defRPr i="0" sz="4200" b="0">
                <a:solidFill>
                  <a:srgbClr val="111827"/>
                </a:solidFill>
                <a:latin typeface="Albert Sans"/>
              </a:defRPr>
            </a:pPr>
            <a:r>
              <a:rPr i="0" sz="4200" b="0">
                <a:solidFill>
                  <a:srgbClr val="111827"/>
                </a:solidFill>
                <a:latin typeface="Albert Sans"/>
              </a:rPr>
              <a:t>Caching:Memory Superheroes</a:t>
            </a:r>
          </a:p>
        </p:txBody>
      </p:sp>
      <p:pic>
        <p:nvPicPr>
          <p:cNvPr id="3" name="Picture 2" descr="409ede4d-0daa-4384-92ea-3b6ccb4060d5.png"/>
          <p:cNvPicPr>
            <a:picLocks noChangeAspect="1"/>
          </p:cNvPicPr>
          <p:nvPr/>
        </p:nvPicPr>
        <p:blipFill>
          <a:blip r:embed="rId2"/>
          <a:stretch>
            <a:fillRect/>
          </a:stretch>
        </p:blipFill>
        <p:spPr>
          <a:xfrm>
            <a:off x="4821882" y="2352675"/>
            <a:ext cx="2151757" cy="2087760"/>
          </a:xfrm>
          <a:prstGeom prst="rect">
            <a:avLst/>
          </a:prstGeom>
        </p:spPr>
      </p:pic>
      <p:pic>
        <p:nvPicPr>
          <p:cNvPr id="4" name="Picture 3" descr="4a132105-db91-4d5e-90ba-1bf6bf0704cf.png"/>
          <p:cNvPicPr>
            <a:picLocks noChangeAspect="1"/>
          </p:cNvPicPr>
          <p:nvPr/>
        </p:nvPicPr>
        <p:blipFill>
          <a:blip r:embed="rId3"/>
          <a:stretch>
            <a:fillRect/>
          </a:stretch>
        </p:blipFill>
        <p:spPr>
          <a:xfrm>
            <a:off x="7354639" y="2352675"/>
            <a:ext cx="2151905" cy="1861095"/>
          </a:xfrm>
          <a:prstGeom prst="rect">
            <a:avLst/>
          </a:prstGeom>
        </p:spPr>
      </p:pic>
      <p:pic>
        <p:nvPicPr>
          <p:cNvPr id="5" name="Picture 4" descr="3ba046f0-29b5-4419-80ee-0dd3e88895e3.png"/>
          <p:cNvPicPr>
            <a:picLocks noChangeAspect="1"/>
          </p:cNvPicPr>
          <p:nvPr/>
        </p:nvPicPr>
        <p:blipFill>
          <a:blip r:embed="rId4"/>
          <a:stretch>
            <a:fillRect/>
          </a:stretch>
        </p:blipFill>
        <p:spPr>
          <a:xfrm>
            <a:off x="7354639" y="647700"/>
            <a:ext cx="2151905" cy="1714500"/>
          </a:xfrm>
          <a:prstGeom prst="rect">
            <a:avLst/>
          </a:prstGeom>
        </p:spPr>
      </p:pic>
      <p:pic>
        <p:nvPicPr>
          <p:cNvPr id="6" name="Picture 5" descr="1a2823ce-b59a-4ffc-b865-748096e9a5d8.png"/>
          <p:cNvPicPr>
            <a:picLocks noChangeAspect="1"/>
          </p:cNvPicPr>
          <p:nvPr/>
        </p:nvPicPr>
        <p:blipFill>
          <a:blip r:embed="rId5"/>
          <a:stretch>
            <a:fillRect/>
          </a:stretch>
        </p:blipFill>
        <p:spPr>
          <a:xfrm>
            <a:off x="9887545" y="647700"/>
            <a:ext cx="2151905" cy="1714500"/>
          </a:xfrm>
          <a:prstGeom prst="rect">
            <a:avLst/>
          </a:prstGeom>
        </p:spPr>
      </p:pic>
      <p:pic>
        <p:nvPicPr>
          <p:cNvPr id="7" name="Picture 6" descr="6f582bc2-4ee1-42e6-8680-33ec5de27165.png"/>
          <p:cNvPicPr>
            <a:picLocks noChangeAspect="1"/>
          </p:cNvPicPr>
          <p:nvPr/>
        </p:nvPicPr>
        <p:blipFill>
          <a:blip r:embed="rId6"/>
          <a:stretch>
            <a:fillRect/>
          </a:stretch>
        </p:blipFill>
        <p:spPr>
          <a:xfrm>
            <a:off x="4821882" y="647700"/>
            <a:ext cx="2151757" cy="1714500"/>
          </a:xfrm>
          <a:prstGeom prst="rect">
            <a:avLst/>
          </a:prstGeom>
        </p:spPr>
      </p:pic>
      <p:pic>
        <p:nvPicPr>
          <p:cNvPr id="8" name="Picture 7" descr="03bcd8aa-d816-4ab0-b71f-30a3dd1a4267.png"/>
          <p:cNvPicPr>
            <a:picLocks noChangeAspect="1"/>
          </p:cNvPicPr>
          <p:nvPr/>
        </p:nvPicPr>
        <p:blipFill>
          <a:blip r:embed="rId7"/>
          <a:stretch>
            <a:fillRect/>
          </a:stretch>
        </p:blipFill>
        <p:spPr>
          <a:xfrm>
            <a:off x="9887545" y="2352675"/>
            <a:ext cx="2151905" cy="1575345"/>
          </a:xfrm>
          <a:prstGeom prst="rect">
            <a:avLst/>
          </a:prstGeom>
        </p:spPr>
      </p:pic>
      <p:sp>
        <p:nvSpPr>
          <p:cNvPr id="9" name="TextBox 8"/>
          <p:cNvSpPr txBox="1"/>
          <p:nvPr/>
        </p:nvSpPr>
        <p:spPr>
          <a:xfrm>
            <a:off x="457200" y="2072580"/>
            <a:ext cx="2876550" cy="82287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44000"/>
              </a:lnSpc>
              <a:defRPr i="0" sz="1200" b="0">
                <a:solidFill>
                  <a:srgbClr val="6B7280"/>
                </a:solidFill>
                <a:latin typeface="Albert Sans"/>
              </a:defRPr>
            </a:pPr>
            <a:r>
              <a:rPr i="0" sz="1200" b="0">
                <a:solidFill>
                  <a:srgbClr val="6B7280"/>
                </a:solidFill>
                <a:latin typeface="Albert Sans"/>
              </a:rPr>
              <a:t>Because waiting for databases is so 2023. Redis and Memcached save the day.</a:t>
            </a:r>
          </a:p>
        </p:txBody>
      </p:sp>
      <p:sp>
        <p:nvSpPr>
          <p:cNvPr id="10" name="TextBox 9"/>
          <p:cNvSpPr txBox="1"/>
          <p:nvPr/>
        </p:nvSpPr>
        <p:spPr>
          <a:xfrm>
            <a:off x="5050482" y="3267075"/>
            <a:ext cx="1713607" cy="90666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36000"/>
              </a:lnSpc>
              <a:defRPr i="0" sz="1050" b="0">
                <a:solidFill>
                  <a:srgbClr val="6B7280"/>
                </a:solidFill>
                <a:latin typeface="Albert Sans"/>
              </a:defRPr>
            </a:pPr>
            <a:r>
              <a:rPr i="0" sz="1050" b="0">
                <a:solidFill>
                  <a:srgbClr val="6B7280"/>
                </a:solidFill>
                <a:latin typeface="Albert Sans"/>
              </a:rPr>
              <a:t>The dynamic duo of in-memory caching. Faster than you can say 'database bottleneck'.</a:t>
            </a:r>
          </a:p>
        </p:txBody>
      </p:sp>
      <p:sp>
        <p:nvSpPr>
          <p:cNvPr id="11" name="TextBox 10"/>
          <p:cNvSpPr txBox="1"/>
          <p:nvPr/>
        </p:nvSpPr>
        <p:spPr>
          <a:xfrm>
            <a:off x="7583239" y="3267075"/>
            <a:ext cx="1713755" cy="679995"/>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36000"/>
              </a:lnSpc>
              <a:defRPr i="0" sz="1050" b="0">
                <a:solidFill>
                  <a:srgbClr val="6B7280"/>
                </a:solidFill>
                <a:latin typeface="Albert Sans"/>
              </a:defRPr>
            </a:pPr>
            <a:r>
              <a:rPr i="0" sz="1050" b="0">
                <a:solidFill>
                  <a:srgbClr val="6B7280"/>
                </a:solidFill>
                <a:latin typeface="Albert Sans"/>
              </a:rPr>
              <a:t>Sub-millisecond response times that even your users will notice.</a:t>
            </a:r>
          </a:p>
        </p:txBody>
      </p:sp>
      <p:sp>
        <p:nvSpPr>
          <p:cNvPr id="12" name="TextBox 11"/>
          <p:cNvSpPr txBox="1"/>
          <p:nvPr/>
        </p:nvSpPr>
        <p:spPr>
          <a:xfrm>
            <a:off x="10116145" y="2981325"/>
            <a:ext cx="1713755" cy="679995"/>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36000"/>
              </a:lnSpc>
              <a:defRPr i="0" sz="1050" b="0">
                <a:solidFill>
                  <a:srgbClr val="6B7280"/>
                </a:solidFill>
                <a:latin typeface="Albert Sans"/>
              </a:defRPr>
            </a:pPr>
            <a:r>
              <a:rPr i="0" sz="1050" b="0">
                <a:solidFill>
                  <a:srgbClr val="6B7280"/>
                </a:solidFill>
                <a:latin typeface="Albert Sans"/>
              </a:rPr>
              <a:t>The notorious 'one of two hard things.' Handle it with strategy, not sorcery.</a:t>
            </a:r>
          </a:p>
        </p:txBody>
      </p:sp>
      <p:sp>
        <p:nvSpPr>
          <p:cNvPr id="13" name="TextBox 12"/>
          <p:cNvSpPr txBox="1"/>
          <p:nvPr/>
        </p:nvSpPr>
        <p:spPr>
          <a:xfrm>
            <a:off x="7583239" y="2581275"/>
            <a:ext cx="1713755" cy="5715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0000"/>
              </a:lnSpc>
              <a:defRPr i="0" sz="1500" b="0">
                <a:solidFill>
                  <a:srgbClr val="111827"/>
                </a:solidFill>
                <a:latin typeface="Albert Sans"/>
              </a:defRPr>
            </a:pPr>
            <a:r>
              <a:rPr i="0" sz="1500" b="0">
                <a:solidFill>
                  <a:srgbClr val="111827"/>
                </a:solidFill>
                <a:latin typeface="Albert Sans"/>
              </a:rPr>
              <a:t>Faster Than DB Queries</a:t>
            </a:r>
          </a:p>
        </p:txBody>
      </p:sp>
      <p:sp>
        <p:nvSpPr>
          <p:cNvPr id="14" name="TextBox 13"/>
          <p:cNvSpPr txBox="1"/>
          <p:nvPr/>
        </p:nvSpPr>
        <p:spPr>
          <a:xfrm>
            <a:off x="5050482" y="2581275"/>
            <a:ext cx="1713607" cy="5715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0000"/>
              </a:lnSpc>
              <a:defRPr i="0" sz="1500" b="0">
                <a:solidFill>
                  <a:srgbClr val="111827"/>
                </a:solidFill>
                <a:latin typeface="Albert Sans"/>
              </a:defRPr>
            </a:pPr>
            <a:r>
              <a:rPr i="0" sz="1500" b="0">
                <a:solidFill>
                  <a:srgbClr val="111827"/>
                </a:solidFill>
                <a:latin typeface="Albert Sans"/>
              </a:rPr>
              <a:t>Redis </a:t>
            </a:r>
            <a:r>
              <a:rPr i="0" sz="1500" b="0">
                <a:solidFill>
                  <a:srgbClr val="111827"/>
                </a:solidFill>
                <a:latin typeface="Albert Sans"/>
              </a:rPr>
              <a:t>&amp;</a:t>
            </a:r>
            <a:r>
              <a:rPr i="0" sz="1500" b="0">
                <a:solidFill>
                  <a:srgbClr val="111827"/>
                </a:solidFill>
                <a:latin typeface="Albert Sans"/>
              </a:rPr>
              <a:t> Memcached</a:t>
            </a:r>
          </a:p>
        </p:txBody>
      </p:sp>
      <p:sp>
        <p:nvSpPr>
          <p:cNvPr id="15" name="TextBox 14"/>
          <p:cNvSpPr txBox="1"/>
          <p:nvPr/>
        </p:nvSpPr>
        <p:spPr>
          <a:xfrm>
            <a:off x="10116145" y="2581275"/>
            <a:ext cx="1713755" cy="28575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0000"/>
              </a:lnSpc>
              <a:defRPr i="0" sz="1500" b="0">
                <a:solidFill>
                  <a:srgbClr val="111827"/>
                </a:solidFill>
                <a:latin typeface="Albert Sans"/>
              </a:defRPr>
            </a:pPr>
            <a:r>
              <a:rPr i="0" sz="1500" b="0">
                <a:solidFill>
                  <a:srgbClr val="111827"/>
                </a:solidFill>
                <a:latin typeface="Albert Sans"/>
              </a:rPr>
              <a:t>Cache Invalidation</a:t>
            </a:r>
          </a:p>
        </p:txBody>
      </p:sp>
      <p:sp>
        <p:nvSpPr>
          <p:cNvPr id="16" name="TextBox 15"/>
          <p:cNvSpPr txBox="1"/>
          <p:nvPr/>
        </p:nvSpPr>
        <p:spPr>
          <a:xfrm>
            <a:off x="457200" y="6353175"/>
            <a:ext cx="1387226" cy="200025"/>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0000"/>
              </a:lnSpc>
              <a:defRPr i="0" sz="1050" b="0">
                <a:solidFill>
                  <a:srgbClr val="6B7280"/>
                </a:solidFill>
                <a:latin typeface="Albert Sans"/>
              </a:defRPr>
            </a:pPr>
            <a:r>
              <a:rPr i="0" sz="1050" b="0">
                <a:solidFill>
                  <a:srgbClr val="6B7280"/>
                </a:solidFill>
                <a:latin typeface="Albert Sans"/>
              </a:rPr>
              <a:t>www.cachespeed.com</a:t>
            </a:r>
          </a:p>
        </p:txBody>
      </p:sp>
      <p:sp>
        <p:nvSpPr>
          <p:cNvPr id="17" name="Rectangle 16"/>
          <p:cNvSpPr/>
          <p:nvPr/>
        </p:nvSpPr>
        <p:spPr>
          <a:xfrm rot="2700000">
            <a:off x="11595473" y="6223378"/>
            <a:ext cx="431052" cy="431043"/>
          </a:xfrm>
          <a:prstGeom prst="rect">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8" name="Rectangle 17"/>
          <p:cNvSpPr/>
          <p:nvPr/>
        </p:nvSpPr>
        <p:spPr>
          <a:xfrm>
            <a:off x="2053976" y="6443662"/>
            <a:ext cx="9680823" cy="19050"/>
          </a:xfrm>
          <a:prstGeom prst="rect">
            <a:avLst/>
          </a:prstGeom>
          <a:solidFill>
            <a:srgbClr val="E5E7EB"/>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9" name="Rounded Rectangle 18"/>
          <p:cNvSpPr/>
          <p:nvPr/>
        </p:nvSpPr>
        <p:spPr>
          <a:xfrm rot="2700000">
            <a:off x="433527" y="204927"/>
            <a:ext cx="161644" cy="161645"/>
          </a:xfrm>
          <a:prstGeom prst="roundRect">
            <a:avLst>
              <a:gd name="adj" fmla="val 23570"/>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57200" y="647700"/>
            <a:ext cx="4078932" cy="112008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84000"/>
              </a:lnSpc>
              <a:defRPr i="0" sz="4200" b="0">
                <a:solidFill>
                  <a:srgbClr val="111827"/>
                </a:solidFill>
                <a:latin typeface="Albert Sans"/>
              </a:defRPr>
            </a:pPr>
            <a:r>
              <a:rPr i="0" sz="4200" b="0">
                <a:solidFill>
                  <a:srgbClr val="111827"/>
                </a:solidFill>
                <a:latin typeface="Albert Sans"/>
              </a:rPr>
              <a:t>ORM:Blessing or Curse?</a:t>
            </a:r>
          </a:p>
        </p:txBody>
      </p:sp>
      <p:pic>
        <p:nvPicPr>
          <p:cNvPr id="3" name="Picture 2" descr="4146eafe-aa6f-4d91-98ad-e9e745807570.png"/>
          <p:cNvPicPr>
            <a:picLocks noChangeAspect="1"/>
          </p:cNvPicPr>
          <p:nvPr/>
        </p:nvPicPr>
        <p:blipFill>
          <a:blip r:embed="rId2"/>
          <a:stretch>
            <a:fillRect/>
          </a:stretch>
        </p:blipFill>
        <p:spPr>
          <a:xfrm>
            <a:off x="7354639" y="2352675"/>
            <a:ext cx="2151905" cy="1802010"/>
          </a:xfrm>
          <a:prstGeom prst="rect">
            <a:avLst/>
          </a:prstGeom>
        </p:spPr>
      </p:pic>
      <p:pic>
        <p:nvPicPr>
          <p:cNvPr id="4" name="Picture 3" descr="4146eafe-aa6f-4d91-98ad-e9e745807570.png"/>
          <p:cNvPicPr>
            <a:picLocks noChangeAspect="1"/>
          </p:cNvPicPr>
          <p:nvPr/>
        </p:nvPicPr>
        <p:blipFill>
          <a:blip r:embed="rId2"/>
          <a:stretch>
            <a:fillRect/>
          </a:stretch>
        </p:blipFill>
        <p:spPr>
          <a:xfrm>
            <a:off x="4821882" y="2352675"/>
            <a:ext cx="2151757" cy="1802010"/>
          </a:xfrm>
          <a:prstGeom prst="rect">
            <a:avLst/>
          </a:prstGeom>
        </p:spPr>
      </p:pic>
      <p:pic>
        <p:nvPicPr>
          <p:cNvPr id="5" name="Picture 4" descr="72835614-d666-4122-994a-f817927b1978.png"/>
          <p:cNvPicPr>
            <a:picLocks noChangeAspect="1"/>
          </p:cNvPicPr>
          <p:nvPr/>
        </p:nvPicPr>
        <p:blipFill>
          <a:blip r:embed="rId3"/>
          <a:stretch>
            <a:fillRect/>
          </a:stretch>
        </p:blipFill>
        <p:spPr>
          <a:xfrm>
            <a:off x="7354639" y="647700"/>
            <a:ext cx="2151905" cy="1714500"/>
          </a:xfrm>
          <a:prstGeom prst="rect">
            <a:avLst/>
          </a:prstGeom>
        </p:spPr>
      </p:pic>
      <p:pic>
        <p:nvPicPr>
          <p:cNvPr id="6" name="Picture 5" descr="30f16c6e-403e-4a7f-9f4c-0fa9e28c6819.png"/>
          <p:cNvPicPr>
            <a:picLocks noChangeAspect="1"/>
          </p:cNvPicPr>
          <p:nvPr/>
        </p:nvPicPr>
        <p:blipFill>
          <a:blip r:embed="rId4"/>
          <a:stretch>
            <a:fillRect/>
          </a:stretch>
        </p:blipFill>
        <p:spPr>
          <a:xfrm>
            <a:off x="9887545" y="647700"/>
            <a:ext cx="2151905" cy="1714500"/>
          </a:xfrm>
          <a:prstGeom prst="rect">
            <a:avLst/>
          </a:prstGeom>
        </p:spPr>
      </p:pic>
      <p:pic>
        <p:nvPicPr>
          <p:cNvPr id="7" name="Picture 6" descr="a9fc5685-5a83-4df4-94b7-97f8daaa47c2.png"/>
          <p:cNvPicPr>
            <a:picLocks noChangeAspect="1"/>
          </p:cNvPicPr>
          <p:nvPr/>
        </p:nvPicPr>
        <p:blipFill>
          <a:blip r:embed="rId5"/>
          <a:stretch>
            <a:fillRect/>
          </a:stretch>
        </p:blipFill>
        <p:spPr>
          <a:xfrm>
            <a:off x="4821882" y="647700"/>
            <a:ext cx="2151757" cy="1714500"/>
          </a:xfrm>
          <a:prstGeom prst="rect">
            <a:avLst/>
          </a:prstGeom>
        </p:spPr>
      </p:pic>
      <p:pic>
        <p:nvPicPr>
          <p:cNvPr id="8" name="Picture 7" descr="03bcd8aa-d816-4ab0-b71f-30a3dd1a4267.png"/>
          <p:cNvPicPr>
            <a:picLocks noChangeAspect="1"/>
          </p:cNvPicPr>
          <p:nvPr/>
        </p:nvPicPr>
        <p:blipFill>
          <a:blip r:embed="rId6"/>
          <a:stretch>
            <a:fillRect/>
          </a:stretch>
        </p:blipFill>
        <p:spPr>
          <a:xfrm>
            <a:off x="9887545" y="2352675"/>
            <a:ext cx="2151905" cy="1575345"/>
          </a:xfrm>
          <a:prstGeom prst="rect">
            <a:avLst/>
          </a:prstGeom>
        </p:spPr>
      </p:pic>
      <p:sp>
        <p:nvSpPr>
          <p:cNvPr id="9" name="TextBox 8"/>
          <p:cNvSpPr txBox="1"/>
          <p:nvPr/>
        </p:nvSpPr>
        <p:spPr>
          <a:xfrm>
            <a:off x="457200" y="2072580"/>
            <a:ext cx="2876550" cy="82287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44000"/>
              </a:lnSpc>
              <a:defRPr i="0" sz="1200" b="0">
                <a:solidFill>
                  <a:srgbClr val="6B7280"/>
                </a:solidFill>
                <a:latin typeface="Albert Sans"/>
              </a:defRPr>
            </a:pPr>
            <a:r>
              <a:rPr i="0" sz="1200" b="0">
                <a:solidFill>
                  <a:srgbClr val="6B7280"/>
                </a:solidFill>
                <a:latin typeface="Albert Sans"/>
              </a:rPr>
              <a:t>The lovechild of databases and programmer laziness—because typing SQL feels so 2005.</a:t>
            </a:r>
          </a:p>
        </p:txBody>
      </p:sp>
      <p:sp>
        <p:nvSpPr>
          <p:cNvPr id="10" name="TextBox 9"/>
          <p:cNvSpPr txBox="1"/>
          <p:nvPr/>
        </p:nvSpPr>
        <p:spPr>
          <a:xfrm>
            <a:off x="7583239" y="2981325"/>
            <a:ext cx="1713755" cy="90666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36000"/>
              </a:lnSpc>
              <a:defRPr i="0" sz="1050" b="0">
                <a:solidFill>
                  <a:srgbClr val="6B7280"/>
                </a:solidFill>
                <a:latin typeface="Albert Sans"/>
              </a:defRPr>
            </a:pPr>
            <a:r>
              <a:rPr i="0" sz="1050" b="0">
                <a:solidFill>
                  <a:srgbClr val="6B7280"/>
                </a:solidFill>
                <a:latin typeface="Albert Sans"/>
              </a:rPr>
              <a:t>Write less SQL! Feel productive! Pretend your DB is just a fancy spreadsheet!</a:t>
            </a:r>
          </a:p>
        </p:txBody>
      </p:sp>
      <p:sp>
        <p:nvSpPr>
          <p:cNvPr id="11" name="TextBox 10"/>
          <p:cNvSpPr txBox="1"/>
          <p:nvPr/>
        </p:nvSpPr>
        <p:spPr>
          <a:xfrm>
            <a:off x="5050482" y="2981325"/>
            <a:ext cx="1713607" cy="90666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36000"/>
              </a:lnSpc>
              <a:defRPr i="0" sz="1050" b="0">
                <a:solidFill>
                  <a:srgbClr val="6B7280"/>
                </a:solidFill>
                <a:latin typeface="Albert Sans"/>
              </a:defRPr>
            </a:pPr>
            <a:r>
              <a:rPr i="0" sz="1050" b="0">
                <a:solidFill>
                  <a:srgbClr val="6B7280"/>
                </a:solidFill>
                <a:latin typeface="Albert Sans"/>
              </a:rPr>
              <a:t>ORM turns tables into cuddly objects you can manipulate without SELECT statements.</a:t>
            </a:r>
          </a:p>
        </p:txBody>
      </p:sp>
      <p:sp>
        <p:nvSpPr>
          <p:cNvPr id="12" name="TextBox 11"/>
          <p:cNvSpPr txBox="1"/>
          <p:nvPr/>
        </p:nvSpPr>
        <p:spPr>
          <a:xfrm>
            <a:off x="10116145" y="2981325"/>
            <a:ext cx="1713755" cy="679995"/>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36000"/>
              </a:lnSpc>
              <a:defRPr i="0" sz="1050" b="0">
                <a:solidFill>
                  <a:srgbClr val="6B7280"/>
                </a:solidFill>
                <a:latin typeface="Albert Sans"/>
              </a:defRPr>
            </a:pPr>
            <a:r>
              <a:rPr i="0" sz="1050" b="0">
                <a:solidFill>
                  <a:srgbClr val="6B7280"/>
                </a:solidFill>
                <a:latin typeface="Albert Sans"/>
              </a:rPr>
              <a:t>Hidden N+1 queries, crumbling performance, magic that breaks at 3 AM.</a:t>
            </a:r>
          </a:p>
        </p:txBody>
      </p:sp>
      <p:sp>
        <p:nvSpPr>
          <p:cNvPr id="13" name="TextBox 12"/>
          <p:cNvSpPr txBox="1"/>
          <p:nvPr/>
        </p:nvSpPr>
        <p:spPr>
          <a:xfrm>
            <a:off x="7583239" y="2581275"/>
            <a:ext cx="1713755" cy="28575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0000"/>
              </a:lnSpc>
              <a:defRPr i="0" sz="1500" b="0">
                <a:solidFill>
                  <a:srgbClr val="111827"/>
                </a:solidFill>
                <a:latin typeface="Albert Sans"/>
              </a:defRPr>
            </a:pPr>
            <a:r>
              <a:rPr i="0" sz="1500" b="0">
                <a:solidFill>
                  <a:srgbClr val="111827"/>
                </a:solidFill>
                <a:latin typeface="Albert Sans"/>
              </a:rPr>
              <a:t>The Good Stuff</a:t>
            </a:r>
          </a:p>
        </p:txBody>
      </p:sp>
      <p:sp>
        <p:nvSpPr>
          <p:cNvPr id="14" name="TextBox 13"/>
          <p:cNvSpPr txBox="1"/>
          <p:nvPr/>
        </p:nvSpPr>
        <p:spPr>
          <a:xfrm>
            <a:off x="10116145" y="2581275"/>
            <a:ext cx="1713755" cy="28575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0000"/>
              </a:lnSpc>
              <a:defRPr i="0" sz="1500" b="0">
                <a:solidFill>
                  <a:srgbClr val="111827"/>
                </a:solidFill>
                <a:latin typeface="Albert Sans"/>
              </a:defRPr>
            </a:pPr>
            <a:r>
              <a:rPr i="0" sz="1500" b="0">
                <a:solidFill>
                  <a:srgbClr val="111827"/>
                </a:solidFill>
                <a:latin typeface="Albert Sans"/>
              </a:rPr>
              <a:t>The Plot Twists</a:t>
            </a:r>
          </a:p>
        </p:txBody>
      </p:sp>
      <p:sp>
        <p:nvSpPr>
          <p:cNvPr id="15" name="TextBox 14"/>
          <p:cNvSpPr txBox="1"/>
          <p:nvPr/>
        </p:nvSpPr>
        <p:spPr>
          <a:xfrm>
            <a:off x="5050482" y="2581275"/>
            <a:ext cx="1713607" cy="28575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0000"/>
              </a:lnSpc>
              <a:defRPr i="0" sz="1500" b="0">
                <a:solidFill>
                  <a:srgbClr val="111827"/>
                </a:solidFill>
                <a:latin typeface="Albert Sans"/>
              </a:defRPr>
            </a:pPr>
            <a:r>
              <a:rPr i="0" sz="1500" b="0">
                <a:solidFill>
                  <a:srgbClr val="111827"/>
                </a:solidFill>
                <a:latin typeface="Albert Sans"/>
              </a:rPr>
              <a:t>What Even Is It?</a:t>
            </a:r>
          </a:p>
        </p:txBody>
      </p:sp>
      <p:sp>
        <p:nvSpPr>
          <p:cNvPr id="16" name="TextBox 15"/>
          <p:cNvSpPr txBox="1"/>
          <p:nvPr/>
        </p:nvSpPr>
        <p:spPr>
          <a:xfrm>
            <a:off x="457200" y="6353175"/>
            <a:ext cx="1277689" cy="200025"/>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0000"/>
              </a:lnSpc>
              <a:defRPr i="0" sz="1050" b="0">
                <a:solidFill>
                  <a:srgbClr val="6B7280"/>
                </a:solidFill>
                <a:latin typeface="Albert Sans"/>
              </a:defRPr>
            </a:pPr>
            <a:r>
              <a:rPr i="0" sz="1050" b="0">
                <a:solidFill>
                  <a:srgbClr val="6B7280"/>
                </a:solidFill>
                <a:latin typeface="Albert Sans"/>
              </a:rPr>
              <a:t>www.ormdrama.com</a:t>
            </a:r>
          </a:p>
        </p:txBody>
      </p:sp>
      <p:sp>
        <p:nvSpPr>
          <p:cNvPr id="17" name="Rectangle 16"/>
          <p:cNvSpPr/>
          <p:nvPr/>
        </p:nvSpPr>
        <p:spPr>
          <a:xfrm>
            <a:off x="1944439" y="6443662"/>
            <a:ext cx="9790360" cy="19050"/>
          </a:xfrm>
          <a:prstGeom prst="rect">
            <a:avLst/>
          </a:prstGeom>
          <a:solidFill>
            <a:srgbClr val="E5E7EB"/>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8" name="Rectangle 17"/>
          <p:cNvSpPr/>
          <p:nvPr/>
        </p:nvSpPr>
        <p:spPr>
          <a:xfrm rot="2700000">
            <a:off x="11595473" y="6223378"/>
            <a:ext cx="431052" cy="431043"/>
          </a:xfrm>
          <a:prstGeom prst="rect">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9" name="Rounded Rectangle 18"/>
          <p:cNvSpPr/>
          <p:nvPr/>
        </p:nvSpPr>
        <p:spPr>
          <a:xfrm rot="2700000">
            <a:off x="433527" y="204927"/>
            <a:ext cx="161644" cy="161645"/>
          </a:xfrm>
          <a:prstGeom prst="roundRect">
            <a:avLst>
              <a:gd name="adj" fmla="val 23570"/>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57200" y="647700"/>
            <a:ext cx="4078932" cy="112008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84000"/>
              </a:lnSpc>
              <a:defRPr i="0" sz="4200" b="0">
                <a:solidFill>
                  <a:srgbClr val="111827"/>
                </a:solidFill>
                <a:latin typeface="Albert Sans"/>
              </a:defRPr>
            </a:pPr>
            <a:r>
              <a:rPr i="0" sz="4200" b="0">
                <a:solidFill>
                  <a:srgbClr val="111827"/>
                </a:solidFill>
                <a:latin typeface="Albert Sans"/>
              </a:rPr>
              <a:t>N+1 Query:The Nightmare</a:t>
            </a:r>
          </a:p>
        </p:txBody>
      </p:sp>
      <p:pic>
        <p:nvPicPr>
          <p:cNvPr id="3" name="Picture 2" descr="409ede4d-0daa-4384-92ea-3b6ccb4060d5.png"/>
          <p:cNvPicPr>
            <a:picLocks noChangeAspect="1"/>
          </p:cNvPicPr>
          <p:nvPr/>
        </p:nvPicPr>
        <p:blipFill>
          <a:blip r:embed="rId2"/>
          <a:stretch>
            <a:fillRect/>
          </a:stretch>
        </p:blipFill>
        <p:spPr>
          <a:xfrm>
            <a:off x="9887545" y="2352675"/>
            <a:ext cx="2151905" cy="2087760"/>
          </a:xfrm>
          <a:prstGeom prst="rect">
            <a:avLst/>
          </a:prstGeom>
        </p:spPr>
      </p:pic>
      <p:pic>
        <p:nvPicPr>
          <p:cNvPr id="4" name="Picture 3" descr="4146eafe-aa6f-4d91-98ad-e9e745807570.png"/>
          <p:cNvPicPr>
            <a:picLocks noChangeAspect="1"/>
          </p:cNvPicPr>
          <p:nvPr/>
        </p:nvPicPr>
        <p:blipFill>
          <a:blip r:embed="rId3"/>
          <a:stretch>
            <a:fillRect/>
          </a:stretch>
        </p:blipFill>
        <p:spPr>
          <a:xfrm>
            <a:off x="4821882" y="2352675"/>
            <a:ext cx="2151757" cy="1802010"/>
          </a:xfrm>
          <a:prstGeom prst="rect">
            <a:avLst/>
          </a:prstGeom>
        </p:spPr>
      </p:pic>
      <p:pic>
        <p:nvPicPr>
          <p:cNvPr id="5" name="Picture 4" descr="cbef958d-64f3-40cc-977a-eeb5cd96e73c.png"/>
          <p:cNvPicPr>
            <a:picLocks noChangeAspect="1"/>
          </p:cNvPicPr>
          <p:nvPr/>
        </p:nvPicPr>
        <p:blipFill>
          <a:blip r:embed="rId4"/>
          <a:stretch>
            <a:fillRect/>
          </a:stretch>
        </p:blipFill>
        <p:spPr>
          <a:xfrm>
            <a:off x="7354639" y="647700"/>
            <a:ext cx="2151905" cy="1714500"/>
          </a:xfrm>
          <a:prstGeom prst="rect">
            <a:avLst/>
          </a:prstGeom>
        </p:spPr>
      </p:pic>
      <p:pic>
        <p:nvPicPr>
          <p:cNvPr id="6" name="Picture 5" descr="d50b3cf6-0334-4f5b-9f37-08dfaa16354b.png"/>
          <p:cNvPicPr>
            <a:picLocks noChangeAspect="1"/>
          </p:cNvPicPr>
          <p:nvPr/>
        </p:nvPicPr>
        <p:blipFill>
          <a:blip r:embed="rId5"/>
          <a:stretch>
            <a:fillRect/>
          </a:stretch>
        </p:blipFill>
        <p:spPr>
          <a:xfrm>
            <a:off x="9887545" y="647700"/>
            <a:ext cx="2151905" cy="1714500"/>
          </a:xfrm>
          <a:prstGeom prst="rect">
            <a:avLst/>
          </a:prstGeom>
        </p:spPr>
      </p:pic>
      <p:pic>
        <p:nvPicPr>
          <p:cNvPr id="7" name="Picture 6" descr="a1e9627a-e850-4394-85dc-7d3ffa5c8991.png"/>
          <p:cNvPicPr>
            <a:picLocks noChangeAspect="1"/>
          </p:cNvPicPr>
          <p:nvPr/>
        </p:nvPicPr>
        <p:blipFill>
          <a:blip r:embed="rId6"/>
          <a:stretch>
            <a:fillRect/>
          </a:stretch>
        </p:blipFill>
        <p:spPr>
          <a:xfrm>
            <a:off x="4821882" y="647700"/>
            <a:ext cx="2151757" cy="1714500"/>
          </a:xfrm>
          <a:prstGeom prst="rect">
            <a:avLst/>
          </a:prstGeom>
        </p:spPr>
      </p:pic>
      <p:pic>
        <p:nvPicPr>
          <p:cNvPr id="8" name="Picture 7" descr="03bcd8aa-d816-4ab0-b71f-30a3dd1a4267.png"/>
          <p:cNvPicPr>
            <a:picLocks noChangeAspect="1"/>
          </p:cNvPicPr>
          <p:nvPr/>
        </p:nvPicPr>
        <p:blipFill>
          <a:blip r:embed="rId7"/>
          <a:stretch>
            <a:fillRect/>
          </a:stretch>
        </p:blipFill>
        <p:spPr>
          <a:xfrm>
            <a:off x="7354639" y="2352675"/>
            <a:ext cx="2151905" cy="1575345"/>
          </a:xfrm>
          <a:prstGeom prst="rect">
            <a:avLst/>
          </a:prstGeom>
        </p:spPr>
      </p:pic>
      <p:sp>
        <p:nvSpPr>
          <p:cNvPr id="9" name="TextBox 8"/>
          <p:cNvSpPr txBox="1"/>
          <p:nvPr/>
        </p:nvSpPr>
        <p:spPr>
          <a:xfrm>
            <a:off x="457200" y="2072580"/>
            <a:ext cx="2876550" cy="54858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44000"/>
              </a:lnSpc>
              <a:defRPr i="0" sz="1200" b="0">
                <a:solidFill>
                  <a:srgbClr val="6B7280"/>
                </a:solidFill>
                <a:latin typeface="Albert Sans"/>
              </a:defRPr>
            </a:pPr>
            <a:r>
              <a:rPr i="0" sz="1200" b="0">
                <a:solidFill>
                  <a:srgbClr val="6B7280"/>
                </a:solidFill>
                <a:latin typeface="Albert Sans"/>
              </a:rPr>
              <a:t>Your database is staging a protest. One query spawns hundreds more.</a:t>
            </a:r>
          </a:p>
        </p:txBody>
      </p:sp>
      <p:sp>
        <p:nvSpPr>
          <p:cNvPr id="10" name="TextBox 9"/>
          <p:cNvSpPr txBox="1"/>
          <p:nvPr/>
        </p:nvSpPr>
        <p:spPr>
          <a:xfrm>
            <a:off x="10116145" y="3267075"/>
            <a:ext cx="1713755" cy="90666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36000"/>
              </a:lnSpc>
              <a:defRPr i="0" sz="1050" b="0">
                <a:solidFill>
                  <a:srgbClr val="6B7280"/>
                </a:solidFill>
                <a:latin typeface="Albert Sans"/>
              </a:defRPr>
            </a:pPr>
            <a:r>
              <a:rPr i="0" sz="1050" b="0">
                <a:solidFill>
                  <a:srgbClr val="6B7280"/>
                </a:solidFill>
                <a:latin typeface="Albert Sans"/>
              </a:rPr>
              <a:t>Eager loading, proper JOINs, or 'accept your fate'—but try eager loading first.</a:t>
            </a:r>
          </a:p>
        </p:txBody>
      </p:sp>
      <p:sp>
        <p:nvSpPr>
          <p:cNvPr id="11" name="TextBox 10"/>
          <p:cNvSpPr txBox="1"/>
          <p:nvPr/>
        </p:nvSpPr>
        <p:spPr>
          <a:xfrm>
            <a:off x="5050482" y="2981325"/>
            <a:ext cx="1713607" cy="90666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36000"/>
              </a:lnSpc>
              <a:defRPr i="0" sz="1050" b="0">
                <a:solidFill>
                  <a:srgbClr val="6B7280"/>
                </a:solidFill>
                <a:latin typeface="Albert Sans"/>
              </a:defRPr>
            </a:pPr>
            <a:r>
              <a:rPr i="0" sz="1050" b="0">
                <a:solidFill>
                  <a:srgbClr val="6B7280"/>
                </a:solidFill>
                <a:latin typeface="Albert Sans"/>
              </a:rPr>
              <a:t>Fetch 100 users, query each one's posts separately. 101 queries when 2 would suffice.</a:t>
            </a:r>
          </a:p>
        </p:txBody>
      </p:sp>
      <p:sp>
        <p:nvSpPr>
          <p:cNvPr id="12" name="TextBox 11"/>
          <p:cNvSpPr txBox="1"/>
          <p:nvPr/>
        </p:nvSpPr>
        <p:spPr>
          <a:xfrm>
            <a:off x="7583239" y="2981325"/>
            <a:ext cx="1713755" cy="679995"/>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36000"/>
              </a:lnSpc>
              <a:defRPr i="0" sz="1050" b="0">
                <a:solidFill>
                  <a:srgbClr val="6B7280"/>
                </a:solidFill>
                <a:latin typeface="Albert Sans"/>
              </a:defRPr>
            </a:pPr>
            <a:r>
              <a:rPr i="0" sz="1050" b="0">
                <a:solidFill>
                  <a:srgbClr val="6B7280"/>
                </a:solidFill>
                <a:latin typeface="Albert Sans"/>
              </a:rPr>
              <a:t>N users = N+1 queries. Scale to 10,000 and watch your app crawl like dial-up.</a:t>
            </a:r>
          </a:p>
        </p:txBody>
      </p:sp>
      <p:sp>
        <p:nvSpPr>
          <p:cNvPr id="13" name="TextBox 12"/>
          <p:cNvSpPr txBox="1"/>
          <p:nvPr/>
        </p:nvSpPr>
        <p:spPr>
          <a:xfrm>
            <a:off x="10116145" y="2581275"/>
            <a:ext cx="1713755" cy="5715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0000"/>
              </a:lnSpc>
              <a:defRPr i="0" sz="1500" b="0">
                <a:solidFill>
                  <a:srgbClr val="111827"/>
                </a:solidFill>
                <a:latin typeface="Albert Sans"/>
              </a:defRPr>
            </a:pPr>
            <a:r>
              <a:rPr i="0" sz="1500" b="0">
                <a:solidFill>
                  <a:srgbClr val="111827"/>
                </a:solidFill>
                <a:latin typeface="Albert Sans"/>
              </a:rPr>
              <a:t>Solutions That Work</a:t>
            </a:r>
          </a:p>
        </p:txBody>
      </p:sp>
      <p:sp>
        <p:nvSpPr>
          <p:cNvPr id="14" name="TextBox 13"/>
          <p:cNvSpPr txBox="1"/>
          <p:nvPr/>
        </p:nvSpPr>
        <p:spPr>
          <a:xfrm>
            <a:off x="7583239" y="2581275"/>
            <a:ext cx="1713755" cy="28575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0000"/>
              </a:lnSpc>
              <a:defRPr i="0" sz="1500" b="0">
                <a:solidFill>
                  <a:srgbClr val="111827"/>
                </a:solidFill>
                <a:latin typeface="Albert Sans"/>
              </a:defRPr>
            </a:pPr>
            <a:r>
              <a:rPr i="0" sz="1500" b="0">
                <a:solidFill>
                  <a:srgbClr val="111827"/>
                </a:solidFill>
                <a:latin typeface="Albert Sans"/>
              </a:rPr>
              <a:t>The Brutal Math</a:t>
            </a:r>
          </a:p>
        </p:txBody>
      </p:sp>
      <p:sp>
        <p:nvSpPr>
          <p:cNvPr id="15" name="TextBox 14"/>
          <p:cNvSpPr txBox="1"/>
          <p:nvPr/>
        </p:nvSpPr>
        <p:spPr>
          <a:xfrm>
            <a:off x="5050482" y="2581275"/>
            <a:ext cx="1713607" cy="28575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0000"/>
              </a:lnSpc>
              <a:defRPr i="0" sz="1500" b="0">
                <a:solidFill>
                  <a:srgbClr val="111827"/>
                </a:solidFill>
                <a:latin typeface="Albert Sans"/>
              </a:defRPr>
            </a:pPr>
            <a:r>
              <a:rPr i="0" sz="1500" b="0">
                <a:solidFill>
                  <a:srgbClr val="111827"/>
                </a:solidFill>
                <a:latin typeface="Albert Sans"/>
              </a:rPr>
              <a:t>The N+1 Disaster</a:t>
            </a:r>
          </a:p>
        </p:txBody>
      </p:sp>
      <p:sp>
        <p:nvSpPr>
          <p:cNvPr id="16" name="TextBox 15"/>
          <p:cNvSpPr txBox="1"/>
          <p:nvPr/>
        </p:nvSpPr>
        <p:spPr>
          <a:xfrm>
            <a:off x="457200" y="6353175"/>
            <a:ext cx="1749921" cy="200025"/>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0000"/>
              </a:lnSpc>
              <a:defRPr i="0" sz="1050" b="0">
                <a:solidFill>
                  <a:srgbClr val="6B7280"/>
                </a:solidFill>
                <a:latin typeface="Albert Sans"/>
              </a:defRPr>
            </a:pPr>
            <a:r>
              <a:rPr i="0" sz="1050" b="0">
                <a:solidFill>
                  <a:srgbClr val="6B7280"/>
                </a:solidFill>
                <a:latin typeface="Albert Sans"/>
              </a:rPr>
              <a:t>www.queryoptimization.com</a:t>
            </a:r>
          </a:p>
        </p:txBody>
      </p:sp>
      <p:sp>
        <p:nvSpPr>
          <p:cNvPr id="17" name="Rectangle 16"/>
          <p:cNvSpPr/>
          <p:nvPr/>
        </p:nvSpPr>
        <p:spPr>
          <a:xfrm rot="2700000">
            <a:off x="11595473" y="6223378"/>
            <a:ext cx="431052" cy="431043"/>
          </a:xfrm>
          <a:prstGeom prst="rect">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8" name="Rectangle 17"/>
          <p:cNvSpPr/>
          <p:nvPr/>
        </p:nvSpPr>
        <p:spPr>
          <a:xfrm>
            <a:off x="2416671" y="6443662"/>
            <a:ext cx="9318128" cy="19050"/>
          </a:xfrm>
          <a:prstGeom prst="rect">
            <a:avLst/>
          </a:prstGeom>
          <a:solidFill>
            <a:srgbClr val="E5E7EB"/>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9" name="Rounded Rectangle 18"/>
          <p:cNvSpPr/>
          <p:nvPr/>
        </p:nvSpPr>
        <p:spPr>
          <a:xfrm rot="2700000">
            <a:off x="433527" y="204927"/>
            <a:ext cx="161644" cy="161645"/>
          </a:xfrm>
          <a:prstGeom prst="roundRect">
            <a:avLst>
              <a:gd name="adj" fmla="val 23570"/>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57200" y="647700"/>
            <a:ext cx="4078932" cy="168012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84000"/>
              </a:lnSpc>
              <a:defRPr i="0" sz="4200" b="0">
                <a:solidFill>
                  <a:srgbClr val="111827"/>
                </a:solidFill>
                <a:latin typeface="Albert Sans"/>
              </a:defRPr>
            </a:pPr>
            <a:r>
              <a:rPr i="0" sz="4200" b="0">
                <a:solidFill>
                  <a:srgbClr val="111827"/>
                </a:solidFill>
                <a:latin typeface="Albert Sans"/>
              </a:rPr>
              <a:t>Common Mistakes:Hall of Shame</a:t>
            </a:r>
          </a:p>
        </p:txBody>
      </p:sp>
      <p:pic>
        <p:nvPicPr>
          <p:cNvPr id="3" name="Picture 2" descr="409ede4d-0daa-4384-92ea-3b6ccb4060d5.png"/>
          <p:cNvPicPr>
            <a:picLocks noChangeAspect="1"/>
          </p:cNvPicPr>
          <p:nvPr/>
        </p:nvPicPr>
        <p:blipFill>
          <a:blip r:embed="rId2"/>
          <a:stretch>
            <a:fillRect/>
          </a:stretch>
        </p:blipFill>
        <p:spPr>
          <a:xfrm>
            <a:off x="4821882" y="2352675"/>
            <a:ext cx="2151757" cy="2087760"/>
          </a:xfrm>
          <a:prstGeom prst="rect">
            <a:avLst/>
          </a:prstGeom>
        </p:spPr>
      </p:pic>
      <p:pic>
        <p:nvPicPr>
          <p:cNvPr id="4" name="Picture 3" descr="44b04949-bafa-4474-ba67-9f691b47b122.png"/>
          <p:cNvPicPr>
            <a:picLocks noChangeAspect="1"/>
          </p:cNvPicPr>
          <p:nvPr/>
        </p:nvPicPr>
        <p:blipFill>
          <a:blip r:embed="rId3"/>
          <a:stretch>
            <a:fillRect/>
          </a:stretch>
        </p:blipFill>
        <p:spPr>
          <a:xfrm>
            <a:off x="7354639" y="647700"/>
            <a:ext cx="2151905" cy="1714500"/>
          </a:xfrm>
          <a:prstGeom prst="rect">
            <a:avLst/>
          </a:prstGeom>
        </p:spPr>
      </p:pic>
      <p:pic>
        <p:nvPicPr>
          <p:cNvPr id="5" name="Picture 4" descr="3d06d41b-c3f1-4eb8-9553-44dedb39194f.png"/>
          <p:cNvPicPr>
            <a:picLocks noChangeAspect="1"/>
          </p:cNvPicPr>
          <p:nvPr/>
        </p:nvPicPr>
        <p:blipFill>
          <a:blip r:embed="rId4"/>
          <a:stretch>
            <a:fillRect/>
          </a:stretch>
        </p:blipFill>
        <p:spPr>
          <a:xfrm>
            <a:off x="9887545" y="647700"/>
            <a:ext cx="2151905" cy="1714500"/>
          </a:xfrm>
          <a:prstGeom prst="rect">
            <a:avLst/>
          </a:prstGeom>
        </p:spPr>
      </p:pic>
      <p:pic>
        <p:nvPicPr>
          <p:cNvPr id="6" name="Picture 5" descr="eafac4c0-ff27-4158-a538-c2fd7e1fc0e6.png"/>
          <p:cNvPicPr>
            <a:picLocks noChangeAspect="1"/>
          </p:cNvPicPr>
          <p:nvPr/>
        </p:nvPicPr>
        <p:blipFill>
          <a:blip r:embed="rId5"/>
          <a:stretch>
            <a:fillRect/>
          </a:stretch>
        </p:blipFill>
        <p:spPr>
          <a:xfrm>
            <a:off x="4821882" y="647700"/>
            <a:ext cx="2151757" cy="1714500"/>
          </a:xfrm>
          <a:prstGeom prst="rect">
            <a:avLst/>
          </a:prstGeom>
        </p:spPr>
      </p:pic>
      <p:pic>
        <p:nvPicPr>
          <p:cNvPr id="7" name="Picture 6" descr="03bcd8aa-d816-4ab0-b71f-30a3dd1a4267.png"/>
          <p:cNvPicPr>
            <a:picLocks noChangeAspect="1"/>
          </p:cNvPicPr>
          <p:nvPr/>
        </p:nvPicPr>
        <p:blipFill>
          <a:blip r:embed="rId6"/>
          <a:stretch>
            <a:fillRect/>
          </a:stretch>
        </p:blipFill>
        <p:spPr>
          <a:xfrm>
            <a:off x="7354639" y="2352675"/>
            <a:ext cx="2151905" cy="1575345"/>
          </a:xfrm>
          <a:prstGeom prst="rect">
            <a:avLst/>
          </a:prstGeom>
        </p:spPr>
      </p:pic>
      <p:pic>
        <p:nvPicPr>
          <p:cNvPr id="8" name="Picture 7" descr="03bcd8aa-d816-4ab0-b71f-30a3dd1a4267.png"/>
          <p:cNvPicPr>
            <a:picLocks noChangeAspect="1"/>
          </p:cNvPicPr>
          <p:nvPr/>
        </p:nvPicPr>
        <p:blipFill>
          <a:blip r:embed="rId6"/>
          <a:stretch>
            <a:fillRect/>
          </a:stretch>
        </p:blipFill>
        <p:spPr>
          <a:xfrm>
            <a:off x="9887545" y="2352675"/>
            <a:ext cx="2151905" cy="1575345"/>
          </a:xfrm>
          <a:prstGeom prst="rect">
            <a:avLst/>
          </a:prstGeom>
        </p:spPr>
      </p:pic>
      <p:sp>
        <p:nvSpPr>
          <p:cNvPr id="9" name="TextBox 8"/>
          <p:cNvSpPr txBox="1"/>
          <p:nvPr/>
        </p:nvSpPr>
        <p:spPr>
          <a:xfrm>
            <a:off x="457200" y="2632620"/>
            <a:ext cx="2876550" cy="82287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44000"/>
              </a:lnSpc>
              <a:defRPr i="0" sz="1200" b="0">
                <a:solidFill>
                  <a:srgbClr val="6B7280"/>
                </a:solidFill>
                <a:latin typeface="Albert Sans"/>
              </a:defRPr>
            </a:pPr>
            <a:r>
              <a:rPr i="0" sz="1200" b="0">
                <a:solidFill>
                  <a:srgbClr val="6B7280"/>
                </a:solidFill>
                <a:latin typeface="Albert Sans"/>
              </a:rPr>
              <a:t>We asked developers to share their most embarrassing fails. Here are the greatest hits.</a:t>
            </a:r>
          </a:p>
        </p:txBody>
      </p:sp>
      <p:sp>
        <p:nvSpPr>
          <p:cNvPr id="10" name="TextBox 9"/>
          <p:cNvSpPr txBox="1"/>
          <p:nvPr/>
        </p:nvSpPr>
        <p:spPr>
          <a:xfrm>
            <a:off x="5050482" y="3267075"/>
            <a:ext cx="1713607" cy="90666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36000"/>
              </a:lnSpc>
              <a:defRPr i="0" sz="1050" b="0">
                <a:solidFill>
                  <a:srgbClr val="6B7280"/>
                </a:solidFill>
                <a:latin typeface="Albert Sans"/>
              </a:defRPr>
            </a:pPr>
            <a:r>
              <a:rPr i="0" sz="1050" b="0">
                <a:solidFill>
                  <a:srgbClr val="6B7280"/>
                </a:solidFill>
                <a:latin typeface="Albert Sans"/>
              </a:rPr>
              <a:t>Remember 2012? Neither do the hackers who exploited this classic blunder.</a:t>
            </a:r>
          </a:p>
        </p:txBody>
      </p:sp>
      <p:sp>
        <p:nvSpPr>
          <p:cNvPr id="11" name="TextBox 10"/>
          <p:cNvSpPr txBox="1"/>
          <p:nvPr/>
        </p:nvSpPr>
        <p:spPr>
          <a:xfrm>
            <a:off x="7583239" y="2981325"/>
            <a:ext cx="1713755" cy="679995"/>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36000"/>
              </a:lnSpc>
              <a:defRPr i="0" sz="1050" b="0">
                <a:solidFill>
                  <a:srgbClr val="6B7280"/>
                </a:solidFill>
                <a:latin typeface="Albert Sans"/>
              </a:defRPr>
            </a:pPr>
            <a:r>
              <a:rPr i="0" sz="1050" b="0">
                <a:solidFill>
                  <a:srgbClr val="6B7280"/>
                </a:solidFill>
                <a:latin typeface="Albert Sans"/>
              </a:rPr>
              <a:t>You will regret this the exact moment your server decides to retire.</a:t>
            </a:r>
          </a:p>
        </p:txBody>
      </p:sp>
      <p:sp>
        <p:nvSpPr>
          <p:cNvPr id="12" name="TextBox 11"/>
          <p:cNvSpPr txBox="1"/>
          <p:nvPr/>
        </p:nvSpPr>
        <p:spPr>
          <a:xfrm>
            <a:off x="10116145" y="2981325"/>
            <a:ext cx="1713755" cy="679995"/>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36000"/>
              </a:lnSpc>
              <a:defRPr i="0" sz="1050" b="0">
                <a:solidFill>
                  <a:srgbClr val="6B7280"/>
                </a:solidFill>
                <a:latin typeface="Albert Sans"/>
              </a:defRPr>
            </a:pPr>
            <a:r>
              <a:rPr i="0" sz="1050" b="0">
                <a:solidFill>
                  <a:srgbClr val="6B7280"/>
                </a:solidFill>
                <a:latin typeface="Albert Sans"/>
              </a:rPr>
              <a:t>Your queries now move at dial-up speed. In 2026. Congratulations.</a:t>
            </a:r>
          </a:p>
        </p:txBody>
      </p:sp>
      <p:sp>
        <p:nvSpPr>
          <p:cNvPr id="13" name="TextBox 12"/>
          <p:cNvSpPr txBox="1"/>
          <p:nvPr/>
        </p:nvSpPr>
        <p:spPr>
          <a:xfrm>
            <a:off x="5050482" y="2581275"/>
            <a:ext cx="1713607" cy="5715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0000"/>
              </a:lnSpc>
              <a:defRPr i="0" sz="1500" b="0">
                <a:solidFill>
                  <a:srgbClr val="111827"/>
                </a:solidFill>
                <a:latin typeface="Albert Sans"/>
              </a:defRPr>
            </a:pPr>
            <a:r>
              <a:rPr i="0" sz="1500" b="0">
                <a:solidFill>
                  <a:srgbClr val="111827"/>
                </a:solidFill>
                <a:latin typeface="Albert Sans"/>
              </a:rPr>
              <a:t>Plain Text Passwords</a:t>
            </a:r>
          </a:p>
        </p:txBody>
      </p:sp>
      <p:sp>
        <p:nvSpPr>
          <p:cNvPr id="14" name="TextBox 13"/>
          <p:cNvSpPr txBox="1"/>
          <p:nvPr/>
        </p:nvSpPr>
        <p:spPr>
          <a:xfrm>
            <a:off x="7583239" y="2581275"/>
            <a:ext cx="1713755" cy="28575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0000"/>
              </a:lnSpc>
              <a:defRPr i="0" sz="1500" b="0">
                <a:solidFill>
                  <a:srgbClr val="111827"/>
                </a:solidFill>
                <a:latin typeface="Albert Sans"/>
              </a:defRPr>
            </a:pPr>
            <a:r>
              <a:rPr i="0" sz="1500" b="0">
                <a:solidFill>
                  <a:srgbClr val="111827"/>
                </a:solidFill>
                <a:latin typeface="Albert Sans"/>
              </a:rPr>
              <a:t>No Backups</a:t>
            </a:r>
          </a:p>
        </p:txBody>
      </p:sp>
      <p:sp>
        <p:nvSpPr>
          <p:cNvPr id="15" name="TextBox 14"/>
          <p:cNvSpPr txBox="1"/>
          <p:nvPr/>
        </p:nvSpPr>
        <p:spPr>
          <a:xfrm>
            <a:off x="10116145" y="2581275"/>
            <a:ext cx="1713755" cy="28575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0000"/>
              </a:lnSpc>
              <a:defRPr i="0" sz="1500" b="0">
                <a:solidFill>
                  <a:srgbClr val="111827"/>
                </a:solidFill>
                <a:latin typeface="Albert Sans"/>
              </a:defRPr>
            </a:pPr>
            <a:r>
              <a:rPr i="0" sz="1500" b="0">
                <a:solidFill>
                  <a:srgbClr val="111827"/>
                </a:solidFill>
                <a:latin typeface="Albert Sans"/>
              </a:rPr>
              <a:t>Ignoring Indexes</a:t>
            </a:r>
          </a:p>
        </p:txBody>
      </p:sp>
      <p:sp>
        <p:nvSpPr>
          <p:cNvPr id="16" name="TextBox 15"/>
          <p:cNvSpPr txBox="1"/>
          <p:nvPr/>
        </p:nvSpPr>
        <p:spPr>
          <a:xfrm>
            <a:off x="457200" y="6353175"/>
            <a:ext cx="1805136" cy="200025"/>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0000"/>
              </a:lnSpc>
              <a:defRPr i="0" sz="1050" b="0">
                <a:solidFill>
                  <a:srgbClr val="6B7280"/>
                </a:solidFill>
                <a:latin typeface="Albert Sans"/>
              </a:defRPr>
            </a:pPr>
            <a:r>
              <a:rPr i="0" sz="1050" b="0">
                <a:solidFill>
                  <a:srgbClr val="6B7280"/>
                </a:solidFill>
                <a:latin typeface="Albert Sans"/>
              </a:rPr>
              <a:t>www.devshame.example.com</a:t>
            </a:r>
          </a:p>
        </p:txBody>
      </p:sp>
      <p:sp>
        <p:nvSpPr>
          <p:cNvPr id="17" name="Rectangle 16"/>
          <p:cNvSpPr/>
          <p:nvPr/>
        </p:nvSpPr>
        <p:spPr>
          <a:xfrm rot="2700000">
            <a:off x="11595473" y="6223378"/>
            <a:ext cx="431052" cy="431043"/>
          </a:xfrm>
          <a:prstGeom prst="rect">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8" name="Rectangle 17"/>
          <p:cNvSpPr/>
          <p:nvPr/>
        </p:nvSpPr>
        <p:spPr>
          <a:xfrm>
            <a:off x="2471886" y="6443662"/>
            <a:ext cx="9262913" cy="19050"/>
          </a:xfrm>
          <a:prstGeom prst="rect">
            <a:avLst/>
          </a:prstGeom>
          <a:solidFill>
            <a:srgbClr val="E5E7EB"/>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9" name="Rounded Rectangle 18"/>
          <p:cNvSpPr/>
          <p:nvPr/>
        </p:nvSpPr>
        <p:spPr>
          <a:xfrm rot="2700000">
            <a:off x="433527" y="204927"/>
            <a:ext cx="161644" cy="161645"/>
          </a:xfrm>
          <a:prstGeom prst="roundRect">
            <a:avLst>
              <a:gd name="adj" fmla="val 23570"/>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57200" y="647700"/>
            <a:ext cx="4078932" cy="168012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84000"/>
              </a:lnSpc>
              <a:defRPr i="0" sz="4200" b="0">
                <a:solidFill>
                  <a:srgbClr val="111827"/>
                </a:solidFill>
                <a:latin typeface="Albert Sans"/>
              </a:defRPr>
            </a:pPr>
            <a:r>
              <a:rPr i="0" sz="4200" b="0">
                <a:solidFill>
                  <a:srgbClr val="111827"/>
                </a:solidFill>
                <a:latin typeface="Albert Sans"/>
              </a:rPr>
              <a:t>Backup Strategies:Plan B, C, D</a:t>
            </a:r>
          </a:p>
        </p:txBody>
      </p:sp>
      <p:pic>
        <p:nvPicPr>
          <p:cNvPr id="3" name="Picture 2" descr="986965be-8ae0-4e8b-b28d-78ae8e3f81af.png"/>
          <p:cNvPicPr>
            <a:picLocks noChangeAspect="1"/>
          </p:cNvPicPr>
          <p:nvPr/>
        </p:nvPicPr>
        <p:blipFill>
          <a:blip r:embed="rId2"/>
          <a:stretch>
            <a:fillRect/>
          </a:stretch>
        </p:blipFill>
        <p:spPr>
          <a:xfrm>
            <a:off x="7354639" y="2352675"/>
            <a:ext cx="2151905" cy="1802010"/>
          </a:xfrm>
          <a:prstGeom prst="rect">
            <a:avLst/>
          </a:prstGeom>
        </p:spPr>
      </p:pic>
      <p:pic>
        <p:nvPicPr>
          <p:cNvPr id="4" name="Picture 3" descr="986965be-8ae0-4e8b-b28d-78ae8e3f81af.png"/>
          <p:cNvPicPr>
            <a:picLocks noChangeAspect="1"/>
          </p:cNvPicPr>
          <p:nvPr/>
        </p:nvPicPr>
        <p:blipFill>
          <a:blip r:embed="rId2"/>
          <a:stretch>
            <a:fillRect/>
          </a:stretch>
        </p:blipFill>
        <p:spPr>
          <a:xfrm>
            <a:off x="9887545" y="2352675"/>
            <a:ext cx="2151905" cy="1802010"/>
          </a:xfrm>
          <a:prstGeom prst="rect">
            <a:avLst/>
          </a:prstGeom>
        </p:spPr>
      </p:pic>
      <p:pic>
        <p:nvPicPr>
          <p:cNvPr id="5" name="Picture 4" descr="b3f4277c-4e9a-4e0a-8a1d-39232d9afb64.png"/>
          <p:cNvPicPr>
            <a:picLocks noChangeAspect="1"/>
          </p:cNvPicPr>
          <p:nvPr/>
        </p:nvPicPr>
        <p:blipFill>
          <a:blip r:embed="rId3"/>
          <a:stretch>
            <a:fillRect/>
          </a:stretch>
        </p:blipFill>
        <p:spPr>
          <a:xfrm>
            <a:off x="7354639" y="647700"/>
            <a:ext cx="2151905" cy="1714500"/>
          </a:xfrm>
          <a:prstGeom prst="rect">
            <a:avLst/>
          </a:prstGeom>
        </p:spPr>
      </p:pic>
      <p:pic>
        <p:nvPicPr>
          <p:cNvPr id="6" name="Picture 5" descr="0a37a858-e63c-4576-9a6b-9bcb9683440f.png"/>
          <p:cNvPicPr>
            <a:picLocks noChangeAspect="1"/>
          </p:cNvPicPr>
          <p:nvPr/>
        </p:nvPicPr>
        <p:blipFill>
          <a:blip r:embed="rId4"/>
          <a:stretch>
            <a:fillRect/>
          </a:stretch>
        </p:blipFill>
        <p:spPr>
          <a:xfrm>
            <a:off x="9887545" y="647700"/>
            <a:ext cx="2151905" cy="1714500"/>
          </a:xfrm>
          <a:prstGeom prst="rect">
            <a:avLst/>
          </a:prstGeom>
        </p:spPr>
      </p:pic>
      <p:pic>
        <p:nvPicPr>
          <p:cNvPr id="7" name="Picture 6" descr="44b04949-bafa-4474-ba67-9f691b47b122.png"/>
          <p:cNvPicPr>
            <a:picLocks noChangeAspect="1"/>
          </p:cNvPicPr>
          <p:nvPr/>
        </p:nvPicPr>
        <p:blipFill>
          <a:blip r:embed="rId5"/>
          <a:stretch>
            <a:fillRect/>
          </a:stretch>
        </p:blipFill>
        <p:spPr>
          <a:xfrm>
            <a:off x="4821882" y="647700"/>
            <a:ext cx="2151757" cy="1714500"/>
          </a:xfrm>
          <a:prstGeom prst="rect">
            <a:avLst/>
          </a:prstGeom>
        </p:spPr>
      </p:pic>
      <p:pic>
        <p:nvPicPr>
          <p:cNvPr id="8" name="Picture 7" descr="03bcd8aa-d816-4ab0-b71f-30a3dd1a4267.png"/>
          <p:cNvPicPr>
            <a:picLocks noChangeAspect="1"/>
          </p:cNvPicPr>
          <p:nvPr/>
        </p:nvPicPr>
        <p:blipFill>
          <a:blip r:embed="rId6"/>
          <a:stretch>
            <a:fillRect/>
          </a:stretch>
        </p:blipFill>
        <p:spPr>
          <a:xfrm>
            <a:off x="4821882" y="2352675"/>
            <a:ext cx="2151757" cy="1575345"/>
          </a:xfrm>
          <a:prstGeom prst="rect">
            <a:avLst/>
          </a:prstGeom>
        </p:spPr>
      </p:pic>
      <p:sp>
        <p:nvSpPr>
          <p:cNvPr id="9" name="TextBox 8"/>
          <p:cNvSpPr txBox="1"/>
          <p:nvPr/>
        </p:nvSpPr>
        <p:spPr>
          <a:xfrm>
            <a:off x="457200" y="2632620"/>
            <a:ext cx="2876550" cy="54858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44000"/>
              </a:lnSpc>
              <a:defRPr i="0" sz="1200" b="0">
                <a:solidFill>
                  <a:srgbClr val="6B7280"/>
                </a:solidFill>
                <a:latin typeface="Albert Sans"/>
              </a:defRPr>
            </a:pPr>
            <a:r>
              <a:rPr i="0" sz="1200" b="0">
                <a:solidFill>
                  <a:srgbClr val="6B7280"/>
                </a:solidFill>
                <a:latin typeface="Albert Sans"/>
              </a:rPr>
              <a:t>Your data's existence depends on having a plan B, C, and maybe D.</a:t>
            </a:r>
          </a:p>
        </p:txBody>
      </p:sp>
      <p:sp>
        <p:nvSpPr>
          <p:cNvPr id="10" name="TextBox 9"/>
          <p:cNvSpPr txBox="1"/>
          <p:nvPr/>
        </p:nvSpPr>
        <p:spPr>
          <a:xfrm>
            <a:off x="7583239" y="2981325"/>
            <a:ext cx="1713755" cy="90666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36000"/>
              </a:lnSpc>
              <a:defRPr i="0" sz="1050" b="0">
                <a:solidFill>
                  <a:srgbClr val="6B7280"/>
                </a:solidFill>
                <a:latin typeface="Albert Sans"/>
              </a:defRPr>
            </a:pPr>
            <a:r>
              <a:rPr i="0" sz="1050" b="0">
                <a:solidFill>
                  <a:srgbClr val="6B7280"/>
                </a:solidFill>
                <a:latin typeface="Albert Sans"/>
              </a:rPr>
              <a:t>Only backs up what changed. Efficient like learning only new dance moves.</a:t>
            </a:r>
          </a:p>
        </p:txBody>
      </p:sp>
      <p:sp>
        <p:nvSpPr>
          <p:cNvPr id="11" name="TextBox 10"/>
          <p:cNvSpPr txBox="1"/>
          <p:nvPr/>
        </p:nvSpPr>
        <p:spPr>
          <a:xfrm>
            <a:off x="10116145" y="2981325"/>
            <a:ext cx="1713755" cy="90666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36000"/>
              </a:lnSpc>
              <a:defRPr i="0" sz="1050" b="0">
                <a:solidFill>
                  <a:srgbClr val="6B7280"/>
                </a:solidFill>
                <a:latin typeface="Albert Sans"/>
              </a:defRPr>
            </a:pPr>
            <a:r>
              <a:rPr i="0" sz="1050" b="0">
                <a:solidFill>
                  <a:srgbClr val="6B7280"/>
                </a:solidFill>
                <a:latin typeface="Albert Sans"/>
              </a:rPr>
              <a:t>Captures changes since last full backup. The middle child—overlooked but useful.</a:t>
            </a:r>
          </a:p>
        </p:txBody>
      </p:sp>
      <p:sp>
        <p:nvSpPr>
          <p:cNvPr id="12" name="TextBox 11"/>
          <p:cNvSpPr txBox="1"/>
          <p:nvPr/>
        </p:nvSpPr>
        <p:spPr>
          <a:xfrm>
            <a:off x="5050482" y="2981325"/>
            <a:ext cx="1713607" cy="679995"/>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36000"/>
              </a:lnSpc>
              <a:defRPr i="0" sz="1050" b="0">
                <a:solidFill>
                  <a:srgbClr val="6B7280"/>
                </a:solidFill>
                <a:latin typeface="Albert Sans"/>
              </a:defRPr>
            </a:pPr>
            <a:r>
              <a:rPr i="0" sz="1050" b="0">
                <a:solidFill>
                  <a:srgbClr val="6B7280"/>
                </a:solidFill>
                <a:latin typeface="Albert Sans"/>
              </a:rPr>
              <a:t>Copying everything. Like photographing your entire closet. Slow but thorough.</a:t>
            </a:r>
          </a:p>
        </p:txBody>
      </p:sp>
      <p:sp>
        <p:nvSpPr>
          <p:cNvPr id="13" name="TextBox 12"/>
          <p:cNvSpPr txBox="1"/>
          <p:nvPr/>
        </p:nvSpPr>
        <p:spPr>
          <a:xfrm>
            <a:off x="7583239" y="2581275"/>
            <a:ext cx="1713755" cy="28575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0000"/>
              </a:lnSpc>
              <a:defRPr i="0" sz="1500" b="0">
                <a:solidFill>
                  <a:srgbClr val="111827"/>
                </a:solidFill>
                <a:latin typeface="Albert Sans"/>
              </a:defRPr>
            </a:pPr>
            <a:r>
              <a:rPr i="0" sz="1500" b="0">
                <a:solidFill>
                  <a:srgbClr val="111827"/>
                </a:solidFill>
                <a:latin typeface="Albert Sans"/>
              </a:rPr>
              <a:t>Incremental</a:t>
            </a:r>
          </a:p>
        </p:txBody>
      </p:sp>
      <p:sp>
        <p:nvSpPr>
          <p:cNvPr id="14" name="TextBox 13"/>
          <p:cNvSpPr txBox="1"/>
          <p:nvPr/>
        </p:nvSpPr>
        <p:spPr>
          <a:xfrm>
            <a:off x="10116145" y="2581275"/>
            <a:ext cx="1713755" cy="28575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0000"/>
              </a:lnSpc>
              <a:defRPr i="0" sz="1500" b="0">
                <a:solidFill>
                  <a:srgbClr val="111827"/>
                </a:solidFill>
                <a:latin typeface="Albert Sans"/>
              </a:defRPr>
            </a:pPr>
            <a:r>
              <a:rPr i="0" sz="1500" b="0">
                <a:solidFill>
                  <a:srgbClr val="111827"/>
                </a:solidFill>
                <a:latin typeface="Albert Sans"/>
              </a:rPr>
              <a:t>Differential</a:t>
            </a:r>
          </a:p>
        </p:txBody>
      </p:sp>
      <p:sp>
        <p:nvSpPr>
          <p:cNvPr id="15" name="TextBox 14"/>
          <p:cNvSpPr txBox="1"/>
          <p:nvPr/>
        </p:nvSpPr>
        <p:spPr>
          <a:xfrm>
            <a:off x="5050482" y="2581275"/>
            <a:ext cx="1713607" cy="28575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0000"/>
              </a:lnSpc>
              <a:defRPr i="0" sz="1500" b="0">
                <a:solidFill>
                  <a:srgbClr val="111827"/>
                </a:solidFill>
                <a:latin typeface="Albert Sans"/>
              </a:defRPr>
            </a:pPr>
            <a:r>
              <a:rPr i="0" sz="1500" b="0">
                <a:solidFill>
                  <a:srgbClr val="111827"/>
                </a:solidFill>
                <a:latin typeface="Albert Sans"/>
              </a:rPr>
              <a:t>Full Backup</a:t>
            </a:r>
          </a:p>
        </p:txBody>
      </p:sp>
      <p:sp>
        <p:nvSpPr>
          <p:cNvPr id="16" name="TextBox 15"/>
          <p:cNvSpPr txBox="1"/>
          <p:nvPr/>
        </p:nvSpPr>
        <p:spPr>
          <a:xfrm>
            <a:off x="457200" y="6353175"/>
            <a:ext cx="1519981" cy="200025"/>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0000"/>
              </a:lnSpc>
              <a:defRPr i="0" sz="1050" b="0">
                <a:solidFill>
                  <a:srgbClr val="6B7280"/>
                </a:solidFill>
                <a:latin typeface="Albert Sans"/>
              </a:defRPr>
            </a:pPr>
            <a:r>
              <a:rPr i="0" sz="1050" b="0">
                <a:solidFill>
                  <a:srgbClr val="6B7280"/>
                </a:solidFill>
                <a:latin typeface="Albert Sans"/>
              </a:rPr>
              <a:t>www.backupmaster.com</a:t>
            </a:r>
          </a:p>
        </p:txBody>
      </p:sp>
      <p:sp>
        <p:nvSpPr>
          <p:cNvPr id="17" name="Rectangle 16"/>
          <p:cNvSpPr/>
          <p:nvPr/>
        </p:nvSpPr>
        <p:spPr>
          <a:xfrm rot="2700000">
            <a:off x="11595473" y="6223378"/>
            <a:ext cx="431052" cy="431043"/>
          </a:xfrm>
          <a:prstGeom prst="rect">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8" name="Rectangle 17"/>
          <p:cNvSpPr/>
          <p:nvPr/>
        </p:nvSpPr>
        <p:spPr>
          <a:xfrm>
            <a:off x="2186731" y="6443662"/>
            <a:ext cx="9548068" cy="19050"/>
          </a:xfrm>
          <a:prstGeom prst="rect">
            <a:avLst/>
          </a:prstGeom>
          <a:solidFill>
            <a:srgbClr val="E5E7EB"/>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9" name="Rounded Rectangle 18"/>
          <p:cNvSpPr/>
          <p:nvPr/>
        </p:nvSpPr>
        <p:spPr>
          <a:xfrm rot="2700000">
            <a:off x="433527" y="204927"/>
            <a:ext cx="161644" cy="161645"/>
          </a:xfrm>
          <a:prstGeom prst="roundRect">
            <a:avLst>
              <a:gd name="adj" fmla="val 23570"/>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57200" y="647700"/>
            <a:ext cx="4078932" cy="168012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84000"/>
              </a:lnSpc>
              <a:defRPr i="0" sz="4200" b="0">
                <a:solidFill>
                  <a:srgbClr val="111827"/>
                </a:solidFill>
                <a:latin typeface="Albert Sans"/>
              </a:defRPr>
            </a:pPr>
            <a:r>
              <a:rPr i="0" sz="4200" b="0">
                <a:solidFill>
                  <a:srgbClr val="111827"/>
                </a:solidFill>
                <a:latin typeface="Albert Sans"/>
              </a:rPr>
              <a:t>Data Migration:The Relocation</a:t>
            </a:r>
          </a:p>
        </p:txBody>
      </p:sp>
      <p:pic>
        <p:nvPicPr>
          <p:cNvPr id="3" name="Picture 2" descr="ac0f46b9-6ffb-4ee9-9f4d-21b1d91a5887.png"/>
          <p:cNvPicPr>
            <a:picLocks noChangeAspect="1"/>
          </p:cNvPicPr>
          <p:nvPr/>
        </p:nvPicPr>
        <p:blipFill>
          <a:blip r:embed="rId2"/>
          <a:stretch>
            <a:fillRect/>
          </a:stretch>
        </p:blipFill>
        <p:spPr>
          <a:xfrm>
            <a:off x="4821882" y="2352675"/>
            <a:ext cx="2151757" cy="2028676"/>
          </a:xfrm>
          <a:prstGeom prst="rect">
            <a:avLst/>
          </a:prstGeom>
        </p:spPr>
      </p:pic>
      <p:pic>
        <p:nvPicPr>
          <p:cNvPr id="4" name="Picture 3" descr="4146eafe-aa6f-4d91-98ad-e9e745807570.png"/>
          <p:cNvPicPr>
            <a:picLocks noChangeAspect="1"/>
          </p:cNvPicPr>
          <p:nvPr/>
        </p:nvPicPr>
        <p:blipFill>
          <a:blip r:embed="rId3"/>
          <a:stretch>
            <a:fillRect/>
          </a:stretch>
        </p:blipFill>
        <p:spPr>
          <a:xfrm>
            <a:off x="7354639" y="2352675"/>
            <a:ext cx="2151905" cy="1802010"/>
          </a:xfrm>
          <a:prstGeom prst="rect">
            <a:avLst/>
          </a:prstGeom>
        </p:spPr>
      </p:pic>
      <p:pic>
        <p:nvPicPr>
          <p:cNvPr id="5" name="Picture 4" descr="4146eafe-aa6f-4d91-98ad-e9e745807570.png"/>
          <p:cNvPicPr>
            <a:picLocks noChangeAspect="1"/>
          </p:cNvPicPr>
          <p:nvPr/>
        </p:nvPicPr>
        <p:blipFill>
          <a:blip r:embed="rId3"/>
          <a:stretch>
            <a:fillRect/>
          </a:stretch>
        </p:blipFill>
        <p:spPr>
          <a:xfrm>
            <a:off x="9887545" y="2352675"/>
            <a:ext cx="2151905" cy="1802010"/>
          </a:xfrm>
          <a:prstGeom prst="rect">
            <a:avLst/>
          </a:prstGeom>
        </p:spPr>
      </p:pic>
      <p:pic>
        <p:nvPicPr>
          <p:cNvPr id="6" name="Picture 5" descr="a2a3fc2c-2c1d-4cce-8e1a-3f34662ab392.png"/>
          <p:cNvPicPr>
            <a:picLocks noChangeAspect="1"/>
          </p:cNvPicPr>
          <p:nvPr/>
        </p:nvPicPr>
        <p:blipFill>
          <a:blip r:embed="rId4"/>
          <a:stretch>
            <a:fillRect/>
          </a:stretch>
        </p:blipFill>
        <p:spPr>
          <a:xfrm>
            <a:off x="7354639" y="647700"/>
            <a:ext cx="2151905" cy="1714500"/>
          </a:xfrm>
          <a:prstGeom prst="rect">
            <a:avLst/>
          </a:prstGeom>
        </p:spPr>
      </p:pic>
      <p:pic>
        <p:nvPicPr>
          <p:cNvPr id="7" name="Picture 6" descr="aba28c13-ddac-4167-a258-2425ddfc665f.png"/>
          <p:cNvPicPr>
            <a:picLocks noChangeAspect="1"/>
          </p:cNvPicPr>
          <p:nvPr/>
        </p:nvPicPr>
        <p:blipFill>
          <a:blip r:embed="rId5"/>
          <a:stretch>
            <a:fillRect/>
          </a:stretch>
        </p:blipFill>
        <p:spPr>
          <a:xfrm>
            <a:off x="9887545" y="647700"/>
            <a:ext cx="2151905" cy="1714500"/>
          </a:xfrm>
          <a:prstGeom prst="rect">
            <a:avLst/>
          </a:prstGeom>
        </p:spPr>
      </p:pic>
      <p:pic>
        <p:nvPicPr>
          <p:cNvPr id="8" name="Picture 7" descr="f3c99021-b3fd-42aa-8070-c385ffe225d8.png"/>
          <p:cNvPicPr>
            <a:picLocks noChangeAspect="1"/>
          </p:cNvPicPr>
          <p:nvPr/>
        </p:nvPicPr>
        <p:blipFill>
          <a:blip r:embed="rId6"/>
          <a:stretch>
            <a:fillRect/>
          </a:stretch>
        </p:blipFill>
        <p:spPr>
          <a:xfrm>
            <a:off x="4821882" y="647700"/>
            <a:ext cx="2151757" cy="1714500"/>
          </a:xfrm>
          <a:prstGeom prst="rect">
            <a:avLst/>
          </a:prstGeom>
        </p:spPr>
      </p:pic>
      <p:sp>
        <p:nvSpPr>
          <p:cNvPr id="9" name="TextBox 8"/>
          <p:cNvSpPr txBox="1"/>
          <p:nvPr/>
        </p:nvSpPr>
        <p:spPr>
          <a:xfrm>
            <a:off x="457200" y="2632620"/>
            <a:ext cx="2876550" cy="82287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44000"/>
              </a:lnSpc>
              <a:defRPr i="0" sz="1200" b="0">
                <a:solidFill>
                  <a:srgbClr val="6B7280"/>
                </a:solidFill>
                <a:latin typeface="Albert Sans"/>
              </a:defRPr>
            </a:pPr>
            <a:r>
              <a:rPr i="0" sz="1200" b="0">
                <a:solidFill>
                  <a:srgbClr val="6B7280"/>
                </a:solidFill>
                <a:latin typeface="Albert Sans"/>
              </a:rPr>
              <a:t>Moving data is like moving houses, except furniture doesn't have null pointers.</a:t>
            </a:r>
          </a:p>
        </p:txBody>
      </p:sp>
      <p:sp>
        <p:nvSpPr>
          <p:cNvPr id="10" name="TextBox 9"/>
          <p:cNvSpPr txBox="1"/>
          <p:nvPr/>
        </p:nvSpPr>
        <p:spPr>
          <a:xfrm>
            <a:off x="5050482" y="2981325"/>
            <a:ext cx="1713607" cy="1133326"/>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36000"/>
              </a:lnSpc>
              <a:defRPr i="0" sz="1050" b="0">
                <a:solidFill>
                  <a:srgbClr val="6B7280"/>
                </a:solidFill>
                <a:latin typeface="Albert Sans"/>
              </a:defRPr>
            </a:pPr>
            <a:r>
              <a:rPr i="0" sz="1050" b="0">
                <a:solidFill>
                  <a:srgbClr val="6B7280"/>
                </a:solidFill>
                <a:latin typeface="Albert Sans"/>
              </a:rPr>
              <a:t>Always write rollback scripts. Because when migrations go sideways at 4 AM, you'll want an escape route.</a:t>
            </a:r>
          </a:p>
        </p:txBody>
      </p:sp>
      <p:sp>
        <p:nvSpPr>
          <p:cNvPr id="11" name="TextBox 10"/>
          <p:cNvSpPr txBox="1"/>
          <p:nvPr/>
        </p:nvSpPr>
        <p:spPr>
          <a:xfrm>
            <a:off x="7583239" y="2981325"/>
            <a:ext cx="1713755" cy="90666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36000"/>
              </a:lnSpc>
              <a:defRPr i="0" sz="1050" b="0">
                <a:solidFill>
                  <a:srgbClr val="6B7280"/>
                </a:solidFill>
                <a:latin typeface="Albert Sans"/>
              </a:defRPr>
            </a:pPr>
            <a:r>
              <a:rPr i="0" sz="1050" b="0">
                <a:solidFill>
                  <a:srgbClr val="6B7280"/>
                </a:solidFill>
                <a:latin typeface="Albert Sans"/>
              </a:rPr>
              <a:t>Test everything in staging first. Production is where bugs become career-defining moments.</a:t>
            </a:r>
          </a:p>
        </p:txBody>
      </p:sp>
      <p:sp>
        <p:nvSpPr>
          <p:cNvPr id="12" name="TextBox 11"/>
          <p:cNvSpPr txBox="1"/>
          <p:nvPr/>
        </p:nvSpPr>
        <p:spPr>
          <a:xfrm>
            <a:off x="10116145" y="2981325"/>
            <a:ext cx="1713755" cy="90666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36000"/>
              </a:lnSpc>
              <a:defRPr i="0" sz="1050" b="0">
                <a:solidFill>
                  <a:srgbClr val="6B7280"/>
                </a:solidFill>
                <a:latin typeface="Albert Sans"/>
              </a:defRPr>
            </a:pPr>
            <a:r>
              <a:rPr i="0" sz="1050" b="0">
                <a:solidFill>
                  <a:srgbClr val="6B7280"/>
                </a:solidFill>
                <a:latin typeface="Albert Sans"/>
              </a:rPr>
              <a:t>Run migrations at 3 AM. The data engineer's version of doing dishes when no one's watching.</a:t>
            </a:r>
          </a:p>
        </p:txBody>
      </p:sp>
      <p:sp>
        <p:nvSpPr>
          <p:cNvPr id="13" name="TextBox 12"/>
          <p:cNvSpPr txBox="1"/>
          <p:nvPr/>
        </p:nvSpPr>
        <p:spPr>
          <a:xfrm>
            <a:off x="7583239" y="2581275"/>
            <a:ext cx="1713755" cy="28575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0000"/>
              </a:lnSpc>
              <a:defRPr i="0" sz="1500" b="0">
                <a:solidFill>
                  <a:srgbClr val="111827"/>
                </a:solidFill>
                <a:latin typeface="Albert Sans"/>
              </a:defRPr>
            </a:pPr>
            <a:r>
              <a:rPr i="0" sz="1500" b="0">
                <a:solidFill>
                  <a:srgbClr val="111827"/>
                </a:solidFill>
                <a:latin typeface="Albert Sans"/>
              </a:rPr>
              <a:t>Staging First</a:t>
            </a:r>
          </a:p>
        </p:txBody>
      </p:sp>
      <p:sp>
        <p:nvSpPr>
          <p:cNvPr id="14" name="TextBox 13"/>
          <p:cNvSpPr txBox="1"/>
          <p:nvPr/>
        </p:nvSpPr>
        <p:spPr>
          <a:xfrm>
            <a:off x="10116145" y="2581275"/>
            <a:ext cx="1713755" cy="28575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0000"/>
              </a:lnSpc>
              <a:defRPr i="0" sz="1500" b="0">
                <a:solidFill>
                  <a:srgbClr val="111827"/>
                </a:solidFill>
                <a:latin typeface="Albert Sans"/>
              </a:defRPr>
            </a:pPr>
            <a:r>
              <a:rPr i="0" sz="1500" b="0">
                <a:solidFill>
                  <a:srgbClr val="111827"/>
                </a:solidFill>
                <a:latin typeface="Albert Sans"/>
              </a:rPr>
              <a:t>Low Traffic Timing</a:t>
            </a:r>
          </a:p>
        </p:txBody>
      </p:sp>
      <p:sp>
        <p:nvSpPr>
          <p:cNvPr id="15" name="TextBox 14"/>
          <p:cNvSpPr txBox="1"/>
          <p:nvPr/>
        </p:nvSpPr>
        <p:spPr>
          <a:xfrm>
            <a:off x="5050482" y="2581275"/>
            <a:ext cx="1713607" cy="28575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0000"/>
              </a:lnSpc>
              <a:defRPr i="0" sz="1500" b="0">
                <a:solidFill>
                  <a:srgbClr val="111827"/>
                </a:solidFill>
                <a:latin typeface="Albert Sans"/>
              </a:defRPr>
            </a:pPr>
            <a:r>
              <a:rPr i="0" sz="1500" b="0">
                <a:solidFill>
                  <a:srgbClr val="111827"/>
                </a:solidFill>
                <a:latin typeface="Albert Sans"/>
              </a:rPr>
              <a:t>Make It Reversible</a:t>
            </a:r>
          </a:p>
        </p:txBody>
      </p:sp>
      <p:sp>
        <p:nvSpPr>
          <p:cNvPr id="16" name="TextBox 15"/>
          <p:cNvSpPr txBox="1"/>
          <p:nvPr/>
        </p:nvSpPr>
        <p:spPr>
          <a:xfrm>
            <a:off x="457200" y="6353175"/>
            <a:ext cx="1499145" cy="200025"/>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0000"/>
              </a:lnSpc>
              <a:defRPr i="0" sz="1050" b="0">
                <a:solidFill>
                  <a:srgbClr val="6B7280"/>
                </a:solidFill>
                <a:latin typeface="Albert Sans"/>
              </a:defRPr>
            </a:pPr>
            <a:r>
              <a:rPr i="0" sz="1050" b="0">
                <a:solidFill>
                  <a:srgbClr val="6B7280"/>
                </a:solidFill>
                <a:latin typeface="Albert Sans"/>
              </a:rPr>
              <a:t>www.datamigration.com</a:t>
            </a:r>
          </a:p>
        </p:txBody>
      </p:sp>
      <p:sp>
        <p:nvSpPr>
          <p:cNvPr id="17" name="Rectangle 16"/>
          <p:cNvSpPr/>
          <p:nvPr/>
        </p:nvSpPr>
        <p:spPr>
          <a:xfrm rot="2700000">
            <a:off x="11595473" y="6223378"/>
            <a:ext cx="431052" cy="431043"/>
          </a:xfrm>
          <a:prstGeom prst="rect">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8" name="Rectangle 17"/>
          <p:cNvSpPr/>
          <p:nvPr/>
        </p:nvSpPr>
        <p:spPr>
          <a:xfrm>
            <a:off x="2165895" y="6443662"/>
            <a:ext cx="9568904" cy="19050"/>
          </a:xfrm>
          <a:prstGeom prst="rect">
            <a:avLst/>
          </a:prstGeom>
          <a:solidFill>
            <a:srgbClr val="E5E7EB"/>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9" name="Rounded Rectangle 18"/>
          <p:cNvSpPr/>
          <p:nvPr/>
        </p:nvSpPr>
        <p:spPr>
          <a:xfrm rot="2700000">
            <a:off x="433527" y="204927"/>
            <a:ext cx="161644" cy="161645"/>
          </a:xfrm>
          <a:prstGeom prst="roundRect">
            <a:avLst>
              <a:gd name="adj" fmla="val 23570"/>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57200" y="647700"/>
            <a:ext cx="4078932" cy="112008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84000"/>
              </a:lnSpc>
              <a:defRPr i="0" sz="4200" b="0">
                <a:solidFill>
                  <a:srgbClr val="111827"/>
                </a:solidFill>
                <a:latin typeface="Albert Sans"/>
              </a:defRPr>
            </a:pPr>
            <a:r>
              <a:rPr i="0" sz="4200" b="0">
                <a:solidFill>
                  <a:srgbClr val="111827"/>
                </a:solidFill>
                <a:latin typeface="Albert Sans"/>
              </a:rPr>
              <a:t>Keep Your DatabaseHappy</a:t>
            </a:r>
          </a:p>
        </p:txBody>
      </p:sp>
      <p:pic>
        <p:nvPicPr>
          <p:cNvPr id="3" name="Picture 2" descr="409ede4d-0daa-4384-92ea-3b6ccb4060d5.png"/>
          <p:cNvPicPr>
            <a:picLocks noChangeAspect="1"/>
          </p:cNvPicPr>
          <p:nvPr/>
        </p:nvPicPr>
        <p:blipFill>
          <a:blip r:embed="rId2"/>
          <a:stretch>
            <a:fillRect/>
          </a:stretch>
        </p:blipFill>
        <p:spPr>
          <a:xfrm>
            <a:off x="4821882" y="2352675"/>
            <a:ext cx="2151757" cy="2087760"/>
          </a:xfrm>
          <a:prstGeom prst="rect">
            <a:avLst/>
          </a:prstGeom>
        </p:spPr>
      </p:pic>
      <p:pic>
        <p:nvPicPr>
          <p:cNvPr id="4" name="Picture 3" descr="4146eafe-aa6f-4d91-98ad-e9e745807570.png"/>
          <p:cNvPicPr>
            <a:picLocks noChangeAspect="1"/>
          </p:cNvPicPr>
          <p:nvPr/>
        </p:nvPicPr>
        <p:blipFill>
          <a:blip r:embed="rId3"/>
          <a:stretch>
            <a:fillRect/>
          </a:stretch>
        </p:blipFill>
        <p:spPr>
          <a:xfrm>
            <a:off x="7354639" y="2352675"/>
            <a:ext cx="2151905" cy="1802010"/>
          </a:xfrm>
          <a:prstGeom prst="rect">
            <a:avLst/>
          </a:prstGeom>
        </p:spPr>
      </p:pic>
      <p:pic>
        <p:nvPicPr>
          <p:cNvPr id="5" name="Picture 4" descr="fb50543b-2260-4e71-aa9c-a1ab51cc5cc8.png"/>
          <p:cNvPicPr>
            <a:picLocks noChangeAspect="1"/>
          </p:cNvPicPr>
          <p:nvPr/>
        </p:nvPicPr>
        <p:blipFill>
          <a:blip r:embed="rId4"/>
          <a:stretch>
            <a:fillRect/>
          </a:stretch>
        </p:blipFill>
        <p:spPr>
          <a:xfrm>
            <a:off x="7354639" y="647700"/>
            <a:ext cx="2151905" cy="1714500"/>
          </a:xfrm>
          <a:prstGeom prst="rect">
            <a:avLst/>
          </a:prstGeom>
        </p:spPr>
      </p:pic>
      <p:pic>
        <p:nvPicPr>
          <p:cNvPr id="6" name="Picture 5" descr="37034feb-3a60-46ff-8c38-b2096b2e3445.png"/>
          <p:cNvPicPr>
            <a:picLocks noChangeAspect="1"/>
          </p:cNvPicPr>
          <p:nvPr/>
        </p:nvPicPr>
        <p:blipFill>
          <a:blip r:embed="rId5"/>
          <a:stretch>
            <a:fillRect/>
          </a:stretch>
        </p:blipFill>
        <p:spPr>
          <a:xfrm>
            <a:off x="9887545" y="647700"/>
            <a:ext cx="2151905" cy="1714500"/>
          </a:xfrm>
          <a:prstGeom prst="rect">
            <a:avLst/>
          </a:prstGeom>
        </p:spPr>
      </p:pic>
      <p:pic>
        <p:nvPicPr>
          <p:cNvPr id="7" name="Picture 6" descr="d6178937-9bae-4f9b-b8e2-f5d339ce17f2.png"/>
          <p:cNvPicPr>
            <a:picLocks noChangeAspect="1"/>
          </p:cNvPicPr>
          <p:nvPr/>
        </p:nvPicPr>
        <p:blipFill>
          <a:blip r:embed="rId6"/>
          <a:stretch>
            <a:fillRect/>
          </a:stretch>
        </p:blipFill>
        <p:spPr>
          <a:xfrm>
            <a:off x="4821882" y="647700"/>
            <a:ext cx="2151757" cy="1714500"/>
          </a:xfrm>
          <a:prstGeom prst="rect">
            <a:avLst/>
          </a:prstGeom>
        </p:spPr>
      </p:pic>
      <p:pic>
        <p:nvPicPr>
          <p:cNvPr id="8" name="Picture 7" descr="03bcd8aa-d816-4ab0-b71f-30a3dd1a4267.png"/>
          <p:cNvPicPr>
            <a:picLocks noChangeAspect="1"/>
          </p:cNvPicPr>
          <p:nvPr/>
        </p:nvPicPr>
        <p:blipFill>
          <a:blip r:embed="rId7"/>
          <a:stretch>
            <a:fillRect/>
          </a:stretch>
        </p:blipFill>
        <p:spPr>
          <a:xfrm>
            <a:off x="9887545" y="2352675"/>
            <a:ext cx="2151905" cy="1575345"/>
          </a:xfrm>
          <a:prstGeom prst="rect">
            <a:avLst/>
          </a:prstGeom>
        </p:spPr>
      </p:pic>
      <p:sp>
        <p:nvSpPr>
          <p:cNvPr id="9" name="TextBox 8"/>
          <p:cNvSpPr txBox="1"/>
          <p:nvPr/>
        </p:nvSpPr>
        <p:spPr>
          <a:xfrm>
            <a:off x="457200" y="2072580"/>
            <a:ext cx="2876550" cy="54858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44000"/>
              </a:lnSpc>
              <a:defRPr i="0" sz="1200" b="0">
                <a:solidFill>
                  <a:srgbClr val="6B7280"/>
                </a:solidFill>
                <a:latin typeface="Albert Sans"/>
              </a:defRPr>
            </a:pPr>
            <a:r>
              <a:rPr i="0" sz="1200" b="0">
                <a:solidFill>
                  <a:srgbClr val="6B7280"/>
                </a:solidFill>
                <a:latin typeface="Albert Sans"/>
              </a:rPr>
              <a:t>Messy databases lead to sad developers and 3 AM panic calls.</a:t>
            </a:r>
          </a:p>
        </p:txBody>
      </p:sp>
      <p:sp>
        <p:nvSpPr>
          <p:cNvPr id="10" name="TextBox 9"/>
          <p:cNvSpPr txBox="1"/>
          <p:nvPr/>
        </p:nvSpPr>
        <p:spPr>
          <a:xfrm>
            <a:off x="7583239" y="2981325"/>
            <a:ext cx="1713755" cy="90666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36000"/>
              </a:lnSpc>
              <a:defRPr i="0" sz="1050" b="0">
                <a:solidFill>
                  <a:srgbClr val="6B7280"/>
                </a:solidFill>
                <a:latin typeface="Albert Sans"/>
              </a:defRPr>
            </a:pPr>
            <a:r>
              <a:rPr i="0" sz="1050" b="0">
                <a:solidFill>
                  <a:srgbClr val="6B7280"/>
                </a:solidFill>
                <a:latin typeface="Albert Sans"/>
              </a:rPr>
              <a:t>Stop table scans! Create indexes so queries run faster than caffeine-fueled devs.</a:t>
            </a:r>
          </a:p>
        </p:txBody>
      </p:sp>
      <p:sp>
        <p:nvSpPr>
          <p:cNvPr id="11" name="TextBox 10"/>
          <p:cNvSpPr txBox="1"/>
          <p:nvPr/>
        </p:nvSpPr>
        <p:spPr>
          <a:xfrm>
            <a:off x="5050482" y="3267075"/>
            <a:ext cx="1713607" cy="90666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36000"/>
              </a:lnSpc>
              <a:defRPr i="0" sz="1050" b="0">
                <a:solidFill>
                  <a:srgbClr val="6B7280"/>
                </a:solidFill>
                <a:latin typeface="Albert Sans"/>
              </a:defRPr>
            </a:pPr>
            <a:r>
              <a:rPr i="0" sz="1050" b="0">
                <a:solidFill>
                  <a:srgbClr val="6B7280"/>
                </a:solidFill>
                <a:latin typeface="Albert Sans"/>
              </a:rPr>
              <a:t>Tidy up your tables like Marie Kondo—if it doesn't reduce redundancy, remove it.</a:t>
            </a:r>
          </a:p>
        </p:txBody>
      </p:sp>
      <p:sp>
        <p:nvSpPr>
          <p:cNvPr id="12" name="TextBox 11"/>
          <p:cNvSpPr txBox="1"/>
          <p:nvPr/>
        </p:nvSpPr>
        <p:spPr>
          <a:xfrm>
            <a:off x="10116145" y="2981325"/>
            <a:ext cx="1713755" cy="679995"/>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36000"/>
              </a:lnSpc>
              <a:defRPr i="0" sz="1050" b="0">
                <a:solidFill>
                  <a:srgbClr val="6B7280"/>
                </a:solidFill>
                <a:latin typeface="Albert Sans"/>
              </a:defRPr>
            </a:pPr>
            <a:r>
              <a:rPr i="0" sz="1050" b="0">
                <a:solidFill>
                  <a:srgbClr val="6B7280"/>
                </a:solidFill>
                <a:latin typeface="Albert Sans"/>
              </a:rPr>
              <a:t>All or nothing, baby. Keep related operations together.</a:t>
            </a:r>
          </a:p>
        </p:txBody>
      </p:sp>
      <p:sp>
        <p:nvSpPr>
          <p:cNvPr id="13" name="TextBox 12"/>
          <p:cNvSpPr txBox="1"/>
          <p:nvPr/>
        </p:nvSpPr>
        <p:spPr>
          <a:xfrm>
            <a:off x="5050482" y="2581275"/>
            <a:ext cx="1713607" cy="5715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0000"/>
              </a:lnSpc>
              <a:defRPr i="0" sz="1500" b="0">
                <a:solidFill>
                  <a:srgbClr val="111827"/>
                </a:solidFill>
                <a:latin typeface="Albert Sans"/>
              </a:defRPr>
            </a:pPr>
            <a:r>
              <a:rPr i="0" sz="1500" b="0">
                <a:solidFill>
                  <a:srgbClr val="111827"/>
                </a:solidFill>
                <a:latin typeface="Albert Sans"/>
              </a:rPr>
              <a:t>Normalize Your Data</a:t>
            </a:r>
          </a:p>
        </p:txBody>
      </p:sp>
      <p:sp>
        <p:nvSpPr>
          <p:cNvPr id="14" name="TextBox 13"/>
          <p:cNvSpPr txBox="1"/>
          <p:nvPr/>
        </p:nvSpPr>
        <p:spPr>
          <a:xfrm>
            <a:off x="7583239" y="2581275"/>
            <a:ext cx="1713755" cy="28575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0000"/>
              </a:lnSpc>
              <a:defRPr i="0" sz="1500" b="0">
                <a:solidFill>
                  <a:srgbClr val="111827"/>
                </a:solidFill>
                <a:latin typeface="Albert Sans"/>
              </a:defRPr>
            </a:pPr>
            <a:r>
              <a:rPr i="0" sz="1500" b="0">
                <a:solidFill>
                  <a:srgbClr val="111827"/>
                </a:solidFill>
                <a:latin typeface="Albert Sans"/>
              </a:rPr>
              <a:t>Index Your Queries</a:t>
            </a:r>
          </a:p>
        </p:txBody>
      </p:sp>
      <p:sp>
        <p:nvSpPr>
          <p:cNvPr id="15" name="TextBox 14"/>
          <p:cNvSpPr txBox="1"/>
          <p:nvPr/>
        </p:nvSpPr>
        <p:spPr>
          <a:xfrm>
            <a:off x="10116145" y="2581275"/>
            <a:ext cx="1713755" cy="28575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0000"/>
              </a:lnSpc>
              <a:defRPr i="0" sz="1500" b="0">
                <a:solidFill>
                  <a:srgbClr val="111827"/>
                </a:solidFill>
                <a:latin typeface="Albert Sans"/>
              </a:defRPr>
            </a:pPr>
            <a:r>
              <a:rPr i="0" sz="1500" b="0">
                <a:solidFill>
                  <a:srgbClr val="111827"/>
                </a:solidFill>
                <a:latin typeface="Albert Sans"/>
              </a:rPr>
              <a:t>Use Transactions</a:t>
            </a:r>
          </a:p>
        </p:txBody>
      </p:sp>
      <p:sp>
        <p:nvSpPr>
          <p:cNvPr id="16" name="TextBox 15"/>
          <p:cNvSpPr txBox="1"/>
          <p:nvPr/>
        </p:nvSpPr>
        <p:spPr>
          <a:xfrm>
            <a:off x="457200" y="6353175"/>
            <a:ext cx="1385738" cy="200025"/>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0000"/>
              </a:lnSpc>
              <a:defRPr i="0" sz="1050" b="0">
                <a:solidFill>
                  <a:srgbClr val="6B7280"/>
                </a:solidFill>
                <a:latin typeface="Albert Sans"/>
              </a:defRPr>
            </a:pPr>
            <a:r>
              <a:rPr i="0" sz="1050" b="0">
                <a:solidFill>
                  <a:srgbClr val="6B7280"/>
                </a:solidFill>
                <a:latin typeface="Albert Sans"/>
              </a:rPr>
              <a:t>www.mydatabase.com</a:t>
            </a:r>
          </a:p>
        </p:txBody>
      </p:sp>
      <p:sp>
        <p:nvSpPr>
          <p:cNvPr id="17" name="Rectangle 16"/>
          <p:cNvSpPr/>
          <p:nvPr/>
        </p:nvSpPr>
        <p:spPr>
          <a:xfrm rot="2700000">
            <a:off x="11595473" y="6223378"/>
            <a:ext cx="431052" cy="431043"/>
          </a:xfrm>
          <a:prstGeom prst="rect">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8" name="Rectangle 17"/>
          <p:cNvSpPr/>
          <p:nvPr/>
        </p:nvSpPr>
        <p:spPr>
          <a:xfrm>
            <a:off x="2052488" y="6443662"/>
            <a:ext cx="9682311" cy="19050"/>
          </a:xfrm>
          <a:prstGeom prst="rect">
            <a:avLst/>
          </a:prstGeom>
          <a:solidFill>
            <a:srgbClr val="E5E7EB"/>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9" name="Rounded Rectangle 18"/>
          <p:cNvSpPr/>
          <p:nvPr/>
        </p:nvSpPr>
        <p:spPr>
          <a:xfrm rot="2700000">
            <a:off x="433527" y="204927"/>
            <a:ext cx="161644" cy="161645"/>
          </a:xfrm>
          <a:prstGeom prst="roundRect">
            <a:avLst>
              <a:gd name="adj" fmla="val 23570"/>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57200" y="647700"/>
            <a:ext cx="4078932" cy="168012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84000"/>
              </a:lnSpc>
              <a:defRPr i="0" sz="4200" b="0">
                <a:solidFill>
                  <a:srgbClr val="111827"/>
                </a:solidFill>
                <a:latin typeface="Albert Sans"/>
              </a:defRPr>
            </a:pPr>
            <a:r>
              <a:rPr i="0" sz="4200" b="0">
                <a:solidFill>
                  <a:srgbClr val="111827"/>
                </a:solidFill>
                <a:latin typeface="Albert Sans"/>
              </a:rPr>
              <a:t>Lock It Down:Security Essentials</a:t>
            </a:r>
          </a:p>
        </p:txBody>
      </p:sp>
      <p:pic>
        <p:nvPicPr>
          <p:cNvPr id="3" name="Picture 2" descr="ed740578-1f5e-45c0-8e8b-9308de0508b2.png"/>
          <p:cNvPicPr>
            <a:picLocks noChangeAspect="1"/>
          </p:cNvPicPr>
          <p:nvPr/>
        </p:nvPicPr>
        <p:blipFill>
          <a:blip r:embed="rId2"/>
          <a:stretch>
            <a:fillRect/>
          </a:stretch>
        </p:blipFill>
        <p:spPr>
          <a:xfrm>
            <a:off x="7354639" y="2352675"/>
            <a:ext cx="2151905" cy="2314426"/>
          </a:xfrm>
          <a:prstGeom prst="rect">
            <a:avLst/>
          </a:prstGeom>
        </p:spPr>
      </p:pic>
      <p:pic>
        <p:nvPicPr>
          <p:cNvPr id="4" name="Picture 3" descr="4146eafe-aa6f-4d91-98ad-e9e745807570.png"/>
          <p:cNvPicPr>
            <a:picLocks noChangeAspect="1"/>
          </p:cNvPicPr>
          <p:nvPr/>
        </p:nvPicPr>
        <p:blipFill>
          <a:blip r:embed="rId3"/>
          <a:stretch>
            <a:fillRect/>
          </a:stretch>
        </p:blipFill>
        <p:spPr>
          <a:xfrm>
            <a:off x="9887545" y="2352675"/>
            <a:ext cx="2151905" cy="1802010"/>
          </a:xfrm>
          <a:prstGeom prst="rect">
            <a:avLst/>
          </a:prstGeom>
        </p:spPr>
      </p:pic>
      <p:pic>
        <p:nvPicPr>
          <p:cNvPr id="5" name="Picture 4" descr="4146eafe-aa6f-4d91-98ad-e9e745807570.png"/>
          <p:cNvPicPr>
            <a:picLocks noChangeAspect="1"/>
          </p:cNvPicPr>
          <p:nvPr/>
        </p:nvPicPr>
        <p:blipFill>
          <a:blip r:embed="rId3"/>
          <a:stretch>
            <a:fillRect/>
          </a:stretch>
        </p:blipFill>
        <p:spPr>
          <a:xfrm>
            <a:off x="4821882" y="2352675"/>
            <a:ext cx="2151757" cy="1802010"/>
          </a:xfrm>
          <a:prstGeom prst="rect">
            <a:avLst/>
          </a:prstGeom>
        </p:spPr>
      </p:pic>
      <p:pic>
        <p:nvPicPr>
          <p:cNvPr id="6" name="Picture 5" descr="2ae9e89e-01ac-41bf-829a-3b98e1e4d2ef.png"/>
          <p:cNvPicPr>
            <a:picLocks noChangeAspect="1"/>
          </p:cNvPicPr>
          <p:nvPr/>
        </p:nvPicPr>
        <p:blipFill>
          <a:blip r:embed="rId4"/>
          <a:stretch>
            <a:fillRect/>
          </a:stretch>
        </p:blipFill>
        <p:spPr>
          <a:xfrm>
            <a:off x="7354639" y="647700"/>
            <a:ext cx="2151905" cy="1714500"/>
          </a:xfrm>
          <a:prstGeom prst="rect">
            <a:avLst/>
          </a:prstGeom>
        </p:spPr>
      </p:pic>
      <p:pic>
        <p:nvPicPr>
          <p:cNvPr id="7" name="Picture 6" descr="97e02a39-9a33-4360-9ced-bfcb670a5ee9.png"/>
          <p:cNvPicPr>
            <a:picLocks noChangeAspect="1"/>
          </p:cNvPicPr>
          <p:nvPr/>
        </p:nvPicPr>
        <p:blipFill>
          <a:blip r:embed="rId5"/>
          <a:stretch>
            <a:fillRect/>
          </a:stretch>
        </p:blipFill>
        <p:spPr>
          <a:xfrm>
            <a:off x="9887545" y="647700"/>
            <a:ext cx="2151905" cy="1714500"/>
          </a:xfrm>
          <a:prstGeom prst="rect">
            <a:avLst/>
          </a:prstGeom>
        </p:spPr>
      </p:pic>
      <p:pic>
        <p:nvPicPr>
          <p:cNvPr id="8" name="Picture 7" descr="5d32c74a-b462-48ca-84ef-d7789001ab1b.png"/>
          <p:cNvPicPr>
            <a:picLocks noChangeAspect="1"/>
          </p:cNvPicPr>
          <p:nvPr/>
        </p:nvPicPr>
        <p:blipFill>
          <a:blip r:embed="rId6"/>
          <a:stretch>
            <a:fillRect/>
          </a:stretch>
        </p:blipFill>
        <p:spPr>
          <a:xfrm>
            <a:off x="4821882" y="647700"/>
            <a:ext cx="2151757" cy="1714500"/>
          </a:xfrm>
          <a:prstGeom prst="rect">
            <a:avLst/>
          </a:prstGeom>
        </p:spPr>
      </p:pic>
      <p:sp>
        <p:nvSpPr>
          <p:cNvPr id="9" name="TextBox 8"/>
          <p:cNvSpPr txBox="1"/>
          <p:nvPr/>
        </p:nvSpPr>
        <p:spPr>
          <a:xfrm>
            <a:off x="457200" y="2632620"/>
            <a:ext cx="2876550" cy="82287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44000"/>
              </a:lnSpc>
              <a:defRPr i="0" sz="1200" b="0">
                <a:solidFill>
                  <a:srgbClr val="6B7280"/>
                </a:solidFill>
                <a:latin typeface="Albert Sans"/>
              </a:defRPr>
            </a:pPr>
            <a:r>
              <a:rPr i="0" sz="1200" b="0">
                <a:solidFill>
                  <a:srgbClr val="6B7280"/>
                </a:solidFill>
                <a:latin typeface="Albert Sans"/>
              </a:rPr>
              <a:t>Getting hacked is not the kind of viral content you want. Let's lock down your systems.</a:t>
            </a:r>
          </a:p>
        </p:txBody>
      </p:sp>
      <p:sp>
        <p:nvSpPr>
          <p:cNvPr id="10" name="TextBox 9"/>
          <p:cNvSpPr txBox="1"/>
          <p:nvPr/>
        </p:nvSpPr>
        <p:spPr>
          <a:xfrm>
            <a:off x="7583239" y="3267075"/>
            <a:ext cx="1713755" cy="1133326"/>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36000"/>
              </a:lnSpc>
              <a:defRPr i="0" sz="1050" b="0">
                <a:solidFill>
                  <a:srgbClr val="6B7280"/>
                </a:solidFill>
                <a:latin typeface="Albert Sans"/>
              </a:defRPr>
            </a:pPr>
            <a:r>
              <a:rPr i="0" sz="1050" b="0">
                <a:solidFill>
                  <a:srgbClr val="6B7280"/>
                </a:solidFill>
                <a:latin typeface="Albert Sans"/>
              </a:rPr>
              <a:t>SQL injection keeps crashing the party. Use parameterized queries to show untrusted input the door.</a:t>
            </a:r>
          </a:p>
        </p:txBody>
      </p:sp>
      <p:sp>
        <p:nvSpPr>
          <p:cNvPr id="11" name="TextBox 10"/>
          <p:cNvSpPr txBox="1"/>
          <p:nvPr/>
        </p:nvSpPr>
        <p:spPr>
          <a:xfrm>
            <a:off x="10116145" y="2981325"/>
            <a:ext cx="1713755" cy="90666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36000"/>
              </a:lnSpc>
              <a:defRPr i="0" sz="1050" b="0">
                <a:solidFill>
                  <a:srgbClr val="6B7280"/>
                </a:solidFill>
                <a:latin typeface="Albert Sans"/>
              </a:defRPr>
            </a:pPr>
            <a:r>
              <a:rPr i="0" sz="1050" b="0">
                <a:solidFill>
                  <a:srgbClr val="6B7280"/>
                </a:solidFill>
                <a:latin typeface="Albert Sans"/>
              </a:rPr>
              <a:t>Not everyone needs the keys to the kingdom. Implement role-based access controls.</a:t>
            </a:r>
          </a:p>
        </p:txBody>
      </p:sp>
      <p:sp>
        <p:nvSpPr>
          <p:cNvPr id="12" name="TextBox 11"/>
          <p:cNvSpPr txBox="1"/>
          <p:nvPr/>
        </p:nvSpPr>
        <p:spPr>
          <a:xfrm>
            <a:off x="5050482" y="2981325"/>
            <a:ext cx="1713607" cy="90666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36000"/>
              </a:lnSpc>
              <a:defRPr i="0" sz="1050" b="0">
                <a:solidFill>
                  <a:srgbClr val="6B7280"/>
                </a:solidFill>
                <a:latin typeface="Albert Sans"/>
              </a:defRPr>
            </a:pPr>
            <a:r>
              <a:rPr i="0" sz="1050" b="0">
                <a:solidFill>
                  <a:srgbClr val="6B7280"/>
                </a:solidFill>
                <a:latin typeface="Albert Sans"/>
              </a:rPr>
              <a:t>Protect data at rest and in transit. Even if thieves steal your data, they get gibberish.</a:t>
            </a:r>
          </a:p>
        </p:txBody>
      </p:sp>
      <p:sp>
        <p:nvSpPr>
          <p:cNvPr id="13" name="TextBox 12"/>
          <p:cNvSpPr txBox="1"/>
          <p:nvPr/>
        </p:nvSpPr>
        <p:spPr>
          <a:xfrm>
            <a:off x="7583239" y="2581275"/>
            <a:ext cx="1713755" cy="5715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0000"/>
              </a:lnSpc>
              <a:defRPr i="0" sz="1500" b="0">
                <a:solidFill>
                  <a:srgbClr val="111827"/>
                </a:solidFill>
                <a:latin typeface="Albert Sans"/>
              </a:defRPr>
            </a:pPr>
            <a:r>
              <a:rPr i="0" sz="1500" b="0">
                <a:solidFill>
                  <a:srgbClr val="111827"/>
                </a:solidFill>
                <a:latin typeface="Albert Sans"/>
              </a:rPr>
              <a:t>Parameterized Queries</a:t>
            </a:r>
          </a:p>
        </p:txBody>
      </p:sp>
      <p:sp>
        <p:nvSpPr>
          <p:cNvPr id="14" name="TextBox 13"/>
          <p:cNvSpPr txBox="1"/>
          <p:nvPr/>
        </p:nvSpPr>
        <p:spPr>
          <a:xfrm>
            <a:off x="10116145" y="2581275"/>
            <a:ext cx="1713755" cy="28575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0000"/>
              </a:lnSpc>
              <a:defRPr i="0" sz="1500" b="0">
                <a:solidFill>
                  <a:srgbClr val="111827"/>
                </a:solidFill>
                <a:latin typeface="Albert Sans"/>
              </a:defRPr>
            </a:pPr>
            <a:r>
              <a:rPr i="0" sz="1500" b="0">
                <a:solidFill>
                  <a:srgbClr val="111827"/>
                </a:solidFill>
                <a:latin typeface="Albert Sans"/>
              </a:rPr>
              <a:t>Access Control</a:t>
            </a:r>
          </a:p>
        </p:txBody>
      </p:sp>
      <p:sp>
        <p:nvSpPr>
          <p:cNvPr id="15" name="TextBox 14"/>
          <p:cNvSpPr txBox="1"/>
          <p:nvPr/>
        </p:nvSpPr>
        <p:spPr>
          <a:xfrm>
            <a:off x="5050482" y="2581275"/>
            <a:ext cx="1713607" cy="28575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0000"/>
              </a:lnSpc>
              <a:defRPr i="0" sz="1500" b="0">
                <a:solidFill>
                  <a:srgbClr val="111827"/>
                </a:solidFill>
                <a:latin typeface="Albert Sans"/>
              </a:defRPr>
            </a:pPr>
            <a:r>
              <a:rPr i="0" sz="1500" b="0">
                <a:solidFill>
                  <a:srgbClr val="111827"/>
                </a:solidFill>
                <a:latin typeface="Albert Sans"/>
              </a:rPr>
              <a:t>Encrypt Everything</a:t>
            </a:r>
          </a:p>
        </p:txBody>
      </p:sp>
      <p:sp>
        <p:nvSpPr>
          <p:cNvPr id="16" name="TextBox 15"/>
          <p:cNvSpPr txBox="1"/>
          <p:nvPr/>
        </p:nvSpPr>
        <p:spPr>
          <a:xfrm>
            <a:off x="457200" y="6353175"/>
            <a:ext cx="1366391" cy="200025"/>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0000"/>
              </a:lnSpc>
              <a:defRPr i="0" sz="1050" b="0">
                <a:solidFill>
                  <a:srgbClr val="6B7280"/>
                </a:solidFill>
                <a:latin typeface="Albert Sans"/>
              </a:defRPr>
            </a:pPr>
            <a:r>
              <a:rPr i="0" sz="1050" b="0">
                <a:solidFill>
                  <a:srgbClr val="6B7280"/>
                </a:solidFill>
                <a:latin typeface="Albert Sans"/>
              </a:rPr>
              <a:t>www.securityfirst.com</a:t>
            </a:r>
          </a:p>
        </p:txBody>
      </p:sp>
      <p:sp>
        <p:nvSpPr>
          <p:cNvPr id="17" name="Rectangle 16"/>
          <p:cNvSpPr/>
          <p:nvPr/>
        </p:nvSpPr>
        <p:spPr>
          <a:xfrm rot="2700000">
            <a:off x="11595473" y="6223378"/>
            <a:ext cx="431052" cy="431043"/>
          </a:xfrm>
          <a:prstGeom prst="rect">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8" name="Rectangle 17"/>
          <p:cNvSpPr/>
          <p:nvPr/>
        </p:nvSpPr>
        <p:spPr>
          <a:xfrm>
            <a:off x="2033141" y="6443662"/>
            <a:ext cx="9701658" cy="19050"/>
          </a:xfrm>
          <a:prstGeom prst="rect">
            <a:avLst/>
          </a:prstGeom>
          <a:solidFill>
            <a:srgbClr val="E5E7EB"/>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9" name="Rounded Rectangle 18"/>
          <p:cNvSpPr/>
          <p:nvPr/>
        </p:nvSpPr>
        <p:spPr>
          <a:xfrm rot="2700000">
            <a:off x="433527" y="204927"/>
            <a:ext cx="161644" cy="161645"/>
          </a:xfrm>
          <a:prstGeom prst="roundRect">
            <a:avLst>
              <a:gd name="adj" fmla="val 23570"/>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57200" y="647700"/>
            <a:ext cx="4078932" cy="112008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84000"/>
              </a:lnSpc>
              <a:defRPr i="0" sz="4200" b="0">
                <a:solidFill>
                  <a:srgbClr val="111827"/>
                </a:solidFill>
                <a:latin typeface="Albert Sans"/>
              </a:defRPr>
            </a:pPr>
            <a:r>
              <a:rPr i="0" sz="4200" b="0">
                <a:solidFill>
                  <a:srgbClr val="111827"/>
                </a:solidFill>
                <a:latin typeface="Albert Sans"/>
              </a:rPr>
              <a:t>The Future ofPersistence</a:t>
            </a:r>
          </a:p>
        </p:txBody>
      </p:sp>
      <p:pic>
        <p:nvPicPr>
          <p:cNvPr id="3" name="Picture 2" descr="409ede4d-0daa-4384-92ea-3b6ccb4060d5.png"/>
          <p:cNvPicPr>
            <a:picLocks noChangeAspect="1"/>
          </p:cNvPicPr>
          <p:nvPr/>
        </p:nvPicPr>
        <p:blipFill>
          <a:blip r:embed="rId2"/>
          <a:stretch>
            <a:fillRect/>
          </a:stretch>
        </p:blipFill>
        <p:spPr>
          <a:xfrm>
            <a:off x="4821882" y="2352675"/>
            <a:ext cx="2151757" cy="2087760"/>
          </a:xfrm>
          <a:prstGeom prst="rect">
            <a:avLst/>
          </a:prstGeom>
        </p:spPr>
      </p:pic>
      <p:pic>
        <p:nvPicPr>
          <p:cNvPr id="4" name="Picture 3" descr="4a132105-db91-4d5e-90ba-1bf6bf0704cf.png"/>
          <p:cNvPicPr>
            <a:picLocks noChangeAspect="1"/>
          </p:cNvPicPr>
          <p:nvPr/>
        </p:nvPicPr>
        <p:blipFill>
          <a:blip r:embed="rId3"/>
          <a:stretch>
            <a:fillRect/>
          </a:stretch>
        </p:blipFill>
        <p:spPr>
          <a:xfrm>
            <a:off x="7354639" y="2352675"/>
            <a:ext cx="2151905" cy="1861095"/>
          </a:xfrm>
          <a:prstGeom prst="rect">
            <a:avLst/>
          </a:prstGeom>
        </p:spPr>
      </p:pic>
      <p:pic>
        <p:nvPicPr>
          <p:cNvPr id="5" name="Picture 4" descr="04874b1d-f232-4f21-b577-d0d5c7ffd162.png"/>
          <p:cNvPicPr>
            <a:picLocks noChangeAspect="1"/>
          </p:cNvPicPr>
          <p:nvPr/>
        </p:nvPicPr>
        <p:blipFill>
          <a:blip r:embed="rId4"/>
          <a:stretch>
            <a:fillRect/>
          </a:stretch>
        </p:blipFill>
        <p:spPr>
          <a:xfrm>
            <a:off x="7354639" y="647700"/>
            <a:ext cx="2151905" cy="1714500"/>
          </a:xfrm>
          <a:prstGeom prst="rect">
            <a:avLst/>
          </a:prstGeom>
        </p:spPr>
      </p:pic>
      <p:pic>
        <p:nvPicPr>
          <p:cNvPr id="6" name="Picture 5" descr="48d2b25e-f691-4ada-96c8-a9015c4757d1.png"/>
          <p:cNvPicPr>
            <a:picLocks noChangeAspect="1"/>
          </p:cNvPicPr>
          <p:nvPr/>
        </p:nvPicPr>
        <p:blipFill>
          <a:blip r:embed="rId5"/>
          <a:stretch>
            <a:fillRect/>
          </a:stretch>
        </p:blipFill>
        <p:spPr>
          <a:xfrm>
            <a:off x="9887545" y="647700"/>
            <a:ext cx="2151905" cy="1714500"/>
          </a:xfrm>
          <a:prstGeom prst="rect">
            <a:avLst/>
          </a:prstGeom>
        </p:spPr>
      </p:pic>
      <p:pic>
        <p:nvPicPr>
          <p:cNvPr id="7" name="Picture 6" descr="bb4780a2-c1a9-44ca-af45-e0395946201f.png"/>
          <p:cNvPicPr>
            <a:picLocks noChangeAspect="1"/>
          </p:cNvPicPr>
          <p:nvPr/>
        </p:nvPicPr>
        <p:blipFill>
          <a:blip r:embed="rId6"/>
          <a:stretch>
            <a:fillRect/>
          </a:stretch>
        </p:blipFill>
        <p:spPr>
          <a:xfrm>
            <a:off x="4821882" y="647700"/>
            <a:ext cx="2151757" cy="1714500"/>
          </a:xfrm>
          <a:prstGeom prst="rect">
            <a:avLst/>
          </a:prstGeom>
        </p:spPr>
      </p:pic>
      <p:pic>
        <p:nvPicPr>
          <p:cNvPr id="8" name="Picture 7" descr="03bcd8aa-d816-4ab0-b71f-30a3dd1a4267.png"/>
          <p:cNvPicPr>
            <a:picLocks noChangeAspect="1"/>
          </p:cNvPicPr>
          <p:nvPr/>
        </p:nvPicPr>
        <p:blipFill>
          <a:blip r:embed="rId7"/>
          <a:stretch>
            <a:fillRect/>
          </a:stretch>
        </p:blipFill>
        <p:spPr>
          <a:xfrm>
            <a:off x="9887545" y="2352675"/>
            <a:ext cx="2151905" cy="1575345"/>
          </a:xfrm>
          <a:prstGeom prst="rect">
            <a:avLst/>
          </a:prstGeom>
        </p:spPr>
      </p:pic>
      <p:sp>
        <p:nvSpPr>
          <p:cNvPr id="9" name="TextBox 8"/>
          <p:cNvSpPr txBox="1"/>
          <p:nvPr/>
        </p:nvSpPr>
        <p:spPr>
          <a:xfrm>
            <a:off x="457200" y="2072580"/>
            <a:ext cx="2876550" cy="82287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44000"/>
              </a:lnSpc>
              <a:defRPr i="0" sz="1200" b="0">
                <a:solidFill>
                  <a:srgbClr val="6B7280"/>
                </a:solidFill>
                <a:latin typeface="Albert Sans"/>
              </a:defRPr>
            </a:pPr>
            <a:r>
              <a:rPr i="0" sz="1200" b="0">
                <a:solidFill>
                  <a:srgbClr val="6B7280"/>
                </a:solidFill>
                <a:latin typeface="Albert Sans"/>
              </a:rPr>
              <a:t>Why juggle multiple databases when you can have one doing all the heavy lifting?</a:t>
            </a:r>
          </a:p>
        </p:txBody>
      </p:sp>
      <p:sp>
        <p:nvSpPr>
          <p:cNvPr id="10" name="TextBox 9"/>
          <p:cNvSpPr txBox="1"/>
          <p:nvPr/>
        </p:nvSpPr>
        <p:spPr>
          <a:xfrm>
            <a:off x="5050482" y="3267075"/>
            <a:ext cx="1713607" cy="90666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36000"/>
              </a:lnSpc>
              <a:defRPr i="0" sz="1050" b="0">
                <a:solidFill>
                  <a:srgbClr val="6B7280"/>
                </a:solidFill>
                <a:latin typeface="Albert Sans"/>
              </a:defRPr>
            </a:pPr>
            <a:r>
              <a:rPr i="0" sz="1050" b="0">
                <a:solidFill>
                  <a:srgbClr val="6B7280"/>
                </a:solidFill>
                <a:latin typeface="Albert Sans"/>
              </a:rPr>
              <a:t>One database to rule them all. Does yoga, speaks JSON, knows SQL. Overachiever.</a:t>
            </a:r>
          </a:p>
        </p:txBody>
      </p:sp>
      <p:sp>
        <p:nvSpPr>
          <p:cNvPr id="11" name="TextBox 10"/>
          <p:cNvSpPr txBox="1"/>
          <p:nvPr/>
        </p:nvSpPr>
        <p:spPr>
          <a:xfrm>
            <a:off x="7583239" y="3267075"/>
            <a:ext cx="1713755" cy="679995"/>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36000"/>
              </a:lnSpc>
              <a:defRPr i="0" sz="1050" b="0">
                <a:solidFill>
                  <a:srgbClr val="6B7280"/>
                </a:solidFill>
                <a:latin typeface="Albert Sans"/>
              </a:defRPr>
            </a:pPr>
            <a:r>
              <a:rPr i="0" sz="1050" b="0">
                <a:solidFill>
                  <a:srgbClr val="6B7280"/>
                </a:solidFill>
                <a:latin typeface="Albert Sans"/>
              </a:rPr>
              <a:t>Pay only for what you use. Your credit card will send a thank-you card.</a:t>
            </a:r>
          </a:p>
        </p:txBody>
      </p:sp>
      <p:sp>
        <p:nvSpPr>
          <p:cNvPr id="12" name="TextBox 11"/>
          <p:cNvSpPr txBox="1"/>
          <p:nvPr/>
        </p:nvSpPr>
        <p:spPr>
          <a:xfrm>
            <a:off x="10116145" y="2981325"/>
            <a:ext cx="1713755" cy="679995"/>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36000"/>
              </a:lnSpc>
              <a:defRPr i="0" sz="1050" b="0">
                <a:solidFill>
                  <a:srgbClr val="6B7280"/>
                </a:solidFill>
                <a:latin typeface="Albert Sans"/>
              </a:defRPr>
            </a:pPr>
            <a:r>
              <a:rPr i="0" sz="1050" b="0">
                <a:solidFill>
                  <a:srgbClr val="6B7280"/>
                </a:solidFill>
                <a:latin typeface="Albert Sans"/>
              </a:rPr>
              <a:t>Your data moves to the edge. Closer to users. Romantic, really.</a:t>
            </a:r>
          </a:p>
        </p:txBody>
      </p:sp>
      <p:sp>
        <p:nvSpPr>
          <p:cNvPr id="13" name="TextBox 12"/>
          <p:cNvSpPr txBox="1"/>
          <p:nvPr/>
        </p:nvSpPr>
        <p:spPr>
          <a:xfrm>
            <a:off x="7583239" y="2581275"/>
            <a:ext cx="1713755" cy="5715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0000"/>
              </a:lnSpc>
              <a:defRPr i="0" sz="1500" b="0">
                <a:solidFill>
                  <a:srgbClr val="111827"/>
                </a:solidFill>
                <a:latin typeface="Albert Sans"/>
              </a:defRPr>
            </a:pPr>
            <a:r>
              <a:rPr i="0" sz="1500" b="0">
                <a:solidFill>
                  <a:srgbClr val="111827"/>
                </a:solidFill>
                <a:latin typeface="Albert Sans"/>
              </a:rPr>
              <a:t>Serverless Databases</a:t>
            </a:r>
          </a:p>
        </p:txBody>
      </p:sp>
      <p:sp>
        <p:nvSpPr>
          <p:cNvPr id="14" name="TextBox 13"/>
          <p:cNvSpPr txBox="1"/>
          <p:nvPr/>
        </p:nvSpPr>
        <p:spPr>
          <a:xfrm>
            <a:off x="5050482" y="2581275"/>
            <a:ext cx="1713607" cy="5715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0000"/>
              </a:lnSpc>
              <a:defRPr i="0" sz="1500" b="0">
                <a:solidFill>
                  <a:srgbClr val="111827"/>
                </a:solidFill>
                <a:latin typeface="Albert Sans"/>
              </a:defRPr>
            </a:pPr>
            <a:r>
              <a:rPr i="0" sz="1500" b="0">
                <a:solidFill>
                  <a:srgbClr val="111827"/>
                </a:solidFill>
                <a:latin typeface="Albert Sans"/>
              </a:rPr>
              <a:t>Multi-model Databases</a:t>
            </a:r>
          </a:p>
        </p:txBody>
      </p:sp>
      <p:sp>
        <p:nvSpPr>
          <p:cNvPr id="15" name="TextBox 14"/>
          <p:cNvSpPr txBox="1"/>
          <p:nvPr/>
        </p:nvSpPr>
        <p:spPr>
          <a:xfrm>
            <a:off x="10116145" y="2581275"/>
            <a:ext cx="1713755" cy="28575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0000"/>
              </a:lnSpc>
              <a:defRPr i="0" sz="1500" b="0">
                <a:solidFill>
                  <a:srgbClr val="111827"/>
                </a:solidFill>
                <a:latin typeface="Albert Sans"/>
              </a:defRPr>
            </a:pPr>
            <a:r>
              <a:rPr i="0" sz="1500" b="0">
                <a:solidFill>
                  <a:srgbClr val="111827"/>
                </a:solidFill>
                <a:latin typeface="Albert Sans"/>
              </a:rPr>
              <a:t>Edge Databases</a:t>
            </a:r>
          </a:p>
        </p:txBody>
      </p:sp>
      <p:sp>
        <p:nvSpPr>
          <p:cNvPr id="16" name="TextBox 15"/>
          <p:cNvSpPr txBox="1"/>
          <p:nvPr/>
        </p:nvSpPr>
        <p:spPr>
          <a:xfrm>
            <a:off x="457200" y="6353175"/>
            <a:ext cx="1165919" cy="200025"/>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0000"/>
              </a:lnSpc>
              <a:defRPr i="0" sz="1050" b="0">
                <a:solidFill>
                  <a:srgbClr val="6B7280"/>
                </a:solidFill>
                <a:latin typeface="Albert Sans"/>
              </a:defRPr>
            </a:pPr>
            <a:r>
              <a:rPr i="0" sz="1050" b="0">
                <a:solidFill>
                  <a:srgbClr val="6B7280"/>
                </a:solidFill>
                <a:latin typeface="Albert Sans"/>
              </a:rPr>
              <a:t>www.futuredb.com</a:t>
            </a:r>
          </a:p>
        </p:txBody>
      </p:sp>
      <p:sp>
        <p:nvSpPr>
          <p:cNvPr id="17" name="Rectangle 16"/>
          <p:cNvSpPr/>
          <p:nvPr/>
        </p:nvSpPr>
        <p:spPr>
          <a:xfrm>
            <a:off x="1832669" y="6443662"/>
            <a:ext cx="9902130" cy="19050"/>
          </a:xfrm>
          <a:prstGeom prst="rect">
            <a:avLst/>
          </a:prstGeom>
          <a:solidFill>
            <a:srgbClr val="E5E7EB"/>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8" name="Rectangle 17"/>
          <p:cNvSpPr/>
          <p:nvPr/>
        </p:nvSpPr>
        <p:spPr>
          <a:xfrm rot="2700000">
            <a:off x="11595473" y="6223378"/>
            <a:ext cx="431052" cy="431043"/>
          </a:xfrm>
          <a:prstGeom prst="rect">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9" name="Rounded Rectangle 18"/>
          <p:cNvSpPr/>
          <p:nvPr/>
        </p:nvSpPr>
        <p:spPr>
          <a:xfrm rot="2700000">
            <a:off x="433527" y="204927"/>
            <a:ext cx="161644" cy="161645"/>
          </a:xfrm>
          <a:prstGeom prst="roundRect">
            <a:avLst>
              <a:gd name="adj" fmla="val 23570"/>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57200" y="647700"/>
            <a:ext cx="4078932" cy="168012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84000"/>
              </a:lnSpc>
              <a:defRPr i="0" sz="4200" b="0">
                <a:solidFill>
                  <a:srgbClr val="111827"/>
                </a:solidFill>
                <a:latin typeface="Albert Sans"/>
              </a:defRPr>
            </a:pPr>
            <a:r>
              <a:rPr i="0" sz="4200" b="0">
                <a:solidFill>
                  <a:srgbClr val="111827"/>
                </a:solidFill>
                <a:latin typeface="Albert Sans"/>
              </a:rPr>
              <a:t>The Data GospelAccording to Pain</a:t>
            </a:r>
          </a:p>
        </p:txBody>
      </p:sp>
      <p:pic>
        <p:nvPicPr>
          <p:cNvPr id="3" name="Picture 2" descr="409ede4d-0daa-4384-92ea-3b6ccb4060d5.png"/>
          <p:cNvPicPr>
            <a:picLocks noChangeAspect="1"/>
          </p:cNvPicPr>
          <p:nvPr/>
        </p:nvPicPr>
        <p:blipFill>
          <a:blip r:embed="rId2"/>
          <a:stretch>
            <a:fillRect/>
          </a:stretch>
        </p:blipFill>
        <p:spPr>
          <a:xfrm>
            <a:off x="9887545" y="2352675"/>
            <a:ext cx="2151905" cy="2087760"/>
          </a:xfrm>
          <a:prstGeom prst="rect">
            <a:avLst/>
          </a:prstGeom>
        </p:spPr>
      </p:pic>
      <p:pic>
        <p:nvPicPr>
          <p:cNvPr id="4" name="Picture 3" descr="409ede4d-0daa-4384-92ea-3b6ccb4060d5.png"/>
          <p:cNvPicPr>
            <a:picLocks noChangeAspect="1"/>
          </p:cNvPicPr>
          <p:nvPr/>
        </p:nvPicPr>
        <p:blipFill>
          <a:blip r:embed="rId2"/>
          <a:stretch>
            <a:fillRect/>
          </a:stretch>
        </p:blipFill>
        <p:spPr>
          <a:xfrm>
            <a:off x="4821882" y="2352675"/>
            <a:ext cx="2151757" cy="2087760"/>
          </a:xfrm>
          <a:prstGeom prst="rect">
            <a:avLst/>
          </a:prstGeom>
        </p:spPr>
      </p:pic>
      <p:pic>
        <p:nvPicPr>
          <p:cNvPr id="5" name="Picture 4" descr="841d237c-a125-4e9b-80d2-cf549d56a420.png"/>
          <p:cNvPicPr>
            <a:picLocks noChangeAspect="1"/>
          </p:cNvPicPr>
          <p:nvPr/>
        </p:nvPicPr>
        <p:blipFill>
          <a:blip r:embed="rId3"/>
          <a:stretch>
            <a:fillRect/>
          </a:stretch>
        </p:blipFill>
        <p:spPr>
          <a:xfrm>
            <a:off x="7354639" y="647700"/>
            <a:ext cx="2151905" cy="1714500"/>
          </a:xfrm>
          <a:prstGeom prst="rect">
            <a:avLst/>
          </a:prstGeom>
        </p:spPr>
      </p:pic>
      <p:pic>
        <p:nvPicPr>
          <p:cNvPr id="6" name="Picture 5" descr="6a468ae4-3898-47b1-a629-aca3491f77f3.png"/>
          <p:cNvPicPr>
            <a:picLocks noChangeAspect="1"/>
          </p:cNvPicPr>
          <p:nvPr/>
        </p:nvPicPr>
        <p:blipFill>
          <a:blip r:embed="rId4"/>
          <a:stretch>
            <a:fillRect/>
          </a:stretch>
        </p:blipFill>
        <p:spPr>
          <a:xfrm>
            <a:off x="9887545" y="647700"/>
            <a:ext cx="2151905" cy="1714500"/>
          </a:xfrm>
          <a:prstGeom prst="rect">
            <a:avLst/>
          </a:prstGeom>
        </p:spPr>
      </p:pic>
      <p:pic>
        <p:nvPicPr>
          <p:cNvPr id="7" name="Picture 6" descr="0a37a858-e63c-4576-9a6b-9bcb9683440f.png"/>
          <p:cNvPicPr>
            <a:picLocks noChangeAspect="1"/>
          </p:cNvPicPr>
          <p:nvPr/>
        </p:nvPicPr>
        <p:blipFill>
          <a:blip r:embed="rId5"/>
          <a:stretch>
            <a:fillRect/>
          </a:stretch>
        </p:blipFill>
        <p:spPr>
          <a:xfrm>
            <a:off x="4821882" y="647700"/>
            <a:ext cx="2151757" cy="1714500"/>
          </a:xfrm>
          <a:prstGeom prst="rect">
            <a:avLst/>
          </a:prstGeom>
        </p:spPr>
      </p:pic>
      <p:pic>
        <p:nvPicPr>
          <p:cNvPr id="8" name="Picture 7" descr="03bcd8aa-d816-4ab0-b71f-30a3dd1a4267.png"/>
          <p:cNvPicPr>
            <a:picLocks noChangeAspect="1"/>
          </p:cNvPicPr>
          <p:nvPr/>
        </p:nvPicPr>
        <p:blipFill>
          <a:blip r:embed="rId6"/>
          <a:stretch>
            <a:fillRect/>
          </a:stretch>
        </p:blipFill>
        <p:spPr>
          <a:xfrm>
            <a:off x="7354639" y="2352675"/>
            <a:ext cx="2151905" cy="1575345"/>
          </a:xfrm>
          <a:prstGeom prst="rect">
            <a:avLst/>
          </a:prstGeom>
        </p:spPr>
      </p:pic>
      <p:sp>
        <p:nvSpPr>
          <p:cNvPr id="9" name="TextBox 8"/>
          <p:cNvSpPr txBox="1"/>
          <p:nvPr/>
        </p:nvSpPr>
        <p:spPr>
          <a:xfrm>
            <a:off x="457200" y="2632620"/>
            <a:ext cx="2876550" cy="54858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44000"/>
              </a:lnSpc>
              <a:defRPr i="0" sz="1200" b="0">
                <a:solidFill>
                  <a:srgbClr val="6B7280"/>
                </a:solidFill>
                <a:latin typeface="Albert Sans"/>
              </a:defRPr>
            </a:pPr>
            <a:r>
              <a:rPr i="0" sz="1200" b="0">
                <a:solidFill>
                  <a:srgbClr val="6B7280"/>
                </a:solidFill>
                <a:latin typeface="Albert Sans"/>
              </a:rPr>
              <a:t>Four brutal truths about data that we keep learning the hard way.</a:t>
            </a:r>
          </a:p>
        </p:txBody>
      </p:sp>
      <p:sp>
        <p:nvSpPr>
          <p:cNvPr id="10" name="TextBox 9"/>
          <p:cNvSpPr txBox="1"/>
          <p:nvPr/>
        </p:nvSpPr>
        <p:spPr>
          <a:xfrm>
            <a:off x="10116145" y="3267075"/>
            <a:ext cx="1713755" cy="90666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36000"/>
              </a:lnSpc>
              <a:defRPr i="0" sz="1050" b="0">
                <a:solidFill>
                  <a:srgbClr val="6B7280"/>
                </a:solidFill>
                <a:latin typeface="Albert Sans"/>
              </a:defRPr>
            </a:pPr>
            <a:r>
              <a:rPr i="0" sz="1050" b="0">
                <a:solidFill>
                  <a:srgbClr val="6B7280"/>
                </a:solidFill>
                <a:latin typeface="Albert Sans"/>
              </a:rPr>
              <a:t>RAID is not a backup. Your desktop folder is not a backup. Asking nicely is not.</a:t>
            </a:r>
          </a:p>
        </p:txBody>
      </p:sp>
      <p:sp>
        <p:nvSpPr>
          <p:cNvPr id="11" name="TextBox 10"/>
          <p:cNvSpPr txBox="1"/>
          <p:nvPr/>
        </p:nvSpPr>
        <p:spPr>
          <a:xfrm>
            <a:off x="5050482" y="3267075"/>
            <a:ext cx="1713607" cy="90666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36000"/>
              </a:lnSpc>
              <a:defRPr i="0" sz="1050" b="0">
                <a:solidFill>
                  <a:srgbClr val="6B7280"/>
                </a:solidFill>
                <a:latin typeface="Albert Sans"/>
              </a:defRPr>
            </a:pPr>
            <a:r>
              <a:rPr i="0" sz="1050" b="0">
                <a:solidFill>
                  <a:srgbClr val="6B7280"/>
                </a:solidFill>
                <a:latin typeface="Albert Sans"/>
              </a:rPr>
              <a:t>Your data needs a permanent address. 'In the cloud' is not a recovery plan.</a:t>
            </a:r>
          </a:p>
        </p:txBody>
      </p:sp>
      <p:sp>
        <p:nvSpPr>
          <p:cNvPr id="12" name="TextBox 11"/>
          <p:cNvSpPr txBox="1"/>
          <p:nvPr/>
        </p:nvSpPr>
        <p:spPr>
          <a:xfrm>
            <a:off x="7583239" y="2981325"/>
            <a:ext cx="1713755" cy="679995"/>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36000"/>
              </a:lnSpc>
              <a:defRPr i="0" sz="1050" b="0">
                <a:solidFill>
                  <a:srgbClr val="6B7280"/>
                </a:solidFill>
                <a:latin typeface="Albert Sans"/>
              </a:defRPr>
            </a:pPr>
            <a:r>
              <a:rPr i="0" sz="1050" b="0">
                <a:solidFill>
                  <a:srgbClr val="6B7280"/>
                </a:solidFill>
                <a:latin typeface="Albert Sans"/>
              </a:rPr>
              <a:t>SQL for structure, NoSQL for chaos, Excel for prayers. Choose wisely.</a:t>
            </a:r>
          </a:p>
        </p:txBody>
      </p:sp>
      <p:sp>
        <p:nvSpPr>
          <p:cNvPr id="13" name="TextBox 12"/>
          <p:cNvSpPr txBox="1"/>
          <p:nvPr/>
        </p:nvSpPr>
        <p:spPr>
          <a:xfrm>
            <a:off x="10116145" y="2581275"/>
            <a:ext cx="1713755" cy="5715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0000"/>
              </a:lnSpc>
              <a:defRPr i="0" sz="1500" b="0">
                <a:solidFill>
                  <a:srgbClr val="111827"/>
                </a:solidFill>
                <a:latin typeface="Albert Sans"/>
              </a:defRPr>
            </a:pPr>
            <a:r>
              <a:rPr i="0" sz="1500" b="0">
                <a:solidFill>
                  <a:srgbClr val="111827"/>
                </a:solidFill>
                <a:latin typeface="Albert Sans"/>
              </a:rPr>
              <a:t>Backups Are Mandatory</a:t>
            </a:r>
          </a:p>
        </p:txBody>
      </p:sp>
      <p:sp>
        <p:nvSpPr>
          <p:cNvPr id="14" name="TextBox 13"/>
          <p:cNvSpPr txBox="1"/>
          <p:nvPr/>
        </p:nvSpPr>
        <p:spPr>
          <a:xfrm>
            <a:off x="5050482" y="2581275"/>
            <a:ext cx="1713607" cy="5715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0000"/>
              </a:lnSpc>
              <a:defRPr i="0" sz="1500" b="0">
                <a:solidFill>
                  <a:srgbClr val="111827"/>
                </a:solidFill>
                <a:latin typeface="Albert Sans"/>
              </a:defRPr>
            </a:pPr>
            <a:r>
              <a:rPr i="0" sz="1500" b="0">
                <a:solidFill>
                  <a:srgbClr val="111827"/>
                </a:solidFill>
                <a:latin typeface="Albert Sans"/>
              </a:rPr>
              <a:t>Persistence Is Non-Negotiable</a:t>
            </a:r>
          </a:p>
        </p:txBody>
      </p:sp>
      <p:sp>
        <p:nvSpPr>
          <p:cNvPr id="15" name="TextBox 14"/>
          <p:cNvSpPr txBox="1"/>
          <p:nvPr/>
        </p:nvSpPr>
        <p:spPr>
          <a:xfrm>
            <a:off x="7583239" y="2581275"/>
            <a:ext cx="1713755" cy="28575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0000"/>
              </a:lnSpc>
              <a:defRPr i="0" sz="1500" b="0">
                <a:solidFill>
                  <a:srgbClr val="111827"/>
                </a:solidFill>
                <a:latin typeface="Albert Sans"/>
              </a:defRPr>
            </a:pPr>
            <a:r>
              <a:rPr i="0" sz="1500" b="0">
                <a:solidFill>
                  <a:srgbClr val="111827"/>
                </a:solidFill>
                <a:latin typeface="Albert Sans"/>
              </a:rPr>
              <a:t>Pick the Right Tool</a:t>
            </a:r>
          </a:p>
        </p:txBody>
      </p:sp>
      <p:sp>
        <p:nvSpPr>
          <p:cNvPr id="16" name="TextBox 15"/>
          <p:cNvSpPr txBox="1"/>
          <p:nvPr/>
        </p:nvSpPr>
        <p:spPr>
          <a:xfrm>
            <a:off x="457200" y="6353175"/>
            <a:ext cx="1650355" cy="200025"/>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0000"/>
              </a:lnSpc>
              <a:defRPr i="0" sz="1050" b="0">
                <a:solidFill>
                  <a:srgbClr val="6B7280"/>
                </a:solidFill>
                <a:latin typeface="Albert Sans"/>
              </a:defRPr>
            </a:pPr>
            <a:r>
              <a:rPr i="0" sz="1050" b="0">
                <a:solidFill>
                  <a:srgbClr val="6B7280"/>
                </a:solidFill>
                <a:latin typeface="Albert Sans"/>
              </a:rPr>
              <a:t>www.dataexperiences.com</a:t>
            </a:r>
          </a:p>
        </p:txBody>
      </p:sp>
      <p:sp>
        <p:nvSpPr>
          <p:cNvPr id="17" name="Rectangle 16"/>
          <p:cNvSpPr/>
          <p:nvPr/>
        </p:nvSpPr>
        <p:spPr>
          <a:xfrm rot="2700000">
            <a:off x="11595473" y="6223378"/>
            <a:ext cx="431052" cy="431043"/>
          </a:xfrm>
          <a:prstGeom prst="rect">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8" name="Rectangle 17"/>
          <p:cNvSpPr/>
          <p:nvPr/>
        </p:nvSpPr>
        <p:spPr>
          <a:xfrm>
            <a:off x="2317105" y="6443662"/>
            <a:ext cx="9417694" cy="19050"/>
          </a:xfrm>
          <a:prstGeom prst="rect">
            <a:avLst/>
          </a:prstGeom>
          <a:solidFill>
            <a:srgbClr val="E5E7EB"/>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9" name="Rounded Rectangle 18"/>
          <p:cNvSpPr/>
          <p:nvPr/>
        </p:nvSpPr>
        <p:spPr>
          <a:xfrm rot="2700000">
            <a:off x="433527" y="204927"/>
            <a:ext cx="161644" cy="161645"/>
          </a:xfrm>
          <a:prstGeom prst="roundRect">
            <a:avLst>
              <a:gd name="adj" fmla="val 23570"/>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pic>
        <p:nvPicPr>
          <p:cNvPr id="2" name="Picture 1" descr="ca957bf3-67e6-4e73-949d-793a02d4181d.png"/>
          <p:cNvPicPr>
            <a:picLocks noChangeAspect="1"/>
          </p:cNvPicPr>
          <p:nvPr/>
        </p:nvPicPr>
        <p:blipFill>
          <a:blip r:embed="rId3"/>
          <a:stretch>
            <a:fillRect/>
          </a:stretch>
        </p:blipFill>
        <p:spPr>
          <a:xfrm>
            <a:off x="7802909" y="0"/>
            <a:ext cx="4389090" cy="4953000"/>
          </a:xfrm>
          <a:prstGeom prst="rect">
            <a:avLst/>
          </a:prstGeom>
        </p:spPr>
      </p:pic>
      <p:sp>
        <p:nvSpPr>
          <p:cNvPr id="3" name="TextBox 2"/>
          <p:cNvSpPr txBox="1"/>
          <p:nvPr/>
        </p:nvSpPr>
        <p:spPr>
          <a:xfrm>
            <a:off x="457200" y="723900"/>
            <a:ext cx="6560046" cy="1279921"/>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84000"/>
              </a:lnSpc>
              <a:defRPr spc="-120" i="0" sz="4800" b="0">
                <a:solidFill>
                  <a:srgbClr val="111827"/>
                </a:solidFill>
                <a:latin typeface="Albert Sans"/>
              </a:defRPr>
            </a:pPr>
            <a:r>
              <a:rPr i="0" sz="4800" b="0">
                <a:solidFill>
                  <a:srgbClr val="111827"/>
                </a:solidFill>
                <a:latin typeface="Albert Sans"/>
              </a:rPr>
              <a:t>Ask Me Anything: Persistence Edition</a:t>
            </a:r>
          </a:p>
        </p:txBody>
      </p:sp>
      <p:sp>
        <p:nvSpPr>
          <p:cNvPr id="4" name="TextBox 3"/>
          <p:cNvSpPr txBox="1"/>
          <p:nvPr/>
        </p:nvSpPr>
        <p:spPr>
          <a:xfrm>
            <a:off x="457200" y="2194321"/>
            <a:ext cx="5924550" cy="48756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8000"/>
              </a:lnSpc>
              <a:defRPr i="0" sz="1200" b="0">
                <a:solidFill>
                  <a:srgbClr val="6B7280"/>
                </a:solidFill>
                <a:latin typeface="Albert Sans"/>
              </a:defRPr>
            </a:pPr>
            <a:r>
              <a:rPr i="0" sz="1200" b="0">
                <a:solidFill>
                  <a:srgbClr val="6B7280"/>
                </a:solidFill>
                <a:latin typeface="Albert Sans"/>
              </a:rPr>
              <a:t>Got questions about persistence? Database nightmares? Just want to share your own horror story? I'm here for it. Grab a coffee, stay a while.</a:t>
            </a:r>
          </a:p>
        </p:txBody>
      </p:sp>
      <p:sp>
        <p:nvSpPr>
          <p:cNvPr id="5" name="Rounded Rectangle 4"/>
          <p:cNvSpPr/>
          <p:nvPr/>
        </p:nvSpPr>
        <p:spPr>
          <a:xfrm>
            <a:off x="457200" y="2910482"/>
            <a:ext cx="2355205" cy="476250"/>
          </a:xfrm>
          <a:prstGeom prst="roundRect">
            <a:avLst>
              <a:gd name="adj" fmla="val 8000"/>
            </a:avLst>
          </a:prstGeom>
          <a:solidFill>
            <a:srgbClr val="BFF4FF"/>
          </a:solidFill>
          <a:ln w="9525">
            <a:solidFill>
              <a:srgbClr val="BFF4FF"/>
            </a:solid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52400" rIns="152400" tIns="114300" bIns="114300"/>
          <a:lstStyle/>
          <a:p>
            <a:pPr algn="ctr"/>
          </a:p>
        </p:txBody>
      </p:sp>
      <p:sp>
        <p:nvSpPr>
          <p:cNvPr id="6" name="TextBox 5"/>
          <p:cNvSpPr txBox="1"/>
          <p:nvPr/>
        </p:nvSpPr>
        <p:spPr>
          <a:xfrm>
            <a:off x="457200" y="6353175"/>
            <a:ext cx="1300608" cy="200025"/>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0000"/>
              </a:lnSpc>
              <a:defRPr i="0" sz="1050" b="0">
                <a:solidFill>
                  <a:srgbClr val="6B7280"/>
                </a:solidFill>
                <a:latin typeface="Albert Sans"/>
              </a:defRPr>
            </a:pPr>
            <a:r>
              <a:rPr i="0" sz="1050" b="0">
                <a:solidFill>
                  <a:srgbClr val="6B7280"/>
                </a:solidFill>
                <a:latin typeface="Albert Sans"/>
              </a:rPr>
              <a:t>alex@developer.com</a:t>
            </a:r>
          </a:p>
        </p:txBody>
      </p:sp>
      <p:sp>
        <p:nvSpPr>
          <p:cNvPr id="7" name="TextBox 6"/>
          <p:cNvSpPr txBox="1"/>
          <p:nvPr/>
        </p:nvSpPr>
        <p:spPr>
          <a:xfrm>
            <a:off x="847725" y="3034307"/>
            <a:ext cx="1093589" cy="2286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0000"/>
              </a:lnSpc>
              <a:defRPr i="0" sz="1200" b="0">
                <a:solidFill>
                  <a:srgbClr val="111827"/>
                </a:solidFill>
                <a:latin typeface="Albert Sans"/>
              </a:defRPr>
            </a:pPr>
            <a:r>
              <a:rPr i="0" sz="1200" b="0">
                <a:solidFill>
                  <a:srgbClr val="111827"/>
                </a:solidFill>
                <a:latin typeface="Albert Sans"/>
              </a:rPr>
              <a:t>Alex Developer</a:t>
            </a:r>
          </a:p>
        </p:txBody>
      </p:sp>
      <p:sp>
        <p:nvSpPr>
          <p:cNvPr id="8" name="Rectangle 7"/>
          <p:cNvSpPr/>
          <p:nvPr/>
        </p:nvSpPr>
        <p:spPr>
          <a:xfrm>
            <a:off x="1967358" y="6443662"/>
            <a:ext cx="9767441" cy="19050"/>
          </a:xfrm>
          <a:prstGeom prst="rect">
            <a:avLst/>
          </a:prstGeom>
          <a:solidFill>
            <a:srgbClr val="E5E7EB"/>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9" name="Rectangle 8"/>
          <p:cNvSpPr/>
          <p:nvPr/>
        </p:nvSpPr>
        <p:spPr>
          <a:xfrm rot="2700000">
            <a:off x="11595473" y="6223378"/>
            <a:ext cx="431052" cy="431043"/>
          </a:xfrm>
          <a:prstGeom prst="rect">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0" name="TextBox 9"/>
          <p:cNvSpPr txBox="1"/>
          <p:nvPr/>
        </p:nvSpPr>
        <p:spPr>
          <a:xfrm>
            <a:off x="2036564" y="3053357"/>
            <a:ext cx="632966" cy="200025"/>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0000"/>
              </a:lnSpc>
              <a:defRPr i="0" sz="1050" b="0">
                <a:solidFill>
                  <a:srgbClr val="6B7280"/>
                </a:solidFill>
                <a:latin typeface="Albert Sans"/>
              </a:defRPr>
            </a:pPr>
            <a:r>
              <a:rPr i="0" sz="1050" b="0">
                <a:solidFill>
                  <a:srgbClr val="6B7280"/>
                </a:solidFill>
                <a:latin typeface="Albert Sans"/>
              </a:rPr>
              <a:t>May 2026</a:t>
            </a:r>
          </a:p>
        </p:txBody>
      </p:sp>
      <p:sp>
        <p:nvSpPr>
          <p:cNvPr id="11" name="Rounded Rectangle 10"/>
          <p:cNvSpPr/>
          <p:nvPr/>
        </p:nvSpPr>
        <p:spPr>
          <a:xfrm rot="2700000">
            <a:off x="433527" y="204927"/>
            <a:ext cx="161644" cy="161645"/>
          </a:xfrm>
          <a:prstGeom prst="roundRect">
            <a:avLst>
              <a:gd name="adj" fmla="val 23570"/>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2" name="Rounded Rectangle 11"/>
          <p:cNvSpPr/>
          <p:nvPr/>
        </p:nvSpPr>
        <p:spPr>
          <a:xfrm rot="2700000">
            <a:off x="7421157" y="281127"/>
            <a:ext cx="161643" cy="161645"/>
          </a:xfrm>
          <a:prstGeom prst="roundRect">
            <a:avLst>
              <a:gd name="adj" fmla="val 23570"/>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3" name="Rectangle 12"/>
          <p:cNvSpPr/>
          <p:nvPr/>
        </p:nvSpPr>
        <p:spPr>
          <a:xfrm rot="2700000">
            <a:off x="7421157" y="509727"/>
            <a:ext cx="161643" cy="161645"/>
          </a:xfrm>
          <a:prstGeom prst="rect">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4" name="Rounded Rectangle 13"/>
          <p:cNvSpPr/>
          <p:nvPr/>
        </p:nvSpPr>
        <p:spPr>
          <a:xfrm rot="2700000">
            <a:off x="7421157" y="738327"/>
            <a:ext cx="161643" cy="161645"/>
          </a:xfrm>
          <a:prstGeom prst="roundRect">
            <a:avLst>
              <a:gd name="adj" fmla="val 23570"/>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5" name="Rectangle 14"/>
          <p:cNvSpPr/>
          <p:nvPr/>
        </p:nvSpPr>
        <p:spPr>
          <a:xfrm>
            <a:off x="619125" y="3034307"/>
            <a:ext cx="76200" cy="228600"/>
          </a:xfrm>
          <a:prstGeom prst="rect">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